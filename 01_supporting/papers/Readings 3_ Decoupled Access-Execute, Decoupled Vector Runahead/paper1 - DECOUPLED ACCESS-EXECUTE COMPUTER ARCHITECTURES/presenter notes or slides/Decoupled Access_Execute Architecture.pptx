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1d1ae0c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1d1ae0c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c1d1ae0c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c1d1ae0c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1d1ae0c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1d1ae0c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c1d1ae0cb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c1d1ae0cb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c1d1ae0cb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c1d1ae0cb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5829aa3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c5829aa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c5829aa3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c5829aa3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c5829aa3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c5829aa3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c5829aa3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c5829aa3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c5829aa3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c5829aa3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c5829aa3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c5829aa3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c5829aa3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c5829aa3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c5829aa3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c5829aa3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c5829aa3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c5829aa3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ricomputermuseum.org/collections-gallery/equipment/astronautics-zs-1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Decoupled Access/Execute Architecture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CS252A - Eric Qu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98275" y="640310"/>
            <a:ext cx="89457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It’s the early 80s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Pipelining is well established: </a:t>
            </a:r>
            <a:r>
              <a:rPr lang="en" sz="1600"/>
              <a:t>P</a:t>
            </a:r>
            <a:r>
              <a:rPr lang="en" sz="1600"/>
              <a:t>eople are </a:t>
            </a:r>
            <a:r>
              <a:rPr lang="en" sz="1600"/>
              <a:t>struggling with </a:t>
            </a:r>
            <a:r>
              <a:rPr b="1" lang="en" sz="1600"/>
              <a:t>Hazards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OoO </a:t>
            </a:r>
            <a:r>
              <a:rPr lang="en" sz="1600"/>
              <a:t>is designed to help</a:t>
            </a:r>
            <a:r>
              <a:rPr lang="en" sz="1600"/>
              <a:t> in around the 60s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CDC 6600 (1964) Score Board; IBM 360/91 (1967) Tomasulo's algorithm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However, </a:t>
            </a:r>
            <a:r>
              <a:rPr b="1" lang="en" sz="1600"/>
              <a:t>OoO Fades into Background</a:t>
            </a:r>
            <a:r>
              <a:rPr lang="en" sz="1600"/>
              <a:t>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Precise traps / Branch prediction; Expensive hardware; Simpler designs take over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Awkward spot: </a:t>
            </a:r>
            <a:r>
              <a:rPr b="1" lang="en" sz="1600"/>
              <a:t>Instruction level parallelism</a:t>
            </a:r>
            <a:r>
              <a:rPr lang="en" sz="1600"/>
              <a:t> open to exploit, but it's hard</a:t>
            </a:r>
            <a:endParaRPr sz="16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5868" l="0" r="3288" t="22411"/>
          <a:stretch/>
        </p:blipFill>
        <p:spPr>
          <a:xfrm>
            <a:off x="1730900" y="2725950"/>
            <a:ext cx="5682202" cy="241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98275" y="640300"/>
            <a:ext cx="91440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It’s the early 80s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Beginning of the </a:t>
            </a:r>
            <a:r>
              <a:rPr b="1" lang="en" sz="1600"/>
              <a:t>Memory Wall</a:t>
            </a:r>
            <a:r>
              <a:rPr lang="en" sz="1600"/>
              <a:t>: Memory latency becomes heavier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Hardware</a:t>
            </a:r>
            <a:r>
              <a:rPr lang="en" sz="1600"/>
              <a:t>: Latency gap between DRAM and CPU increases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Virtual Memory / Hierarchical Page Table</a:t>
            </a:r>
            <a:r>
              <a:rPr lang="en" sz="1600"/>
              <a:t>: widespread in 70s, IBM System/370 (1977)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Cache Memory</a:t>
            </a:r>
            <a:r>
              <a:rPr lang="en" sz="1600"/>
              <a:t>: (comes with miss) IBM System/360 Model 85 (1968)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Memory latency is large, growing, and increasingly unavoidable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Any architecture that can </a:t>
            </a:r>
            <a:r>
              <a:rPr b="1" lang="en" sz="1600"/>
              <a:t>tolerate</a:t>
            </a:r>
            <a:r>
              <a:rPr lang="en" sz="1600"/>
              <a:t> or </a:t>
            </a:r>
            <a:r>
              <a:rPr b="1" lang="en" sz="1600"/>
              <a:t>hide</a:t>
            </a:r>
            <a:r>
              <a:rPr lang="en" sz="1600"/>
              <a:t> this latency has a fundamental advantage</a:t>
            </a:r>
            <a:endParaRPr sz="16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2746619"/>
            <a:ext cx="4571999" cy="23968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5"/>
          <p:cNvCxnSpPr/>
          <p:nvPr/>
        </p:nvCxnSpPr>
        <p:spPr>
          <a:xfrm flipH="1">
            <a:off x="3557050" y="3673950"/>
            <a:ext cx="175200" cy="64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198275" y="640310"/>
            <a:ext cx="89457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It’s the early 80s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Baseline architecture: CRAY-1 (Seymour Cray, 1976) state of the art in scalar performance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Clean, pipelined design with predictable timings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 OoO: in-order issue, in-order completion</a:t>
            </a:r>
            <a:endParaRPr sz="16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279" y="1996625"/>
            <a:ext cx="4201825" cy="30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0" l="0" r="0" t="19801"/>
          <a:stretch/>
        </p:blipFill>
        <p:spPr>
          <a:xfrm>
            <a:off x="129525" y="1912975"/>
            <a:ext cx="4839024" cy="32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816425" y="3394000"/>
            <a:ext cx="1411200" cy="186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636675" y="3557276"/>
            <a:ext cx="1411200" cy="256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198275" y="640310"/>
            <a:ext cx="89457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It’s the early 80s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Baseline architecture: CRAY-1 (Seymour Cray, 1976) state of the art in scalar performance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Two register files: A registers (loads and stores, 24-bit) and S registers (arithmetic, 64-bit)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What if we push this even further?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/>
            </a:r>
            <a:endParaRPr sz="160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279" y="1996625"/>
            <a:ext cx="4201825" cy="30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4">
            <a:alphaModFix/>
          </a:blip>
          <a:srcRect b="0" l="0" r="0" t="19801"/>
          <a:stretch/>
        </p:blipFill>
        <p:spPr>
          <a:xfrm>
            <a:off x="129525" y="1912975"/>
            <a:ext cx="4839024" cy="32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816425" y="3394000"/>
            <a:ext cx="1411200" cy="186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2636675" y="3557276"/>
            <a:ext cx="1411200" cy="256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DAE Architecture - Overview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198275" y="640300"/>
            <a:ext cx="49920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Processor is split into two: </a:t>
            </a:r>
            <a:r>
              <a:rPr b="1" lang="en" sz="1600"/>
              <a:t>Access</a:t>
            </a:r>
            <a:r>
              <a:rPr lang="en" sz="1600"/>
              <a:t> and </a:t>
            </a:r>
            <a:r>
              <a:rPr b="1" lang="en" sz="1600"/>
              <a:t>Execute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Key: </a:t>
            </a:r>
            <a:r>
              <a:rPr b="1" lang="en" sz="1600"/>
              <a:t>Communication</a:t>
            </a:r>
            <a:r>
              <a:rPr lang="en" sz="1600"/>
              <a:t> between A and 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FIFO queues for decoupling!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AEQ: Fetched data from A to 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EAQ: Computed results from E to 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AEBQ / EABQ: handles branching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WAQ: handles data write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Idea is </a:t>
            </a:r>
            <a:r>
              <a:rPr lang="en" sz="1600"/>
              <a:t>similar</a:t>
            </a:r>
            <a:r>
              <a:rPr lang="en" sz="1600"/>
              <a:t> with OoO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 does not need to wait for E, continue fetching and fill AEQ as a buffer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As long as the queue is not empty, they don't need to wait for each other</a:t>
            </a:r>
            <a:endParaRPr sz="16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500" y="468825"/>
            <a:ext cx="3454806" cy="420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DAE Architecture - </a:t>
            </a:r>
            <a:r>
              <a:rPr lang="en"/>
              <a:t>Example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198275" y="640300"/>
            <a:ext cx="49920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700" y="632850"/>
            <a:ext cx="3838603" cy="1143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00" y="1964850"/>
            <a:ext cx="3648925" cy="283402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7800" y="1964850"/>
            <a:ext cx="3648925" cy="283402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7" name="Google Shape;107;p19"/>
          <p:cNvCxnSpPr/>
          <p:nvPr/>
        </p:nvCxnSpPr>
        <p:spPr>
          <a:xfrm rot="10800000">
            <a:off x="1207225" y="2860750"/>
            <a:ext cx="607200" cy="27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9"/>
          <p:cNvCxnSpPr/>
          <p:nvPr/>
        </p:nvCxnSpPr>
        <p:spPr>
          <a:xfrm rot="10800000">
            <a:off x="1207225" y="3005825"/>
            <a:ext cx="607200" cy="27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9"/>
          <p:cNvCxnSpPr/>
          <p:nvPr/>
        </p:nvCxnSpPr>
        <p:spPr>
          <a:xfrm rot="10800000">
            <a:off x="1207300" y="3450825"/>
            <a:ext cx="212100" cy="23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9"/>
          <p:cNvSpPr/>
          <p:nvPr/>
        </p:nvSpPr>
        <p:spPr>
          <a:xfrm>
            <a:off x="5525450" y="3409703"/>
            <a:ext cx="898500" cy="168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DAE Architecture - </a:t>
            </a:r>
            <a:r>
              <a:rPr lang="en"/>
              <a:t>Memory Write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198275" y="640300"/>
            <a:ext cx="5069700" cy="4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to write to memory?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Naive: A compute address → (stall until) E compute data to EAQ → issue write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kills the decoupling!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Idea: </a:t>
            </a:r>
            <a:r>
              <a:rPr b="1" lang="en" sz="1600"/>
              <a:t>queue the address in WAQ</a:t>
            </a:r>
            <a:r>
              <a:rPr lang="en" sz="1600"/>
              <a:t>, and move 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Next EAQ is automatically matched with the top of the queue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Hazard: load an address in the WAQ?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Associatively compare every new load address against all WAQ entries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Match? Stall until the EAQ writes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limits the size of the WAQ to 8-16 entries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is essentially the modern store buffer with store-to-load forwarding!</a:t>
            </a:r>
            <a:endParaRPr sz="1600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500" y="468825"/>
            <a:ext cx="3454806" cy="420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DAE Architecture - </a:t>
            </a:r>
            <a:r>
              <a:rPr lang="en"/>
              <a:t>Branching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198275" y="640300"/>
            <a:ext cx="4879500" cy="4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Both processors have their own branch / loop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They need to agree!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Idea: Use </a:t>
            </a:r>
            <a:r>
              <a:rPr b="1" lang="en" sz="1600"/>
              <a:t>branching queues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When a processor made a decision to branch, it enqueue the decision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When the other processor reach the branching point, it will read from queue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For good performance, it is preferred to do </a:t>
            </a:r>
            <a:r>
              <a:rPr lang="en" sz="1600"/>
              <a:t>branching</a:t>
            </a:r>
            <a:r>
              <a:rPr lang="en" sz="1600"/>
              <a:t> on the A as much as possible</a:t>
            </a:r>
            <a:endParaRPr sz="1600"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500" y="468825"/>
            <a:ext cx="3454806" cy="420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DAE Architecture - </a:t>
            </a:r>
            <a:r>
              <a:rPr lang="en"/>
              <a:t>Queue Design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198275" y="640300"/>
            <a:ext cx="4879500" cy="4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FIFO Queue is used throughout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Idea: </a:t>
            </a:r>
            <a:r>
              <a:rPr b="1" lang="en" sz="1600"/>
              <a:t>queue as register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A0, A1, X0, X1 is reserved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AEQ: Tail A1, Head X0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EAQ: Tail X1, Head A0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Example: for AEQ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For A: “</a:t>
            </a:r>
            <a:r>
              <a:rPr b="1" lang="en" sz="1600"/>
              <a:t>A1</a:t>
            </a:r>
            <a:r>
              <a:rPr lang="en" sz="1600"/>
              <a:t> ← z+10, A2” both load from memory and enqueue to AEQ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For E: “X4 ← X2 *f </a:t>
            </a:r>
            <a:r>
              <a:rPr b="1" lang="en" sz="1600"/>
              <a:t>X0</a:t>
            </a:r>
            <a:r>
              <a:rPr lang="en" sz="1600"/>
              <a:t>” both dequeue AEQ and do the multiply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Circular buffer register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Head == Tail → Empty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Head == Tail + 1 → Full</a:t>
            </a:r>
            <a:endParaRPr sz="1600"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75" y="587700"/>
            <a:ext cx="3103326" cy="448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DAE Architecture - </a:t>
            </a:r>
            <a:r>
              <a:rPr lang="en"/>
              <a:t>Single Instruction Stream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198275" y="640300"/>
            <a:ext cx="4879500" cy="4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It’s hard to write and compile in two instruction streams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Interleaving</a:t>
            </a:r>
            <a:r>
              <a:rPr lang="en" sz="1600"/>
              <a:t>: Merge two stream into one with A and E interleaving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Noise instructions: </a:t>
            </a:r>
            <a:r>
              <a:rPr lang="en" sz="1600"/>
              <a:t>explicitly write out the X0 ← A1 and A0 ← X1 instructions into the interleaving version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is similar to conventional program that one could directly compile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Split into two after compile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 fundamentally new compilation technology is required</a:t>
            </a:r>
            <a:endParaRPr sz="1600"/>
          </a:p>
        </p:txBody>
      </p:sp>
      <p:pic>
        <p:nvPicPr>
          <p:cNvPr id="138" name="Google Shape;138;p23" title="Screenshot 2026-03-03 at 7.40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625" y="632850"/>
            <a:ext cx="2963175" cy="1809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988" y="2571756"/>
            <a:ext cx="2992449" cy="245779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DAE Architecture - </a:t>
            </a:r>
            <a:r>
              <a:rPr lang="en"/>
              <a:t>Performance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198275" y="640300"/>
            <a:ext cx="8304300" cy="4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Performance for 14 Lawrence Livermore Loops is calculated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Only theoretical, no real experiments</a:t>
            </a:r>
            <a:endParaRPr sz="1600"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00" y="1615688"/>
            <a:ext cx="2978951" cy="34405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550" y="2267297"/>
            <a:ext cx="2634475" cy="213726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7825" y="2008050"/>
            <a:ext cx="2634475" cy="265576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Legacy and Influence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198275" y="640300"/>
            <a:ext cx="8634000" cy="4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Smith went and built it himself! The </a:t>
            </a:r>
            <a:r>
              <a:rPr b="1" lang="en" sz="1600"/>
              <a:t>Astronautics ZS-1</a:t>
            </a:r>
            <a:r>
              <a:rPr lang="en" sz="1600"/>
              <a:t> is a DAE architecture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https://www.ricomputermuseum.org/collections-gallery/equipment/astronautics-zs-1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025" y="1573226"/>
            <a:ext cx="3955249" cy="3236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252" y="1466375"/>
            <a:ext cx="4111751" cy="345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Legacy and Influence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198275" y="640300"/>
            <a:ext cx="8945700" cy="45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Ideas similar with DAE: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Hardware prefetching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A processor know exactly what to fetch, hardware prefetch predict patterns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Use queues to decouple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Instruction queues</a:t>
            </a:r>
            <a:r>
              <a:rPr lang="en" sz="1600"/>
              <a:t>: decouple decode/issue from execute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ROB</a:t>
            </a:r>
            <a:r>
              <a:rPr lang="en" sz="1600"/>
              <a:t>: decouple commit from execution completion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Store buffers with address matching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Similar with the WAQ mechanism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Remember the two problems with OoO: </a:t>
            </a:r>
            <a:r>
              <a:rPr b="1" lang="en" sz="1600"/>
              <a:t>Branch prediction &amp; Precise traps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Branch prediction: </a:t>
            </a:r>
            <a:r>
              <a:rPr lang="en" sz="1600"/>
              <a:t>The A processor don’t need to predict, stalls for data-depend branches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Precise traps</a:t>
            </a:r>
            <a:r>
              <a:rPr b="1" lang="en" sz="1600"/>
              <a:t>: </a:t>
            </a:r>
            <a:r>
              <a:rPr lang="en" sz="1600"/>
              <a:t>Not discussed, still a problem (as far as I know)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Interestingly, the solution (ROB), is proposed by Smith himself in 1985, 3 years later!</a:t>
            </a:r>
            <a:endParaRPr sz="16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200"/>
              <a:t>Smith, J. E., &amp; Pleszkun, A. R. (1985). Implementing precise interrupts in pipelined processors. IEEE Transactions on computers, 37(5), 562-573.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Questions from Reviews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198275" y="640300"/>
            <a:ext cx="8634000" cy="42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large do the queues need to be to balance producer and consumer flows?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Queue size is not discussed, in ZS-1 Load Queue size 15, Store Queue size 7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To what extent must the compiler or programmer understand the decoupled access/execute architecture in order to generate efficient programs?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Noise trick would make the program readable for conventional compiler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would this compare with OoO / Prefetcher?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OoO exploits all instruction-level parallelism, DAE is only memory and computation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 / E could stall each other, OoO has a pool of functional units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 speculative execution for DAE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DAE requires separating the processors, prefetcher is relatively simple logic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
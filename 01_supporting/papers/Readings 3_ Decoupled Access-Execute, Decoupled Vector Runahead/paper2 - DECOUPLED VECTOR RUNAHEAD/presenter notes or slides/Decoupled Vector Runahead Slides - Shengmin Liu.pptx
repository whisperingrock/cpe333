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Gill Sans"/>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hpUBfAYrSLS4DMZStaYCM3/POK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GillSans-bold.fntdata"/><Relationship Id="rId30" Type="http://schemas.openxmlformats.org/officeDocument/2006/relationships/font" Target="fonts/GillSans-regular.fntdata"/><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1.</a:t>
            </a:r>
            <a:br>
              <a:rPr lang="en-US"/>
            </a:br>
            <a:r>
              <a:rPr lang="en-US"/>
              <a:t>2.This delayed termination stalls the commit stage on average 7.1% (and up to 11.8%) of the total execution time in VR across our set of benchmarks</a:t>
            </a:r>
            <a:br>
              <a:rPr lang="en-US"/>
            </a:br>
            <a:br>
              <a:rPr lang="en-US"/>
            </a:br>
            <a:r>
              <a:rPr lang="en-US"/>
              <a:t>Figure 2: Performance of an OoO core and VR, normalized to</a:t>
            </a:r>
            <a:endParaRPr/>
          </a:p>
          <a:p>
            <a:pPr indent="0" lvl="0" marL="0" rtl="0" algn="l">
              <a:spcBef>
                <a:spcPts val="0"/>
              </a:spcBef>
              <a:spcAft>
                <a:spcPts val="0"/>
              </a:spcAft>
              <a:buClr>
                <a:schemeClr val="dk1"/>
              </a:buClr>
              <a:buFont typeface="Arial"/>
              <a:buNone/>
            </a:pPr>
            <a:r>
              <a:rPr lang="en-US"/>
              <a:t>a baseline 350-entry ROB OoO core (left axis), and processor</a:t>
            </a:r>
            <a:endParaRPr/>
          </a:p>
          <a:p>
            <a:pPr indent="0" lvl="0" marL="0" rtl="0" algn="l">
              <a:spcBef>
                <a:spcPts val="0"/>
              </a:spcBef>
              <a:spcAft>
                <a:spcPts val="0"/>
              </a:spcAft>
              <a:buClr>
                <a:schemeClr val="dk1"/>
              </a:buClr>
              <a:buFont typeface="Arial"/>
              <a:buNone/>
            </a:pPr>
            <a:r>
              <a:rPr lang="en-US"/>
              <a:t>stall time due to a full ROB (right axis), as a function of ROB</a:t>
            </a:r>
            <a:endParaRPr/>
          </a:p>
          <a:p>
            <a:pPr indent="0" lvl="0" marL="0" rtl="0" algn="l">
              <a:spcBef>
                <a:spcPts val="0"/>
              </a:spcBef>
              <a:spcAft>
                <a:spcPts val="0"/>
              </a:spcAft>
              <a:buClr>
                <a:schemeClr val="dk1"/>
              </a:buClr>
              <a:buFont typeface="Arial"/>
              <a:buNone/>
            </a:pPr>
            <a:r>
              <a:rPr lang="en-US"/>
              <a:t>size. The performance gain of VR diminishes with increasing ROB</a:t>
            </a:r>
            <a:endParaRPr/>
          </a:p>
          <a:p>
            <a:pPr indent="0" lvl="0" marL="0" rtl="0" algn="l">
              <a:spcBef>
                <a:spcPts val="0"/>
              </a:spcBef>
              <a:spcAft>
                <a:spcPts val="0"/>
              </a:spcAft>
              <a:buClr>
                <a:schemeClr val="dk1"/>
              </a:buClr>
              <a:buFont typeface="Arial"/>
              <a:buNone/>
            </a:pPr>
            <a:r>
              <a:rPr lang="en-US"/>
              <a:t>size, and for some benchmarks overall performance even decreases.</a:t>
            </a:r>
            <a:endParaRPr/>
          </a:p>
          <a:p>
            <a:pPr indent="0" lvl="0" marL="0" rtl="0" algn="l">
              <a:spcBef>
                <a:spcPts val="0"/>
              </a:spcBef>
              <a:spcAft>
                <a:spcPts val="0"/>
              </a:spcAft>
              <a:buNone/>
            </a:pPr>
            <a:r>
              <a:t/>
            </a:r>
            <a:endParaRPr/>
          </a:p>
        </p:txBody>
      </p:sp>
      <p:sp>
        <p:nvSpPr>
          <p:cNvPr id="122" name="Google Shape;1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c5effebde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c5effebde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cc5effebde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Figure 3: DVR processor pipeline. The stride detector obtains information about loads from the dispatch and execute stages of the pipeline.</a:t>
            </a:r>
            <a:endParaRPr/>
          </a:p>
          <a:p>
            <a:pPr indent="0" lvl="0" marL="0" rtl="0" algn="l">
              <a:spcBef>
                <a:spcPts val="0"/>
              </a:spcBef>
              <a:spcAft>
                <a:spcPts val="0"/>
              </a:spcAft>
              <a:buClr>
                <a:schemeClr val="dk1"/>
              </a:buClr>
              <a:buSzPts val="1100"/>
              <a:buFont typeface="Arial"/>
              <a:buNone/>
            </a:pPr>
            <a:r>
              <a:rPr lang="en-US"/>
              <a:t>Once a stride is detected, DVR enters Discovery Mode, which uses the Taint Tracker and Loop-Bound Detector to discover information for the</a:t>
            </a:r>
            <a:endParaRPr/>
          </a:p>
          <a:p>
            <a:pPr indent="0" lvl="0" marL="0" rtl="0" algn="l">
              <a:spcBef>
                <a:spcPts val="0"/>
              </a:spcBef>
              <a:spcAft>
                <a:spcPts val="0"/>
              </a:spcAft>
              <a:buClr>
                <a:schemeClr val="dk1"/>
              </a:buClr>
              <a:buSzPts val="1100"/>
              <a:buFont typeface="Arial"/>
              <a:buNone/>
            </a:pPr>
            <a:r>
              <a:rPr lang="en-US"/>
              <a:t>subsequent runahead. The Nested Discovery Mode logic will be used if Discovery Mode finds too few elements of the loop to vectorize. Once</a:t>
            </a:r>
            <a:endParaRPr/>
          </a:p>
          <a:p>
            <a:pPr indent="0" lvl="0" marL="0" rtl="0" algn="l">
              <a:spcBef>
                <a:spcPts val="0"/>
              </a:spcBef>
              <a:spcAft>
                <a:spcPts val="0"/>
              </a:spcAft>
              <a:buClr>
                <a:schemeClr val="dk1"/>
              </a:buClr>
              <a:buSzPts val="1100"/>
              <a:buFont typeface="Arial"/>
              <a:buNone/>
            </a:pPr>
            <a:r>
              <a:rPr lang="en-US"/>
              <a:t>Discovery Mode is complete, the vector program counter (𝑃𝐶𝑣 ) will be populated with the PC of the striding load, the VRAT will be populated</a:t>
            </a:r>
            <a:endParaRPr/>
          </a:p>
          <a:p>
            <a:pPr indent="0" lvl="0" marL="0" rtl="0" algn="l">
              <a:spcBef>
                <a:spcPts val="0"/>
              </a:spcBef>
              <a:spcAft>
                <a:spcPts val="0"/>
              </a:spcAft>
              <a:buClr>
                <a:schemeClr val="dk1"/>
              </a:buClr>
              <a:buSzPts val="1100"/>
              <a:buFont typeface="Arial"/>
              <a:buNone/>
            </a:pPr>
            <a:r>
              <a:rPr lang="en-US"/>
              <a:t>with the striding load addresses and a copy of the main thread’s scalar registers, and the decoupled vector-runahead subthread will initiate. The</a:t>
            </a:r>
            <a:endParaRPr/>
          </a:p>
          <a:p>
            <a:pPr indent="0" lvl="0" marL="0" rtl="0" algn="l">
              <a:spcBef>
                <a:spcPts val="0"/>
              </a:spcBef>
              <a:spcAft>
                <a:spcPts val="0"/>
              </a:spcAft>
              <a:buClr>
                <a:schemeClr val="dk1"/>
              </a:buClr>
              <a:buSzPts val="1100"/>
              <a:buFont typeface="Arial"/>
              <a:buNone/>
            </a:pPr>
            <a:r>
              <a:rPr lang="en-US"/>
              <a:t>Reconvergence Stack will engage upon divergence in control-flow between the vector lanes.</a:t>
            </a:r>
            <a:endParaRPr/>
          </a:p>
          <a:p>
            <a:pPr indent="0" lvl="0" marL="0" rtl="0" algn="l">
              <a:spcBef>
                <a:spcPts val="0"/>
              </a:spcBef>
              <a:spcAft>
                <a:spcPts val="0"/>
              </a:spcAft>
              <a:buNone/>
            </a:pPr>
            <a:r>
              <a:t/>
            </a:r>
            <a:endParaRPr/>
          </a:p>
        </p:txBody>
      </p:sp>
      <p:sp>
        <p:nvSpPr>
          <p:cNvPr id="148" name="Google Shape;14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 the constant value as the loop bound, and </a:t>
            </a:r>
            <a:br>
              <a:rPr lang="en-US"/>
            </a:br>
            <a:r>
              <a:rPr lang="en-US"/>
              <a:t>(ii) the difference in the changing value as the loop increment.</a:t>
            </a:r>
            <a:br>
              <a:rPr lang="en-US"/>
            </a:br>
            <a:r>
              <a:rPr lang="en-US"/>
              <a:t>If we</a:t>
            </a:r>
            <a:endParaRPr/>
          </a:p>
          <a:p>
            <a:pPr indent="0" lvl="0" marL="0" rtl="0" algn="l">
              <a:spcBef>
                <a:spcPts val="0"/>
              </a:spcBef>
              <a:spcAft>
                <a:spcPts val="0"/>
              </a:spcAft>
              <a:buClr>
                <a:schemeClr val="dk1"/>
              </a:buClr>
              <a:buSzPts val="1100"/>
              <a:buFont typeface="Arial"/>
              <a:buNone/>
            </a:pPr>
            <a:r>
              <a:rPr lang="en-US"/>
              <a:t>see a branch whose source matches the LCR destination and whose</a:t>
            </a:r>
            <a:endParaRPr/>
          </a:p>
          <a:p>
            <a:pPr indent="0" lvl="0" marL="0" rtl="0" algn="l">
              <a:spcBef>
                <a:spcPts val="0"/>
              </a:spcBef>
              <a:spcAft>
                <a:spcPts val="0"/>
              </a:spcAft>
              <a:buClr>
                <a:schemeClr val="dk1"/>
              </a:buClr>
              <a:buSzPts val="1100"/>
              <a:buFont typeface="Arial"/>
              <a:buNone/>
            </a:pPr>
            <a:r>
              <a:rPr lang="en-US"/>
              <a:t>branch-taken destination is less than or equal to the striding load’s</a:t>
            </a:r>
            <a:endParaRPr/>
          </a:p>
          <a:p>
            <a:pPr indent="0" lvl="0" marL="0" rtl="0" algn="l">
              <a:spcBef>
                <a:spcPts val="0"/>
              </a:spcBef>
              <a:spcAft>
                <a:spcPts val="0"/>
              </a:spcAft>
              <a:buClr>
                <a:schemeClr val="dk1"/>
              </a:buClr>
              <a:buSzPts val="1100"/>
              <a:buFont typeface="Arial"/>
              <a:buNone/>
            </a:pPr>
            <a:r>
              <a:rPr lang="en-US"/>
              <a:t>PC,1 then we set the SBB, to indicate that we should not alter the</a:t>
            </a:r>
            <a:endParaRPr/>
          </a:p>
          <a:p>
            <a:pPr indent="0" lvl="0" marL="0" rtl="0" algn="l">
              <a:spcBef>
                <a:spcPts val="0"/>
              </a:spcBef>
              <a:spcAft>
                <a:spcPts val="0"/>
              </a:spcAft>
              <a:buClr>
                <a:schemeClr val="dk1"/>
              </a:buClr>
              <a:buSzPts val="1100"/>
              <a:buFont typeface="Arial"/>
              <a:buNone/>
            </a:pPr>
            <a:r>
              <a:rPr lang="en-US"/>
              <a:t>LCR unless we see a new final load.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67" name="Google Shape;16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c5effebde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cc5effebde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cc5effebde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c5effebde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cc5effebde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cc5effebde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 the same scalar physical register in all vector lanes, in the case where the architectural register is not vectorized and there is no control-flow divergence across lanes, </a:t>
            </a:r>
            <a:endParaRPr/>
          </a:p>
          <a:p>
            <a:pPr indent="0" lvl="0" marL="0" rtl="0" algn="l">
              <a:spcBef>
                <a:spcPts val="0"/>
              </a:spcBef>
              <a:spcAft>
                <a:spcPts val="0"/>
              </a:spcAft>
              <a:buClr>
                <a:schemeClr val="dk1"/>
              </a:buClr>
              <a:buSzPts val="1100"/>
              <a:buFont typeface="Arial"/>
              <a:buNone/>
            </a:pPr>
            <a:r>
              <a:rPr lang="en-US"/>
              <a:t>or (ii) multiple vector physical registers, where the architectural register has been vectorized or there is control-flow divergence.</a:t>
            </a:r>
            <a:endParaRPr/>
          </a:p>
          <a:p>
            <a:pPr indent="0" lvl="0" marL="0" rtl="0" algn="l">
              <a:spcBef>
                <a:spcPts val="0"/>
              </a:spcBef>
              <a:spcAft>
                <a:spcPts val="0"/>
              </a:spcAft>
              <a:buNone/>
            </a:pPr>
            <a:r>
              <a:t/>
            </a:r>
            <a:endParaRPr/>
          </a:p>
        </p:txBody>
      </p:sp>
      <p:sp>
        <p:nvSpPr>
          <p:cNvPr id="187" name="Google Shape;1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If the next PC for any lane diverges from the others, we split the lanes based on their new destination, generate masks based on common groups, and place the masks and target PCs onto</a:t>
            </a:r>
            <a:endParaRPr/>
          </a:p>
          <a:p>
            <a:pPr indent="0" lvl="0" marL="0" rtl="0" algn="l">
              <a:spcBef>
                <a:spcPts val="0"/>
              </a:spcBef>
              <a:spcAft>
                <a:spcPts val="0"/>
              </a:spcAft>
              <a:buClr>
                <a:schemeClr val="dk1"/>
              </a:buClr>
              <a:buSzPts val="1100"/>
              <a:buFont typeface="Arial"/>
              <a:buNone/>
            </a:pPr>
            <a:r>
              <a:rPr lang="en-US"/>
              <a:t>a reconvergence stack (Figure 6).</a:t>
            </a:r>
            <a:endParaRPr/>
          </a:p>
          <a:p>
            <a:pPr indent="0" lvl="0" marL="0" rtl="0" algn="l">
              <a:spcBef>
                <a:spcPts val="0"/>
              </a:spcBef>
              <a:spcAft>
                <a:spcPts val="0"/>
              </a:spcAft>
              <a:buNone/>
            </a:pPr>
            <a:r>
              <a:t/>
            </a:r>
            <a:endParaRPr/>
          </a:p>
        </p:txBody>
      </p:sp>
      <p:sp>
        <p:nvSpPr>
          <p:cNvPr id="195" name="Google Shape;1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c5effebde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cc5effebde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cc5effebde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find the</a:t>
            </a:r>
            <a:endParaRPr/>
          </a:p>
          <a:p>
            <a:pPr indent="0" lvl="0" marL="0" rtl="0" algn="l">
              <a:spcBef>
                <a:spcPts val="0"/>
              </a:spcBef>
              <a:spcAft>
                <a:spcPts val="0"/>
              </a:spcAft>
              <a:buClr>
                <a:schemeClr val="dk1"/>
              </a:buClr>
              <a:buSzPts val="1100"/>
              <a:buFont typeface="Arial"/>
              <a:buNone/>
            </a:pPr>
            <a:r>
              <a:rPr lang="en-US"/>
              <a:t>starting striding addresses and loop bounds for many different invocations</a:t>
            </a:r>
            <a:endParaRPr/>
          </a:p>
          <a:p>
            <a:pPr indent="0" lvl="0" marL="0" rtl="0" algn="l">
              <a:spcBef>
                <a:spcPts val="0"/>
              </a:spcBef>
              <a:spcAft>
                <a:spcPts val="0"/>
              </a:spcAft>
              <a:buClr>
                <a:schemeClr val="dk1"/>
              </a:buClr>
              <a:buSzPts val="1100"/>
              <a:buFont typeface="Arial"/>
              <a:buNone/>
            </a:pPr>
            <a:r>
              <a:rPr lang="en-US"/>
              <a:t>of the inner loop at the same time.</a:t>
            </a:r>
            <a:endParaRPr/>
          </a:p>
          <a:p>
            <a:pPr indent="0" lvl="0" marL="0" rtl="0" algn="l">
              <a:spcBef>
                <a:spcPts val="0"/>
              </a:spcBef>
              <a:spcAft>
                <a:spcPts val="0"/>
              </a:spcAft>
              <a:buNone/>
            </a:pPr>
            <a:r>
              <a:t/>
            </a:r>
            <a:endParaRPr/>
          </a:p>
        </p:txBody>
      </p:sp>
      <p:sp>
        <p:nvSpPr>
          <p:cNvPr id="215" name="Google Shape;21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 NDM subthread then performs vectorization</a:t>
            </a:r>
            <a:endParaRPr/>
          </a:p>
          <a:p>
            <a:pPr indent="0" lvl="0" marL="0" rtl="0" algn="l">
              <a:spcBef>
                <a:spcPts val="0"/>
              </a:spcBef>
              <a:spcAft>
                <a:spcPts val="0"/>
              </a:spcAft>
              <a:buClr>
                <a:schemeClr val="dk1"/>
              </a:buClr>
              <a:buSzPts val="1100"/>
              <a:buFont typeface="Arial"/>
              <a:buNone/>
            </a:pPr>
            <a:r>
              <a:rPr lang="en-US"/>
              <a:t>from the inner striding load, by populating its vector registers with</a:t>
            </a:r>
            <a:endParaRPr/>
          </a:p>
          <a:p>
            <a:pPr indent="0" lvl="0" marL="0" rtl="0" algn="l">
              <a:spcBef>
                <a:spcPts val="0"/>
              </a:spcBef>
              <a:spcAft>
                <a:spcPts val="0"/>
              </a:spcAft>
              <a:buClr>
                <a:schemeClr val="dk1"/>
              </a:buClr>
              <a:buSzPts val="1100"/>
              <a:buFont typeface="Arial"/>
              <a:buNone/>
            </a:pPr>
            <a:r>
              <a:rPr lang="en-US"/>
              <a:t>these 128 targets, with all other registers set based on which of</a:t>
            </a:r>
            <a:endParaRPr/>
          </a:p>
          <a:p>
            <a:pPr indent="0" lvl="0" marL="0" rtl="0" algn="l">
              <a:spcBef>
                <a:spcPts val="0"/>
              </a:spcBef>
              <a:spcAft>
                <a:spcPts val="0"/>
              </a:spcAft>
              <a:buClr>
                <a:schemeClr val="dk1"/>
              </a:buClr>
              <a:buSzPts val="1100"/>
              <a:buFont typeface="Arial"/>
              <a:buNone/>
            </a:pPr>
            <a:r>
              <a:rPr lang="en-US"/>
              <a:t>the 16 outer-loop lanes it was spawned from (scalar for currently</a:t>
            </a:r>
            <a:endParaRPr/>
          </a:p>
          <a:p>
            <a:pPr indent="0" lvl="0" marL="0" rtl="0" algn="l">
              <a:spcBef>
                <a:spcPts val="0"/>
              </a:spcBef>
              <a:spcAft>
                <a:spcPts val="0"/>
              </a:spcAft>
              <a:buClr>
                <a:schemeClr val="dk1"/>
              </a:buClr>
              <a:buSzPts val="1100"/>
              <a:buFont typeface="Arial"/>
              <a:buNone/>
            </a:pPr>
            <a:r>
              <a:rPr lang="en-US"/>
              <a:t>untainted registers, and vector for registers tainted in NDM).</a:t>
            </a:r>
            <a:endParaRPr/>
          </a:p>
          <a:p>
            <a:pPr indent="0" lvl="0" marL="0" rtl="0" algn="l">
              <a:spcBef>
                <a:spcPts val="0"/>
              </a:spcBef>
              <a:spcAft>
                <a:spcPts val="0"/>
              </a:spcAft>
              <a:buNone/>
            </a:pPr>
            <a:r>
              <a:t/>
            </a:r>
            <a:endParaRPr/>
          </a:p>
        </p:txBody>
      </p:sp>
      <p:sp>
        <p:nvSpPr>
          <p:cNvPr id="221" name="Google Shape;22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DVR achieves 2.4× higher performance (and</a:t>
            </a:r>
            <a:endParaRPr/>
          </a:p>
          <a:p>
            <a:pPr indent="0" lvl="0" marL="0" rtl="0" algn="l">
              <a:spcBef>
                <a:spcPts val="0"/>
              </a:spcBef>
              <a:spcAft>
                <a:spcPts val="0"/>
              </a:spcAft>
              <a:buClr>
                <a:schemeClr val="dk1"/>
              </a:buClr>
              <a:buSzPts val="1100"/>
              <a:buFont typeface="Arial"/>
              <a:buNone/>
            </a:pPr>
            <a:r>
              <a:rPr lang="en-US"/>
              <a:t>up to 6.4×) compared to a baseline OoO core.</a:t>
            </a:r>
            <a:endParaRPr/>
          </a:p>
          <a:p>
            <a:pPr indent="0" lvl="0" marL="0" rtl="0" algn="l">
              <a:spcBef>
                <a:spcPts val="0"/>
              </a:spcBef>
              <a:spcAft>
                <a:spcPts val="0"/>
              </a:spcAft>
              <a:buNone/>
            </a:pPr>
            <a:r>
              <a:t/>
            </a:r>
            <a:endParaRPr/>
          </a:p>
        </p:txBody>
      </p:sp>
      <p:sp>
        <p:nvSpPr>
          <p:cNvPr id="227" name="Google Shape;2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ccc27e378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ccc27e378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3ccc27e3785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ccc27e3785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ccc27e3785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 rely on expensive wide vector execution units, hundreds of pre-existing physical vector registers, and a dedicated execution context (for DVR), which are infeasibly large.</a:t>
            </a:r>
            <a:endParaRPr/>
          </a:p>
        </p:txBody>
      </p:sp>
      <p:sp>
        <p:nvSpPr>
          <p:cNvPr id="273" name="Google Shape;273;g3ccc27e3785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8" name="Shape 18"/>
        <p:cNvGrpSpPr/>
        <p:nvPr/>
      </p:nvGrpSpPr>
      <p:grpSpPr>
        <a:xfrm>
          <a:off x="0" y="0"/>
          <a:ext cx="0" cy="0"/>
          <a:chOff x="0" y="0"/>
          <a:chExt cx="0" cy="0"/>
        </a:xfrm>
      </p:grpSpPr>
      <p:sp>
        <p:nvSpPr>
          <p:cNvPr id="19" name="Google Shape;19;p21"/>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0"/>
              <a:buFont typeface="Gill Sans"/>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1"/>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0"/>
              </a:spcBef>
              <a:spcAft>
                <a:spcPts val="0"/>
              </a:spcAft>
              <a:buSzPts val="1800"/>
              <a:buNone/>
              <a:defRPr b="0" sz="180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21" name="Google Shape;21;p2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1"/>
          <p:cNvSpPr txBox="1"/>
          <p:nvPr>
            <p:ph idx="11" type="ftr"/>
          </p:nvPr>
        </p:nvSpPr>
        <p:spPr>
          <a:xfrm>
            <a:off x="2416500" y="329307"/>
            <a:ext cx="4973915"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1"/>
          <p:cNvSpPr txBox="1"/>
          <p:nvPr>
            <p:ph idx="12" type="sldNum"/>
          </p:nvPr>
        </p:nvSpPr>
        <p:spPr>
          <a:xfrm>
            <a:off x="1437664"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4" name="Google Shape;24;p21"/>
          <p:cNvCxnSpPr/>
          <p:nvPr/>
        </p:nvCxnSpPr>
        <p:spPr>
          <a:xfrm>
            <a:off x="2417780" y="3528542"/>
            <a:ext cx="863707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25" name="Shape 25"/>
        <p:cNvGrpSpPr/>
        <p:nvPr/>
      </p:nvGrpSpPr>
      <p:grpSpPr>
        <a:xfrm>
          <a:off x="0" y="0"/>
          <a:ext cx="0" cy="0"/>
          <a:chOff x="0" y="0"/>
          <a:chExt cx="0" cy="0"/>
        </a:xfrm>
      </p:grpSpPr>
      <p:sp>
        <p:nvSpPr>
          <p:cNvPr id="26" name="Google Shape;26;p2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8" name="Google Shape;28;p2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1" name="Google Shape;31;p22"/>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32" name="Shape 32"/>
        <p:cNvGrpSpPr/>
        <p:nvPr/>
      </p:nvGrpSpPr>
      <p:grpSpPr>
        <a:xfrm>
          <a:off x="0" y="0"/>
          <a:ext cx="0" cy="0"/>
          <a:chOff x="0" y="0"/>
          <a:chExt cx="0" cy="0"/>
        </a:xfrm>
      </p:grpSpPr>
      <p:sp>
        <p:nvSpPr>
          <p:cNvPr id="33" name="Google Shape;33;p23"/>
          <p:cNvSpPr txBox="1"/>
          <p:nvPr>
            <p:ph type="title"/>
          </p:nvPr>
        </p:nvSpPr>
        <p:spPr>
          <a:xfrm>
            <a:off x="1454239" y="1756130"/>
            <a:ext cx="8643154" cy="1887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3"/>
          <p:cNvSpPr txBox="1"/>
          <p:nvPr>
            <p:ph idx="1" type="body"/>
          </p:nvPr>
        </p:nvSpPr>
        <p:spPr>
          <a:xfrm>
            <a:off x="1454239" y="3806195"/>
            <a:ext cx="8630446"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800"/>
              <a:buNone/>
              <a:defRPr sz="18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35" name="Google Shape;35;p23"/>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3"/>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8" name="Google Shape;38;p23"/>
          <p:cNvCxnSpPr/>
          <p:nvPr/>
        </p:nvCxnSpPr>
        <p:spPr>
          <a:xfrm>
            <a:off x="1454239" y="3804985"/>
            <a:ext cx="8630446"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39" name="Shape 39"/>
        <p:cNvGrpSpPr/>
        <p:nvPr/>
      </p:nvGrpSpPr>
      <p:grpSpPr>
        <a:xfrm>
          <a:off x="0" y="0"/>
          <a:ext cx="0" cy="0"/>
          <a:chOff x="0" y="0"/>
          <a:chExt cx="0" cy="0"/>
        </a:xfrm>
      </p:grpSpPr>
      <p:sp>
        <p:nvSpPr>
          <p:cNvPr id="40" name="Google Shape;40;p24"/>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4"/>
          <p:cNvSpPr txBox="1"/>
          <p:nvPr>
            <p:ph idx="1" type="body"/>
          </p:nvPr>
        </p:nvSpPr>
        <p:spPr>
          <a:xfrm>
            <a:off x="1447331" y="2010878"/>
            <a:ext cx="4645152" cy="3448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2" name="Google Shape;42;p24"/>
          <p:cNvSpPr txBox="1"/>
          <p:nvPr>
            <p:ph idx="2" type="body"/>
          </p:nvPr>
        </p:nvSpPr>
        <p:spPr>
          <a:xfrm>
            <a:off x="6413771" y="2017343"/>
            <a:ext cx="4645152" cy="3441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3" name="Google Shape;43;p24"/>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4"/>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6" name="Google Shape;46;p24"/>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47" name="Shape 47"/>
        <p:cNvGrpSpPr/>
        <p:nvPr/>
      </p:nvGrpSpPr>
      <p:grpSpPr>
        <a:xfrm>
          <a:off x="0" y="0"/>
          <a:ext cx="0" cy="0"/>
          <a:chOff x="0" y="0"/>
          <a:chExt cx="0" cy="0"/>
        </a:xfrm>
      </p:grpSpPr>
      <p:sp>
        <p:nvSpPr>
          <p:cNvPr id="48" name="Google Shape;48;p25"/>
          <p:cNvSpPr txBox="1"/>
          <p:nvPr>
            <p:ph type="title"/>
          </p:nvPr>
        </p:nvSpPr>
        <p:spPr>
          <a:xfrm>
            <a:off x="1447191" y="804163"/>
            <a:ext cx="9607661" cy="105631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25"/>
          <p:cNvSpPr txBox="1"/>
          <p:nvPr>
            <p:ph idx="1" type="body"/>
          </p:nvPr>
        </p:nvSpPr>
        <p:spPr>
          <a:xfrm>
            <a:off x="1447191" y="2019549"/>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0" name="Google Shape;50;p25"/>
          <p:cNvSpPr txBox="1"/>
          <p:nvPr>
            <p:ph idx="2" type="body"/>
          </p:nvPr>
        </p:nvSpPr>
        <p:spPr>
          <a:xfrm>
            <a:off x="1447191" y="2824269"/>
            <a:ext cx="4645152" cy="264445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1" name="Google Shape;51;p25"/>
          <p:cNvSpPr txBox="1"/>
          <p:nvPr>
            <p:ph idx="3" type="body"/>
          </p:nvPr>
        </p:nvSpPr>
        <p:spPr>
          <a:xfrm>
            <a:off x="6412362" y="2023003"/>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2" name="Google Shape;52;p25"/>
          <p:cNvSpPr txBox="1"/>
          <p:nvPr>
            <p:ph idx="4" type="body"/>
          </p:nvPr>
        </p:nvSpPr>
        <p:spPr>
          <a:xfrm>
            <a:off x="6412362" y="2821491"/>
            <a:ext cx="4645152" cy="263737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3" name="Google Shape;53;p25"/>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5"/>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6" name="Google Shape;56;p25"/>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57" name="Shape 57"/>
        <p:cNvGrpSpPr/>
        <p:nvPr/>
      </p:nvGrpSpPr>
      <p:grpSpPr>
        <a:xfrm>
          <a:off x="0" y="0"/>
          <a:ext cx="0" cy="0"/>
          <a:chOff x="0" y="0"/>
          <a:chExt cx="0" cy="0"/>
        </a:xfrm>
      </p:grpSpPr>
      <p:sp>
        <p:nvSpPr>
          <p:cNvPr id="58" name="Google Shape;58;p2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26"/>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2" name="Google Shape;62;p26"/>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63" name="Shape 63"/>
        <p:cNvGrpSpPr/>
        <p:nvPr/>
      </p:nvGrpSpPr>
      <p:grpSpPr>
        <a:xfrm>
          <a:off x="0" y="0"/>
          <a:ext cx="0" cy="0"/>
          <a:chOff x="0" y="0"/>
          <a:chExt cx="0" cy="0"/>
        </a:xfrm>
      </p:grpSpPr>
      <p:sp>
        <p:nvSpPr>
          <p:cNvPr id="64" name="Google Shape;64;p27"/>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7"/>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67" name="Shape 67"/>
        <p:cNvGrpSpPr/>
        <p:nvPr/>
      </p:nvGrpSpPr>
      <p:grpSpPr>
        <a:xfrm>
          <a:off x="0" y="0"/>
          <a:ext cx="0" cy="0"/>
          <a:chOff x="0" y="0"/>
          <a:chExt cx="0" cy="0"/>
        </a:xfrm>
      </p:grpSpPr>
      <p:sp>
        <p:nvSpPr>
          <p:cNvPr id="68" name="Google Shape;68;p28"/>
          <p:cNvSpPr txBox="1"/>
          <p:nvPr>
            <p:ph type="title"/>
          </p:nvPr>
        </p:nvSpPr>
        <p:spPr>
          <a:xfrm>
            <a:off x="1444671" y="798973"/>
            <a:ext cx="3273099" cy="22471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28"/>
          <p:cNvSpPr txBox="1"/>
          <p:nvPr>
            <p:ph idx="1" type="body"/>
          </p:nvPr>
        </p:nvSpPr>
        <p:spPr>
          <a:xfrm>
            <a:off x="5043714" y="798974"/>
            <a:ext cx="6012470" cy="4658826"/>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70" name="Google Shape;70;p28"/>
          <p:cNvSpPr txBox="1"/>
          <p:nvPr>
            <p:ph idx="2" type="body"/>
          </p:nvPr>
        </p:nvSpPr>
        <p:spPr>
          <a:xfrm>
            <a:off x="1444671" y="3205491"/>
            <a:ext cx="3275013" cy="224818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1" name="Google Shape;71;p28"/>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4" name="Google Shape;74;p28"/>
          <p:cNvCxnSpPr/>
          <p:nvPr/>
        </p:nvCxnSpPr>
        <p:spPr>
          <a:xfrm>
            <a:off x="1448280" y="3205491"/>
            <a:ext cx="326949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75" name="Shape 75"/>
        <p:cNvGrpSpPr/>
        <p:nvPr/>
      </p:nvGrpSpPr>
      <p:grpSpPr>
        <a:xfrm>
          <a:off x="0" y="0"/>
          <a:ext cx="0" cy="0"/>
          <a:chOff x="0" y="0"/>
          <a:chExt cx="0" cy="0"/>
        </a:xfrm>
      </p:grpSpPr>
      <p:grpSp>
        <p:nvGrpSpPr>
          <p:cNvPr id="76" name="Google Shape;76;p29"/>
          <p:cNvGrpSpPr/>
          <p:nvPr/>
        </p:nvGrpSpPr>
        <p:grpSpPr>
          <a:xfrm>
            <a:off x="7477387" y="482170"/>
            <a:ext cx="4074533" cy="5149101"/>
            <a:chOff x="7477387" y="482170"/>
            <a:chExt cx="4074533" cy="5149101"/>
          </a:xfrm>
        </p:grpSpPr>
        <p:sp>
          <p:nvSpPr>
            <p:cNvPr id="77" name="Google Shape;77;p29"/>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9"/>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29"/>
          <p:cNvSpPr txBox="1"/>
          <p:nvPr>
            <p:ph type="title"/>
          </p:nvPr>
        </p:nvSpPr>
        <p:spPr>
          <a:xfrm>
            <a:off x="1451206" y="1129513"/>
            <a:ext cx="5532328" cy="18305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9"/>
          <p:cNvSpPr/>
          <p:nvPr>
            <p:ph idx="2" type="pic"/>
          </p:nvPr>
        </p:nvSpPr>
        <p:spPr>
          <a:xfrm>
            <a:off x="8124389" y="1122542"/>
            <a:ext cx="2791171" cy="3866327"/>
          </a:xfrm>
          <a:prstGeom prst="rect">
            <a:avLst/>
          </a:prstGeom>
          <a:solidFill>
            <a:srgbClr val="D8D8D8"/>
          </a:solidFill>
          <a:ln>
            <a:noFill/>
          </a:ln>
        </p:spPr>
      </p:sp>
      <p:sp>
        <p:nvSpPr>
          <p:cNvPr id="81" name="Google Shape;81;p29"/>
          <p:cNvSpPr txBox="1"/>
          <p:nvPr>
            <p:ph idx="1" type="body"/>
          </p:nvPr>
        </p:nvSpPr>
        <p:spPr>
          <a:xfrm>
            <a:off x="1450329" y="3145992"/>
            <a:ext cx="5524404" cy="20037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82" name="Google Shape;82;p29"/>
          <p:cNvSpPr txBox="1"/>
          <p:nvPr>
            <p:ph idx="10" type="dt"/>
          </p:nvPr>
        </p:nvSpPr>
        <p:spPr>
          <a:xfrm>
            <a:off x="1447382" y="5469856"/>
            <a:ext cx="5527351" cy="32012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9"/>
          <p:cNvSpPr txBox="1"/>
          <p:nvPr>
            <p:ph idx="11" type="ftr"/>
          </p:nvPr>
        </p:nvSpPr>
        <p:spPr>
          <a:xfrm>
            <a:off x="1447382" y="318640"/>
            <a:ext cx="5541004" cy="32093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5" name="Google Shape;85;p29"/>
          <p:cNvCxnSpPr/>
          <p:nvPr/>
        </p:nvCxnSpPr>
        <p:spPr>
          <a:xfrm>
            <a:off x="1447382" y="3143605"/>
            <a:ext cx="552735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86" name="Shape 86"/>
        <p:cNvGrpSpPr/>
        <p:nvPr/>
      </p:nvGrpSpPr>
      <p:grpSpPr>
        <a:xfrm>
          <a:off x="0" y="0"/>
          <a:ext cx="0" cy="0"/>
          <a:chOff x="0" y="0"/>
          <a:chExt cx="0" cy="0"/>
        </a:xfrm>
      </p:grpSpPr>
      <p:sp>
        <p:nvSpPr>
          <p:cNvPr id="87" name="Google Shape;87;p3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30"/>
          <p:cNvSpPr txBox="1"/>
          <p:nvPr>
            <p:ph idx="1" type="body"/>
          </p:nvPr>
        </p:nvSpPr>
        <p:spPr>
          <a:xfrm rot="5400000">
            <a:off x="4527910" y="-1060599"/>
            <a:ext cx="3450613" cy="96032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89" name="Google Shape;89;p30"/>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0"/>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92" name="Google Shape;92;p30"/>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93" name="Shape 93"/>
        <p:cNvGrpSpPr/>
        <p:nvPr/>
      </p:nvGrpSpPr>
      <p:grpSpPr>
        <a:xfrm>
          <a:off x="0" y="0"/>
          <a:ext cx="0" cy="0"/>
          <a:chOff x="0" y="0"/>
          <a:chExt cx="0" cy="0"/>
        </a:xfrm>
      </p:grpSpPr>
      <p:sp>
        <p:nvSpPr>
          <p:cNvPr id="94" name="Google Shape;94;p31"/>
          <p:cNvSpPr txBox="1"/>
          <p:nvPr>
            <p:ph type="title"/>
          </p:nvPr>
        </p:nvSpPr>
        <p:spPr>
          <a:xfrm rot="5400000">
            <a:off x="7917038" y="2321047"/>
            <a:ext cx="4659889" cy="16157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31"/>
          <p:cNvSpPr txBox="1"/>
          <p:nvPr>
            <p:ph idx="1" type="body"/>
          </p:nvPr>
        </p:nvSpPr>
        <p:spPr>
          <a:xfrm rot="5400000">
            <a:off x="3029143" y="-785498"/>
            <a:ext cx="4659889" cy="782883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6" name="Google Shape;96;p3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1"/>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99" name="Google Shape;99;p31"/>
          <p:cNvCxnSpPr/>
          <p:nvPr/>
        </p:nvCxnSpPr>
        <p:spPr>
          <a:xfrm>
            <a:off x="9439111" y="798973"/>
            <a:ext cx="0" cy="4659889"/>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BE9E6"/>
            </a:gs>
            <a:gs pos="100000">
              <a:srgbClr val="C9C5C0"/>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p20"/>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 name="Google Shape;11;p20"/>
          <p:cNvPicPr preferRelativeResize="0"/>
          <p:nvPr/>
        </p:nvPicPr>
        <p:blipFill rotWithShape="1">
          <a:blip r:embed="rId1">
            <a:alphaModFix/>
          </a:blip>
          <a:srcRect b="-1538" l="0" r="0" t="1538"/>
          <a:stretch/>
        </p:blipFill>
        <p:spPr>
          <a:xfrm>
            <a:off x="0" y="6126480"/>
            <a:ext cx="12192000" cy="742950"/>
          </a:xfrm>
          <a:prstGeom prst="rect">
            <a:avLst/>
          </a:prstGeom>
          <a:noFill/>
          <a:ln>
            <a:noFill/>
          </a:ln>
        </p:spPr>
      </p:pic>
      <p:sp>
        <p:nvSpPr>
          <p:cNvPr id="12" name="Google Shape;12;p2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Gill Sans"/>
              <a:buNone/>
              <a:defRPr b="0" i="0" sz="3200" u="none" cap="none" strike="noStrik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0"/>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20000"/>
              </a:lnSpc>
              <a:spcBef>
                <a:spcPts val="500"/>
              </a:spcBef>
              <a:spcAft>
                <a:spcPts val="0"/>
              </a:spcAft>
              <a:buClr>
                <a:schemeClr val="accent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Gill Sans"/>
                <a:ea typeface="Gill Sans"/>
                <a:cs typeface="Gill Sans"/>
                <a:sym typeface="Gill Sans"/>
              </a:defRPr>
            </a:lvl3pPr>
            <a:lvl4pPr indent="-317500" lvl="3" marL="1828800" marR="0" rtl="0" algn="l">
              <a:lnSpc>
                <a:spcPct val="120000"/>
              </a:lnSpc>
              <a:spcBef>
                <a:spcPts val="500"/>
              </a:spcBef>
              <a:spcAft>
                <a:spcPts val="0"/>
              </a:spcAft>
              <a:buClr>
                <a:schemeClr val="accent1"/>
              </a:buClr>
              <a:buSzPts val="1400"/>
              <a:buFont typeface="Arial"/>
              <a:buChar char="•"/>
              <a:defRPr b="0" i="0" sz="1400" u="none" cap="none" strike="noStrike">
                <a:solidFill>
                  <a:schemeClr val="dk1"/>
                </a:solidFill>
                <a:latin typeface="Gill Sans"/>
                <a:ea typeface="Gill Sans"/>
                <a:cs typeface="Gill Sans"/>
                <a:sym typeface="Gill Sans"/>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14" name="Google Shape;14;p20"/>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5" name="Google Shape;15;p20"/>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6" name="Google Shape;16;p2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2800" u="none" cap="none" strike="noStrike">
                <a:solidFill>
                  <a:schemeClr val="accent1"/>
                </a:solidFill>
                <a:latin typeface="Gill Sans"/>
                <a:ea typeface="Gill Sans"/>
                <a:cs typeface="Gill Sans"/>
                <a:sym typeface="Gill Sans"/>
              </a:defRPr>
            </a:lvl1pPr>
            <a:lvl2pPr indent="0" lvl="1" marL="0" marR="0" rtl="0" algn="r">
              <a:spcBef>
                <a:spcPts val="0"/>
              </a:spcBef>
              <a:buNone/>
              <a:defRPr b="0" i="0" sz="2800" u="none" cap="none" strike="noStrike">
                <a:solidFill>
                  <a:schemeClr val="accent1"/>
                </a:solidFill>
                <a:latin typeface="Gill Sans"/>
                <a:ea typeface="Gill Sans"/>
                <a:cs typeface="Gill Sans"/>
                <a:sym typeface="Gill Sans"/>
              </a:defRPr>
            </a:lvl2pPr>
            <a:lvl3pPr indent="0" lvl="2" marL="0" marR="0" rtl="0" algn="r">
              <a:spcBef>
                <a:spcPts val="0"/>
              </a:spcBef>
              <a:buNone/>
              <a:defRPr b="0" i="0" sz="2800" u="none" cap="none" strike="noStrike">
                <a:solidFill>
                  <a:schemeClr val="accent1"/>
                </a:solidFill>
                <a:latin typeface="Gill Sans"/>
                <a:ea typeface="Gill Sans"/>
                <a:cs typeface="Gill Sans"/>
                <a:sym typeface="Gill Sans"/>
              </a:defRPr>
            </a:lvl3pPr>
            <a:lvl4pPr indent="0" lvl="3" marL="0" marR="0" rtl="0" algn="r">
              <a:spcBef>
                <a:spcPts val="0"/>
              </a:spcBef>
              <a:buNone/>
              <a:defRPr b="0" i="0" sz="2800" u="none" cap="none" strike="noStrike">
                <a:solidFill>
                  <a:schemeClr val="accent1"/>
                </a:solidFill>
                <a:latin typeface="Gill Sans"/>
                <a:ea typeface="Gill Sans"/>
                <a:cs typeface="Gill Sans"/>
                <a:sym typeface="Gill Sans"/>
              </a:defRPr>
            </a:lvl4pPr>
            <a:lvl5pPr indent="0" lvl="4" marL="0" marR="0" rtl="0" algn="r">
              <a:spcBef>
                <a:spcPts val="0"/>
              </a:spcBef>
              <a:buNone/>
              <a:defRPr b="0" i="0" sz="2800" u="none" cap="none" strike="noStrike">
                <a:solidFill>
                  <a:schemeClr val="accent1"/>
                </a:solidFill>
                <a:latin typeface="Gill Sans"/>
                <a:ea typeface="Gill Sans"/>
                <a:cs typeface="Gill Sans"/>
                <a:sym typeface="Gill Sans"/>
              </a:defRPr>
            </a:lvl5pPr>
            <a:lvl6pPr indent="0" lvl="5" marL="0" marR="0" rtl="0" algn="r">
              <a:spcBef>
                <a:spcPts val="0"/>
              </a:spcBef>
              <a:buNone/>
              <a:defRPr b="0" i="0" sz="2800" u="none" cap="none" strike="noStrike">
                <a:solidFill>
                  <a:schemeClr val="accent1"/>
                </a:solidFill>
                <a:latin typeface="Gill Sans"/>
                <a:ea typeface="Gill Sans"/>
                <a:cs typeface="Gill Sans"/>
                <a:sym typeface="Gill Sans"/>
              </a:defRPr>
            </a:lvl6pPr>
            <a:lvl7pPr indent="0" lvl="6" marL="0" marR="0" rtl="0" algn="r">
              <a:spcBef>
                <a:spcPts val="0"/>
              </a:spcBef>
              <a:buNone/>
              <a:defRPr b="0" i="0" sz="2800" u="none" cap="none" strike="noStrike">
                <a:solidFill>
                  <a:schemeClr val="accent1"/>
                </a:solidFill>
                <a:latin typeface="Gill Sans"/>
                <a:ea typeface="Gill Sans"/>
                <a:cs typeface="Gill Sans"/>
                <a:sym typeface="Gill Sans"/>
              </a:defRPr>
            </a:lvl7pPr>
            <a:lvl8pPr indent="0" lvl="7" marL="0" marR="0" rtl="0" algn="r">
              <a:spcBef>
                <a:spcPts val="0"/>
              </a:spcBef>
              <a:buNone/>
              <a:defRPr b="0" i="0" sz="2800" u="none" cap="none" strike="noStrike">
                <a:solidFill>
                  <a:schemeClr val="accent1"/>
                </a:solidFill>
                <a:latin typeface="Gill Sans"/>
                <a:ea typeface="Gill Sans"/>
                <a:cs typeface="Gill Sans"/>
                <a:sym typeface="Gill Sans"/>
              </a:defRPr>
            </a:lvl8pPr>
            <a:lvl9pPr indent="0" lvl="8" marL="0" marR="0" rtl="0" algn="r">
              <a:spcBef>
                <a:spcPts val="0"/>
              </a:spcBef>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20"/>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Gill Sans"/>
              <a:buNone/>
            </a:pPr>
            <a:r>
              <a:rPr lang="en-US"/>
              <a:t>DECOUPLED VECTOR RUNAHEAD</a:t>
            </a:r>
            <a:endParaRPr/>
          </a:p>
        </p:txBody>
      </p:sp>
      <p:sp>
        <p:nvSpPr>
          <p:cNvPr id="105" name="Google Shape;105;p1"/>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US"/>
              <a:t>SHENGMIN LIU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TABLE OF CONTENT</a:t>
            </a:r>
            <a:endParaRPr/>
          </a:p>
        </p:txBody>
      </p:sp>
      <p:sp>
        <p:nvSpPr>
          <p:cNvPr id="111" name="Google Shape;111;p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Background and Motivation</a:t>
            </a:r>
            <a:endParaRPr/>
          </a:p>
          <a:p>
            <a:pPr indent="-228600" lvl="0" marL="228600" rtl="0" algn="l">
              <a:lnSpc>
                <a:spcPct val="120000"/>
              </a:lnSpc>
              <a:spcBef>
                <a:spcPts val="1000"/>
              </a:spcBef>
              <a:spcAft>
                <a:spcPts val="0"/>
              </a:spcAft>
              <a:buSzPts val="2000"/>
              <a:buChar char="•"/>
            </a:pPr>
            <a:r>
              <a:rPr lang="en-US"/>
              <a:t>DVR Microarchitecture</a:t>
            </a:r>
            <a:endParaRPr/>
          </a:p>
          <a:p>
            <a:pPr indent="-228600" lvl="1" marL="685800" rtl="0" algn="l">
              <a:lnSpc>
                <a:spcPct val="120000"/>
              </a:lnSpc>
              <a:spcBef>
                <a:spcPts val="500"/>
              </a:spcBef>
              <a:spcAft>
                <a:spcPts val="0"/>
              </a:spcAft>
              <a:buSzPts val="1800"/>
              <a:buChar char="•"/>
            </a:pPr>
            <a:r>
              <a:rPr lang="en-US"/>
              <a:t>Discovery mode</a:t>
            </a:r>
            <a:endParaRPr/>
          </a:p>
          <a:p>
            <a:pPr indent="-228600" lvl="1" marL="685800" rtl="0" algn="l">
              <a:lnSpc>
                <a:spcPct val="120000"/>
              </a:lnSpc>
              <a:spcBef>
                <a:spcPts val="500"/>
              </a:spcBef>
              <a:spcAft>
                <a:spcPts val="0"/>
              </a:spcAft>
              <a:buSzPts val="1800"/>
              <a:buChar char="•"/>
            </a:pPr>
            <a:r>
              <a:rPr lang="en-US"/>
              <a:t>VR Subthreads</a:t>
            </a:r>
            <a:endParaRPr/>
          </a:p>
          <a:p>
            <a:pPr indent="-228600" lvl="1" marL="685800" rtl="0" algn="l">
              <a:lnSpc>
                <a:spcPct val="120000"/>
              </a:lnSpc>
              <a:spcBef>
                <a:spcPts val="500"/>
              </a:spcBef>
              <a:spcAft>
                <a:spcPts val="0"/>
              </a:spcAft>
              <a:buSzPts val="1800"/>
              <a:buChar char="•"/>
            </a:pPr>
            <a:r>
              <a:rPr lang="en-US"/>
              <a:t>Nested Vector Runahead</a:t>
            </a:r>
            <a:endParaRPr/>
          </a:p>
          <a:p>
            <a:pPr indent="-228600" lvl="0" marL="228600" rtl="0" algn="l">
              <a:lnSpc>
                <a:spcPct val="120000"/>
              </a:lnSpc>
              <a:spcBef>
                <a:spcPts val="1000"/>
              </a:spcBef>
              <a:spcAft>
                <a:spcPts val="0"/>
              </a:spcAft>
              <a:buSzPts val="2000"/>
              <a:buChar char="•"/>
            </a:pPr>
            <a:r>
              <a:rPr lang="en-US"/>
              <a:t>Performance Evaluation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BACKGROUND</a:t>
            </a:r>
            <a:endParaRPr/>
          </a:p>
        </p:txBody>
      </p:sp>
      <p:sp>
        <p:nvSpPr>
          <p:cNvPr id="118" name="Google Shape;118;p3"/>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Runahead</a:t>
            </a:r>
            <a:endParaRPr/>
          </a:p>
          <a:p>
            <a:pPr indent="0" lvl="0" marL="0" rtl="0" algn="l">
              <a:lnSpc>
                <a:spcPct val="120000"/>
              </a:lnSpc>
              <a:spcBef>
                <a:spcPts val="1000"/>
              </a:spcBef>
              <a:spcAft>
                <a:spcPts val="0"/>
              </a:spcAft>
              <a:buSzPts val="2000"/>
              <a:buNone/>
            </a:pPr>
            <a:r>
              <a:t/>
            </a:r>
            <a:endParaRPr/>
          </a:p>
          <a:p>
            <a:pPr indent="-228600" lvl="0" marL="228600" rtl="0" algn="l">
              <a:lnSpc>
                <a:spcPct val="120000"/>
              </a:lnSpc>
              <a:spcBef>
                <a:spcPts val="1000"/>
              </a:spcBef>
              <a:spcAft>
                <a:spcPts val="0"/>
              </a:spcAft>
              <a:buSzPts val="2000"/>
              <a:buChar char="•"/>
            </a:pPr>
            <a:r>
              <a:rPr lang="en-US"/>
              <a:t>Vector Runahead</a:t>
            </a:r>
            <a:endParaRPr/>
          </a:p>
          <a:p>
            <a:pPr indent="-228600" lvl="1" marL="685800" rtl="0" algn="l">
              <a:lnSpc>
                <a:spcPct val="120000"/>
              </a:lnSpc>
              <a:spcBef>
                <a:spcPts val="500"/>
              </a:spcBef>
              <a:spcAft>
                <a:spcPts val="0"/>
              </a:spcAft>
              <a:buSzPts val="1800"/>
              <a:buChar char="•"/>
            </a:pPr>
            <a:r>
              <a:rPr lang="en-US"/>
              <a:t>Indirect Memory Access</a:t>
            </a:r>
            <a:endParaRPr/>
          </a:p>
          <a:p>
            <a:pPr indent="-228600" lvl="1" marL="685800" rtl="0" algn="l">
              <a:lnSpc>
                <a:spcPct val="120000"/>
              </a:lnSpc>
              <a:spcBef>
                <a:spcPts val="500"/>
              </a:spcBef>
              <a:spcAft>
                <a:spcPts val="0"/>
              </a:spcAft>
              <a:buSzPts val="1800"/>
              <a:buChar char="•"/>
            </a:pPr>
            <a:r>
              <a:rPr lang="en-US"/>
              <a:t>Vectorize Instruction</a:t>
            </a:r>
            <a:endParaRPr/>
          </a:p>
        </p:txBody>
      </p:sp>
      <p:pic>
        <p:nvPicPr>
          <p:cNvPr descr="图示&#10;&#10;AI 生成的内容可能不正确。" id="119" name="Google Shape;119;p3"/>
          <p:cNvPicPr preferRelativeResize="0"/>
          <p:nvPr/>
        </p:nvPicPr>
        <p:blipFill rotWithShape="1">
          <a:blip r:embed="rId3">
            <a:alphaModFix/>
          </a:blip>
          <a:srcRect b="0" l="0" r="0" t="0"/>
          <a:stretch/>
        </p:blipFill>
        <p:spPr>
          <a:xfrm>
            <a:off x="6063428" y="1926322"/>
            <a:ext cx="5294121" cy="258462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图示&#10;&#10;AI 生成的内容可能不正确。" id="124" name="Google Shape;124;p4"/>
          <p:cNvPicPr preferRelativeResize="0"/>
          <p:nvPr/>
        </p:nvPicPr>
        <p:blipFill rotWithShape="1">
          <a:blip r:embed="rId3">
            <a:alphaModFix/>
          </a:blip>
          <a:srcRect b="0" l="0" r="0" t="0"/>
          <a:stretch/>
        </p:blipFill>
        <p:spPr>
          <a:xfrm>
            <a:off x="1357301" y="2113127"/>
            <a:ext cx="4455298" cy="2175125"/>
          </a:xfrm>
          <a:prstGeom prst="rect">
            <a:avLst/>
          </a:prstGeom>
          <a:noFill/>
          <a:ln>
            <a:noFill/>
          </a:ln>
        </p:spPr>
      </p:pic>
      <p:cxnSp>
        <p:nvCxnSpPr>
          <p:cNvPr id="125" name="Google Shape;125;p4"/>
          <p:cNvCxnSpPr/>
          <p:nvPr/>
        </p:nvCxnSpPr>
        <p:spPr>
          <a:xfrm flipH="1" rot="10800000">
            <a:off x="2347697" y="3835726"/>
            <a:ext cx="264000" cy="781500"/>
          </a:xfrm>
          <a:prstGeom prst="straightConnector1">
            <a:avLst/>
          </a:prstGeom>
          <a:noFill/>
          <a:ln cap="flat" cmpd="sng" w="9525">
            <a:solidFill>
              <a:srgbClr val="FF0000"/>
            </a:solidFill>
            <a:prstDash val="solid"/>
            <a:round/>
            <a:headEnd len="sm" w="sm" type="none"/>
            <a:tailEnd len="med" w="med" type="triangle"/>
          </a:ln>
        </p:spPr>
      </p:cxnSp>
      <p:cxnSp>
        <p:nvCxnSpPr>
          <p:cNvPr id="126" name="Google Shape;126;p4"/>
          <p:cNvCxnSpPr/>
          <p:nvPr/>
        </p:nvCxnSpPr>
        <p:spPr>
          <a:xfrm rot="10800000">
            <a:off x="3677320" y="3835716"/>
            <a:ext cx="191400" cy="909300"/>
          </a:xfrm>
          <a:prstGeom prst="straightConnector1">
            <a:avLst/>
          </a:prstGeom>
          <a:noFill/>
          <a:ln cap="flat" cmpd="sng" w="9525">
            <a:solidFill>
              <a:srgbClr val="FF0000"/>
            </a:solidFill>
            <a:prstDash val="solid"/>
            <a:round/>
            <a:headEnd len="sm" w="sm" type="none"/>
            <a:tailEnd len="med" w="med" type="triangle"/>
          </a:ln>
        </p:spPr>
      </p:cxnSp>
      <p:pic>
        <p:nvPicPr>
          <p:cNvPr descr="图表&#10;&#10;AI 生成的内容可能不正确。" id="127" name="Google Shape;127;p4"/>
          <p:cNvPicPr preferRelativeResize="0"/>
          <p:nvPr/>
        </p:nvPicPr>
        <p:blipFill rotWithShape="1">
          <a:blip r:embed="rId4">
            <a:alphaModFix/>
          </a:blip>
          <a:srcRect b="37795" l="0" r="0" t="0"/>
          <a:stretch/>
        </p:blipFill>
        <p:spPr>
          <a:xfrm>
            <a:off x="6315749" y="2113113"/>
            <a:ext cx="5130096" cy="2175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cc5effebde_0_9"/>
          <p:cNvSpPr txBox="1"/>
          <p:nvPr>
            <p:ph type="title"/>
          </p:nvPr>
        </p:nvSpPr>
        <p:spPr>
          <a:xfrm>
            <a:off x="1451579" y="804519"/>
            <a:ext cx="9603300" cy="1049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34" name="Google Shape;134;g3cc5effebde_0_9"/>
          <p:cNvSpPr txBox="1"/>
          <p:nvPr>
            <p:ph idx="1" type="body"/>
          </p:nvPr>
        </p:nvSpPr>
        <p:spPr>
          <a:xfrm>
            <a:off x="1451579" y="2015732"/>
            <a:ext cx="9603300" cy="3450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表格&#10;&#10;AI 生成的内容可能不正确。" id="135" name="Google Shape;135;g3cc5effebde_0_9"/>
          <p:cNvPicPr preferRelativeResize="0"/>
          <p:nvPr/>
        </p:nvPicPr>
        <p:blipFill rotWithShape="1">
          <a:blip r:embed="rId3">
            <a:alphaModFix/>
          </a:blip>
          <a:srcRect b="0" l="0" r="0" t="0"/>
          <a:stretch/>
        </p:blipFill>
        <p:spPr>
          <a:xfrm>
            <a:off x="4307247" y="1084521"/>
            <a:ext cx="3916347" cy="3137405"/>
          </a:xfrm>
          <a:prstGeom prst="rect">
            <a:avLst/>
          </a:prstGeom>
          <a:noFill/>
          <a:ln>
            <a:noFill/>
          </a:ln>
        </p:spPr>
      </p:pic>
      <p:cxnSp>
        <p:nvCxnSpPr>
          <p:cNvPr id="136" name="Google Shape;136;g3cc5effebde_0_9"/>
          <p:cNvCxnSpPr/>
          <p:nvPr/>
        </p:nvCxnSpPr>
        <p:spPr>
          <a:xfrm flipH="1" rot="10800000">
            <a:off x="3848266" y="3277522"/>
            <a:ext cx="264000" cy="781500"/>
          </a:xfrm>
          <a:prstGeom prst="straightConnector1">
            <a:avLst/>
          </a:prstGeom>
          <a:noFill/>
          <a:ln cap="flat" cmpd="sng" w="9525">
            <a:solidFill>
              <a:srgbClr val="FF0000"/>
            </a:solidFill>
            <a:prstDash val="solid"/>
            <a:round/>
            <a:headEnd len="sm" w="sm" type="none"/>
            <a:tailEnd len="med" w="med" type="triangle"/>
          </a:ln>
        </p:spPr>
      </p:cxnSp>
      <p:cxnSp>
        <p:nvCxnSpPr>
          <p:cNvPr id="137" name="Google Shape;137;g3cc5effebde_0_9"/>
          <p:cNvCxnSpPr/>
          <p:nvPr/>
        </p:nvCxnSpPr>
        <p:spPr>
          <a:xfrm rot="10800000">
            <a:off x="6571852" y="2568860"/>
            <a:ext cx="1462800" cy="1062900"/>
          </a:xfrm>
          <a:prstGeom prst="straightConnector1">
            <a:avLst/>
          </a:prstGeom>
          <a:noFill/>
          <a:ln cap="flat" cmpd="sng" w="9525">
            <a:solidFill>
              <a:srgbClr val="FF0000"/>
            </a:solidFill>
            <a:prstDash val="solid"/>
            <a:round/>
            <a:headEnd len="sm" w="sm" type="none"/>
            <a:tailEnd len="med" w="med" type="triangle"/>
          </a:ln>
        </p:spPr>
      </p:cxnSp>
      <p:cxnSp>
        <p:nvCxnSpPr>
          <p:cNvPr id="138" name="Google Shape;138;g3cc5effebde_0_9"/>
          <p:cNvCxnSpPr/>
          <p:nvPr/>
        </p:nvCxnSpPr>
        <p:spPr>
          <a:xfrm rot="10800000">
            <a:off x="6265566" y="3536172"/>
            <a:ext cx="905700" cy="1660500"/>
          </a:xfrm>
          <a:prstGeom prst="straightConnector1">
            <a:avLst/>
          </a:prstGeom>
          <a:noFill/>
          <a:ln cap="flat" cmpd="sng" w="9525">
            <a:solidFill>
              <a:srgbClr val="FF0000"/>
            </a:solidFill>
            <a:prstDash val="solid"/>
            <a:round/>
            <a:headEnd len="sm" w="sm"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LIMITATIONS OF VR</a:t>
            </a:r>
            <a:endParaRPr/>
          </a:p>
        </p:txBody>
      </p:sp>
      <p:sp>
        <p:nvSpPr>
          <p:cNvPr id="145" name="Google Shape;145;p5"/>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Performance Boost Diminish with Bigger ROBs</a:t>
            </a:r>
            <a:endParaRPr/>
          </a:p>
          <a:p>
            <a:pPr indent="-228600" lvl="0" marL="228600" rtl="0" algn="l">
              <a:lnSpc>
                <a:spcPct val="120000"/>
              </a:lnSpc>
              <a:spcBef>
                <a:spcPts val="1000"/>
              </a:spcBef>
              <a:spcAft>
                <a:spcPts val="0"/>
              </a:spcAft>
              <a:buSzPts val="2000"/>
              <a:buChar char="•"/>
            </a:pPr>
            <a:r>
              <a:rPr lang="en-US"/>
              <a:t>Delayed Termination Stalls Commit</a:t>
            </a:r>
            <a:endParaRPr/>
          </a:p>
          <a:p>
            <a:pPr indent="-228600" lvl="0" marL="228600" rtl="0" algn="l">
              <a:lnSpc>
                <a:spcPct val="120000"/>
              </a:lnSpc>
              <a:spcBef>
                <a:spcPts val="1000"/>
              </a:spcBef>
              <a:spcAft>
                <a:spcPts val="0"/>
              </a:spcAft>
              <a:buSzPts val="2000"/>
              <a:buChar char="•"/>
            </a:pPr>
            <a:r>
              <a:rPr lang="en-US"/>
              <a:t>No adaption to run-time characteristics</a:t>
            </a:r>
            <a:endParaRPr/>
          </a:p>
          <a:p>
            <a:pPr indent="-228600" lvl="0" marL="228600" rtl="0" algn="l">
              <a:lnSpc>
                <a:spcPct val="120000"/>
              </a:lnSpc>
              <a:spcBef>
                <a:spcPts val="1000"/>
              </a:spcBef>
              <a:spcAft>
                <a:spcPts val="0"/>
              </a:spcAft>
              <a:buSzPts val="2000"/>
              <a:buChar char="•"/>
            </a:pPr>
            <a:r>
              <a:rPr lang="en-US"/>
              <a:t>Inability to Vectorize Multiple Invocations of the Same Loop</a:t>
            </a:r>
            <a:endParaRPr/>
          </a:p>
          <a:p>
            <a:pPr indent="-228600" lvl="0" marL="228600" rtl="0" algn="l">
              <a:lnSpc>
                <a:spcPct val="120000"/>
              </a:lnSpc>
              <a:spcBef>
                <a:spcPts val="1000"/>
              </a:spcBef>
              <a:spcAft>
                <a:spcPts val="0"/>
              </a:spcAft>
              <a:buSzPts val="2000"/>
              <a:buChar char="•"/>
            </a:pPr>
            <a:r>
              <a:rPr lang="en-US"/>
              <a:t>Inability to Handle Control-Flow Divergence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DVR MICROARCHITECTURE</a:t>
            </a:r>
            <a:endParaRPr/>
          </a:p>
        </p:txBody>
      </p:sp>
      <p:sp>
        <p:nvSpPr>
          <p:cNvPr id="151" name="Google Shape;151;p6"/>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pic>
        <p:nvPicPr>
          <p:cNvPr descr="图示&#10;&#10;AI 生成的内容可能不正确。" id="152" name="Google Shape;152;p6"/>
          <p:cNvPicPr preferRelativeResize="0"/>
          <p:nvPr/>
        </p:nvPicPr>
        <p:blipFill rotWithShape="1">
          <a:blip r:embed="rId3">
            <a:alphaModFix/>
          </a:blip>
          <a:srcRect b="0" l="0" r="0" t="0"/>
          <a:stretch/>
        </p:blipFill>
        <p:spPr>
          <a:xfrm>
            <a:off x="845127" y="2025181"/>
            <a:ext cx="10515600" cy="37543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DISCOVERY MODE</a:t>
            </a:r>
            <a:endParaRPr/>
          </a:p>
        </p:txBody>
      </p:sp>
      <p:sp>
        <p:nvSpPr>
          <p:cNvPr id="158" name="Google Shape;158;p7"/>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Innermost Striding-Load Detection</a:t>
            </a:r>
            <a:endParaRPr/>
          </a:p>
          <a:p>
            <a:pPr indent="-228600" lvl="1" marL="685800" rtl="0" algn="l">
              <a:lnSpc>
                <a:spcPct val="120000"/>
              </a:lnSpc>
              <a:spcBef>
                <a:spcPts val="500"/>
              </a:spcBef>
              <a:spcAft>
                <a:spcPts val="0"/>
              </a:spcAft>
              <a:buSzPts val="1800"/>
              <a:buChar char="•"/>
            </a:pPr>
            <a:r>
              <a:rPr lang="en-US"/>
              <a:t>Reference Prediction Table</a:t>
            </a:r>
            <a:endParaRPr/>
          </a:p>
          <a:p>
            <a:pPr indent="-228600" lvl="1" marL="685800" rtl="0" algn="l">
              <a:lnSpc>
                <a:spcPct val="120000"/>
              </a:lnSpc>
              <a:spcBef>
                <a:spcPts val="500"/>
              </a:spcBef>
              <a:spcAft>
                <a:spcPts val="0"/>
              </a:spcAft>
              <a:buSzPts val="1800"/>
              <a:buChar char="•"/>
            </a:pPr>
            <a:r>
              <a:rPr lang="en-US"/>
              <a:t>Keeps track of all striding loads and a 1-bit value per entry to find out the inner stride.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DISCOVERY MODE</a:t>
            </a:r>
            <a:endParaRPr/>
          </a:p>
        </p:txBody>
      </p:sp>
      <p:sp>
        <p:nvSpPr>
          <p:cNvPr id="164" name="Google Shape;164;p8"/>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Dependent-Load Checking</a:t>
            </a:r>
            <a:endParaRPr/>
          </a:p>
          <a:p>
            <a:pPr indent="-228600" lvl="1" marL="685800" rtl="0" algn="l">
              <a:lnSpc>
                <a:spcPct val="120000"/>
              </a:lnSpc>
              <a:spcBef>
                <a:spcPts val="500"/>
              </a:spcBef>
              <a:spcAft>
                <a:spcPts val="0"/>
              </a:spcAft>
              <a:buSzPts val="1800"/>
              <a:buChar char="•"/>
            </a:pPr>
            <a:r>
              <a:rPr lang="en-US"/>
              <a:t>Vector Taint Tracker</a:t>
            </a:r>
            <a:endParaRPr/>
          </a:p>
          <a:p>
            <a:pPr indent="-228600" lvl="2" marL="1143000" rtl="0" algn="l">
              <a:lnSpc>
                <a:spcPct val="120000"/>
              </a:lnSpc>
              <a:spcBef>
                <a:spcPts val="500"/>
              </a:spcBef>
              <a:spcAft>
                <a:spcPts val="0"/>
              </a:spcAft>
              <a:buSzPts val="1600"/>
              <a:buChar char="•"/>
            </a:pPr>
            <a:r>
              <a:rPr lang="en-US"/>
              <a:t>A single bit per architectural integer register</a:t>
            </a:r>
            <a:endParaRPr/>
          </a:p>
          <a:p>
            <a:pPr indent="-228600" lvl="1" marL="685800" rtl="0" algn="l">
              <a:lnSpc>
                <a:spcPct val="120000"/>
              </a:lnSpc>
              <a:spcBef>
                <a:spcPts val="500"/>
              </a:spcBef>
              <a:spcAft>
                <a:spcPts val="0"/>
              </a:spcAft>
              <a:buSzPts val="1800"/>
              <a:buChar char="•"/>
            </a:pPr>
            <a:r>
              <a:rPr lang="en-US"/>
              <a:t>Final Load register</a:t>
            </a:r>
            <a:endParaRPr/>
          </a:p>
          <a:p>
            <a:pPr indent="-228600" lvl="2" marL="1143000" rtl="0" algn="l">
              <a:lnSpc>
                <a:spcPct val="120000"/>
              </a:lnSpc>
              <a:spcBef>
                <a:spcPts val="500"/>
              </a:spcBef>
              <a:spcAft>
                <a:spcPts val="0"/>
              </a:spcAft>
              <a:buSzPts val="1600"/>
              <a:buChar char="•"/>
            </a:pPr>
            <a:r>
              <a:rPr lang="en-US"/>
              <a:t>A register that holds a single load PC</a:t>
            </a:r>
            <a:endParaRPr/>
          </a:p>
          <a:p>
            <a:pPr indent="-228600" lvl="1" marL="685800" rtl="0" algn="l">
              <a:lnSpc>
                <a:spcPct val="120000"/>
              </a:lnSpc>
              <a:spcBef>
                <a:spcPts val="500"/>
              </a:spcBef>
              <a:spcAft>
                <a:spcPts val="0"/>
              </a:spcAft>
              <a:buSzPts val="1800"/>
              <a:buChar char="•"/>
            </a:pPr>
            <a:r>
              <a:rPr lang="en-US"/>
              <a:t>To make sure the triggered DVR is meaningful</a:t>
            </a:r>
            <a:endParaRPr/>
          </a:p>
          <a:p>
            <a:pPr indent="-114300" lvl="1" marL="685800" rtl="0" algn="l">
              <a:lnSpc>
                <a:spcPct val="120000"/>
              </a:lnSpc>
              <a:spcBef>
                <a:spcPts val="500"/>
              </a:spcBef>
              <a:spcAft>
                <a:spcPts val="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DISCOVERY MODE</a:t>
            </a:r>
            <a:endParaRPr/>
          </a:p>
        </p:txBody>
      </p:sp>
      <p:sp>
        <p:nvSpPr>
          <p:cNvPr id="170" name="Google Shape;170;p9"/>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Loop-Bound Inference</a:t>
            </a:r>
            <a:endParaRPr/>
          </a:p>
          <a:p>
            <a:pPr indent="-228600" lvl="1" marL="685800" rtl="0" algn="l">
              <a:lnSpc>
                <a:spcPct val="120000"/>
              </a:lnSpc>
              <a:spcBef>
                <a:spcPts val="500"/>
              </a:spcBef>
              <a:spcAft>
                <a:spcPts val="0"/>
              </a:spcAft>
              <a:buSzPts val="1800"/>
              <a:buChar char="•"/>
            </a:pPr>
            <a:r>
              <a:rPr lang="en-US"/>
              <a:t>Last-Compare Register</a:t>
            </a:r>
            <a:endParaRPr/>
          </a:p>
          <a:p>
            <a:pPr indent="-228600" lvl="2" marL="1143000" rtl="0" algn="l">
              <a:lnSpc>
                <a:spcPct val="120000"/>
              </a:lnSpc>
              <a:spcBef>
                <a:spcPts val="500"/>
              </a:spcBef>
              <a:spcAft>
                <a:spcPts val="0"/>
              </a:spcAft>
              <a:buSzPts val="1600"/>
              <a:buChar char="•"/>
            </a:pPr>
            <a:r>
              <a:rPr lang="en-US"/>
              <a:t>stores compare source</a:t>
            </a:r>
            <a:endParaRPr/>
          </a:p>
          <a:p>
            <a:pPr indent="-228600" lvl="2" marL="1143000" rtl="0" algn="l">
              <a:lnSpc>
                <a:spcPct val="120000"/>
              </a:lnSpc>
              <a:spcBef>
                <a:spcPts val="500"/>
              </a:spcBef>
              <a:spcAft>
                <a:spcPts val="0"/>
              </a:spcAft>
              <a:buSzPts val="1600"/>
              <a:buChar char="•"/>
            </a:pPr>
            <a:r>
              <a:rPr lang="en-US"/>
              <a:t>stores destination architectural register IDs</a:t>
            </a:r>
            <a:endParaRPr/>
          </a:p>
          <a:p>
            <a:pPr indent="-228600" lvl="1" marL="685800" rtl="0" algn="l">
              <a:lnSpc>
                <a:spcPct val="120000"/>
              </a:lnSpc>
              <a:spcBef>
                <a:spcPts val="500"/>
              </a:spcBef>
              <a:spcAft>
                <a:spcPts val="0"/>
              </a:spcAft>
              <a:buSzPts val="1800"/>
              <a:buChar char="•"/>
            </a:pPr>
            <a:r>
              <a:rPr lang="en-US"/>
              <a:t>Seen-Branch Bit</a:t>
            </a:r>
            <a:endParaRPr/>
          </a:p>
          <a:p>
            <a:pPr indent="-228600" lvl="2" marL="1143000" rtl="0" algn="l">
              <a:lnSpc>
                <a:spcPct val="120000"/>
              </a:lnSpc>
              <a:spcBef>
                <a:spcPts val="500"/>
              </a:spcBef>
              <a:spcAft>
                <a:spcPts val="0"/>
              </a:spcAft>
              <a:buSzPts val="1600"/>
              <a:buChar char="•"/>
            </a:pPr>
            <a:r>
              <a:rPr lang="en-US"/>
              <a:t>set when branch locate</a:t>
            </a:r>
            <a:endParaRPr/>
          </a:p>
          <a:p>
            <a:pPr indent="-228600" lvl="2" marL="1143000" rtl="0" algn="l">
              <a:lnSpc>
                <a:spcPct val="120000"/>
              </a:lnSpc>
              <a:spcBef>
                <a:spcPts val="500"/>
              </a:spcBef>
              <a:spcAft>
                <a:spcPts val="0"/>
              </a:spcAft>
              <a:buSzPts val="1600"/>
              <a:buChar char="•"/>
            </a:pPr>
            <a:r>
              <a:rPr lang="en-US"/>
              <a:t>does not change unless a new final load</a:t>
            </a:r>
            <a:endParaRPr/>
          </a:p>
          <a:p>
            <a:pPr indent="-228600" lvl="1" marL="685800" rtl="0" algn="l">
              <a:lnSpc>
                <a:spcPct val="120000"/>
              </a:lnSpc>
              <a:spcBef>
                <a:spcPts val="500"/>
              </a:spcBef>
              <a:spcAft>
                <a:spcPts val="0"/>
              </a:spcAft>
              <a:buSzPts val="1800"/>
              <a:buChar char="•"/>
            </a:pPr>
            <a:r>
              <a:rPr lang="en-US"/>
              <a:t>Two checkpoints of register file to determine loop iterations</a:t>
            </a:r>
            <a:endParaRPr/>
          </a:p>
          <a:p>
            <a:pPr indent="-114300" lvl="1" marL="685800" rtl="0" algn="l">
              <a:lnSpc>
                <a:spcPct val="120000"/>
              </a:lnSpc>
              <a:spcBef>
                <a:spcPts val="500"/>
              </a:spcBef>
              <a:spcAft>
                <a:spcPts val="0"/>
              </a:spcAft>
              <a:buSzPts val="1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cc5effebde_0_37"/>
          <p:cNvSpPr txBox="1"/>
          <p:nvPr>
            <p:ph type="title"/>
          </p:nvPr>
        </p:nvSpPr>
        <p:spPr>
          <a:xfrm>
            <a:off x="1451579" y="804519"/>
            <a:ext cx="9603300" cy="1049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LIMITATIONS OF VR</a:t>
            </a:r>
            <a:endParaRPr/>
          </a:p>
        </p:txBody>
      </p:sp>
      <p:sp>
        <p:nvSpPr>
          <p:cNvPr id="177" name="Google Shape;177;g3cc5effebde_0_37"/>
          <p:cNvSpPr txBox="1"/>
          <p:nvPr>
            <p:ph idx="1" type="body"/>
          </p:nvPr>
        </p:nvSpPr>
        <p:spPr>
          <a:xfrm>
            <a:off x="1451579" y="2015732"/>
            <a:ext cx="9603300" cy="3450600"/>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FF0000"/>
              </a:buClr>
              <a:buSzPts val="2000"/>
              <a:buChar char="•"/>
            </a:pPr>
            <a:r>
              <a:rPr lang="en-US">
                <a:solidFill>
                  <a:srgbClr val="FF0000"/>
                </a:solidFill>
              </a:rPr>
              <a:t>Performance Boost Diminish with Bigger ROBs </a:t>
            </a:r>
            <a:endParaRPr>
              <a:solidFill>
                <a:srgbClr val="FF0000"/>
              </a:solidFill>
            </a:endParaRPr>
          </a:p>
          <a:p>
            <a:pPr indent="-228600" lvl="0" marL="228600" rtl="0" algn="l">
              <a:lnSpc>
                <a:spcPct val="120000"/>
              </a:lnSpc>
              <a:spcBef>
                <a:spcPts val="1000"/>
              </a:spcBef>
              <a:spcAft>
                <a:spcPts val="0"/>
              </a:spcAft>
              <a:buSzPts val="2000"/>
              <a:buChar char="•"/>
            </a:pPr>
            <a:r>
              <a:rPr lang="en-US"/>
              <a:t>Delayed Termination Stalls Commit</a:t>
            </a:r>
            <a:endParaRPr/>
          </a:p>
          <a:p>
            <a:pPr indent="-228600" lvl="0" marL="228600" rtl="0" algn="l">
              <a:lnSpc>
                <a:spcPct val="120000"/>
              </a:lnSpc>
              <a:spcBef>
                <a:spcPts val="1000"/>
              </a:spcBef>
              <a:spcAft>
                <a:spcPts val="0"/>
              </a:spcAft>
              <a:buClr>
                <a:srgbClr val="FF0000"/>
              </a:buClr>
              <a:buSzPts val="2000"/>
              <a:buChar char="•"/>
            </a:pPr>
            <a:r>
              <a:rPr lang="en-US">
                <a:solidFill>
                  <a:srgbClr val="FF0000"/>
                </a:solidFill>
              </a:rPr>
              <a:t>No adaption to run-time characteristics</a:t>
            </a:r>
            <a:endParaRPr>
              <a:solidFill>
                <a:srgbClr val="FF0000"/>
              </a:solidFill>
            </a:endParaRPr>
          </a:p>
          <a:p>
            <a:pPr indent="-228600" lvl="0" marL="228600" rtl="0" algn="l">
              <a:lnSpc>
                <a:spcPct val="120000"/>
              </a:lnSpc>
              <a:spcBef>
                <a:spcPts val="1000"/>
              </a:spcBef>
              <a:spcAft>
                <a:spcPts val="0"/>
              </a:spcAft>
              <a:buSzPts val="2000"/>
              <a:buChar char="•"/>
            </a:pPr>
            <a:r>
              <a:rPr lang="en-US"/>
              <a:t>Inability to Vectorize Multiple Invocations of the Same Loop</a:t>
            </a:r>
            <a:endParaRPr/>
          </a:p>
          <a:p>
            <a:pPr indent="-228600" lvl="0" marL="228600" rtl="0" algn="l">
              <a:lnSpc>
                <a:spcPct val="120000"/>
              </a:lnSpc>
              <a:spcBef>
                <a:spcPts val="1000"/>
              </a:spcBef>
              <a:spcAft>
                <a:spcPts val="0"/>
              </a:spcAft>
              <a:buSzPts val="2000"/>
              <a:buChar char="•"/>
            </a:pPr>
            <a:r>
              <a:rPr lang="en-US"/>
              <a:t>Inability to Handle Control-Flow Divergence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cc5effebde_0_21"/>
          <p:cNvSpPr txBox="1"/>
          <p:nvPr>
            <p:ph type="title"/>
          </p:nvPr>
        </p:nvSpPr>
        <p:spPr>
          <a:xfrm>
            <a:off x="1451579" y="804519"/>
            <a:ext cx="9603300" cy="1049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VR Subthread</a:t>
            </a:r>
            <a:endParaRPr/>
          </a:p>
        </p:txBody>
      </p:sp>
      <p:sp>
        <p:nvSpPr>
          <p:cNvPr id="184" name="Google Shape;184;g3cc5effebde_0_21"/>
          <p:cNvSpPr txBox="1"/>
          <p:nvPr>
            <p:ph idx="1" type="body"/>
          </p:nvPr>
        </p:nvSpPr>
        <p:spPr>
          <a:xfrm>
            <a:off x="1451579" y="2015732"/>
            <a:ext cx="9603300" cy="3450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-Striding Load, Stride, Dependence Chain, Remaining Iterations Ready</a:t>
            </a:r>
            <a:endParaRPr/>
          </a:p>
          <a:p>
            <a:pPr indent="0" lvl="0" marL="0" rtl="0" algn="l">
              <a:spcBef>
                <a:spcPts val="1000"/>
              </a:spcBef>
              <a:spcAft>
                <a:spcPts val="0"/>
              </a:spcAft>
              <a:buNone/>
            </a:pPr>
            <a:r>
              <a:rPr lang="en-US"/>
              <a:t>-Spawn Vector Runahead Subthread</a:t>
            </a:r>
            <a:endParaRPr/>
          </a:p>
          <a:p>
            <a:pPr indent="0" lvl="0" marL="0" rtl="0" algn="l">
              <a:spcBef>
                <a:spcPts val="1000"/>
              </a:spcBef>
              <a:spcAft>
                <a:spcPts val="0"/>
              </a:spcAft>
              <a:buNone/>
            </a:pPr>
            <a:r>
              <a:rPr lang="en-US"/>
              <a:t>-Use same units as main thread when they are not occupied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VR SUBTHREAD</a:t>
            </a:r>
            <a:endParaRPr/>
          </a:p>
        </p:txBody>
      </p:sp>
      <p:sp>
        <p:nvSpPr>
          <p:cNvPr id="190" name="Google Shape;190;p10"/>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Vector Register Allocation Table</a:t>
            </a:r>
            <a:endParaRPr/>
          </a:p>
          <a:p>
            <a:pPr indent="-228600" lvl="1" marL="685800" rtl="0" algn="l">
              <a:lnSpc>
                <a:spcPct val="120000"/>
              </a:lnSpc>
              <a:spcBef>
                <a:spcPts val="500"/>
              </a:spcBef>
              <a:spcAft>
                <a:spcPts val="0"/>
              </a:spcAft>
              <a:buSzPts val="1800"/>
              <a:buChar char="•"/>
            </a:pPr>
            <a:r>
              <a:rPr lang="en-US"/>
              <a:t>same physical register</a:t>
            </a:r>
            <a:endParaRPr/>
          </a:p>
          <a:p>
            <a:pPr indent="-228600" lvl="1" marL="685800" rtl="0" algn="l">
              <a:lnSpc>
                <a:spcPct val="120000"/>
              </a:lnSpc>
              <a:spcBef>
                <a:spcPts val="500"/>
              </a:spcBef>
              <a:spcAft>
                <a:spcPts val="0"/>
              </a:spcAft>
              <a:buSzPts val="1800"/>
              <a:buChar char="•"/>
            </a:pPr>
            <a:r>
              <a:rPr lang="en-US"/>
              <a:t>multiple vector physical register</a:t>
            </a:r>
            <a:endParaRPr/>
          </a:p>
          <a:p>
            <a:pPr indent="-228600" lvl="0" marL="228600" rtl="0" algn="l">
              <a:lnSpc>
                <a:spcPct val="120000"/>
              </a:lnSpc>
              <a:spcBef>
                <a:spcPts val="1000"/>
              </a:spcBef>
              <a:spcAft>
                <a:spcPts val="0"/>
              </a:spcAft>
              <a:buSzPts val="2000"/>
              <a:buChar char="•"/>
            </a:pPr>
            <a:r>
              <a:rPr lang="en-US"/>
              <a:t>Vector Issue Table</a:t>
            </a:r>
            <a:endParaRPr/>
          </a:p>
          <a:p>
            <a:pPr indent="-228600" lvl="1" marL="685800" rtl="0" algn="l">
              <a:lnSpc>
                <a:spcPct val="120000"/>
              </a:lnSpc>
              <a:spcBef>
                <a:spcPts val="500"/>
              </a:spcBef>
              <a:spcAft>
                <a:spcPts val="0"/>
              </a:spcAft>
              <a:buSzPts val="1800"/>
              <a:buChar char="•"/>
            </a:pPr>
            <a:r>
              <a:rPr lang="en-US"/>
              <a:t>A buffer for issuing instructions(In Order).</a:t>
            </a:r>
            <a:endParaRPr/>
          </a:p>
          <a:p>
            <a:pPr indent="-228600" lvl="1" marL="685800" rtl="0" algn="l">
              <a:lnSpc>
                <a:spcPct val="120000"/>
              </a:lnSpc>
              <a:spcBef>
                <a:spcPts val="500"/>
              </a:spcBef>
              <a:spcAft>
                <a:spcPts val="0"/>
              </a:spcAft>
              <a:buSzPts val="1800"/>
              <a:buChar char="•"/>
            </a:pPr>
            <a:r>
              <a:rPr lang="en-US"/>
              <a:t>Issued to suitable unit when it is free</a:t>
            </a:r>
            <a:endParaRPr/>
          </a:p>
          <a:p>
            <a:pPr indent="-114300" lvl="1" marL="685800" rtl="0" algn="l">
              <a:lnSpc>
                <a:spcPct val="120000"/>
              </a:lnSpc>
              <a:spcBef>
                <a:spcPts val="500"/>
              </a:spcBef>
              <a:spcAft>
                <a:spcPts val="0"/>
              </a:spcAft>
              <a:buSzPts val="1800"/>
              <a:buNone/>
            </a:pPr>
            <a:r>
              <a:t/>
            </a:r>
            <a:endParaRPr/>
          </a:p>
        </p:txBody>
      </p:sp>
      <p:pic>
        <p:nvPicPr>
          <p:cNvPr descr="文本, 信件&#10;&#10;AI 生成的内容可能不正确。" id="191" name="Google Shape;191;p10"/>
          <p:cNvPicPr preferRelativeResize="0"/>
          <p:nvPr/>
        </p:nvPicPr>
        <p:blipFill rotWithShape="1">
          <a:blip r:embed="rId3">
            <a:alphaModFix/>
          </a:blip>
          <a:srcRect b="0" l="0" r="0" t="0"/>
          <a:stretch/>
        </p:blipFill>
        <p:spPr>
          <a:xfrm>
            <a:off x="7394978" y="1646752"/>
            <a:ext cx="3652765" cy="1615066"/>
          </a:xfrm>
          <a:prstGeom prst="rect">
            <a:avLst/>
          </a:prstGeom>
          <a:noFill/>
          <a:ln>
            <a:noFill/>
          </a:ln>
        </p:spPr>
      </p:pic>
      <p:pic>
        <p:nvPicPr>
          <p:cNvPr descr="图形用户界面, 应用程序, 表格, Excel&#10;&#10;AI 生成的内容可能不正确。" id="192" name="Google Shape;192;p10"/>
          <p:cNvPicPr preferRelativeResize="0"/>
          <p:nvPr/>
        </p:nvPicPr>
        <p:blipFill rotWithShape="1">
          <a:blip r:embed="rId4">
            <a:alphaModFix/>
          </a:blip>
          <a:srcRect b="0" l="0" r="0" t="0"/>
          <a:stretch/>
        </p:blipFill>
        <p:spPr>
          <a:xfrm>
            <a:off x="6854680" y="3469904"/>
            <a:ext cx="4733356" cy="24731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VR SUBTHREAD</a:t>
            </a:r>
            <a:endParaRPr/>
          </a:p>
        </p:txBody>
      </p:sp>
      <p:sp>
        <p:nvSpPr>
          <p:cNvPr id="198" name="Google Shape;198;p11"/>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Branch Convergence</a:t>
            </a:r>
            <a:endParaRPr/>
          </a:p>
          <a:p>
            <a:pPr indent="-228600" lvl="1" marL="685800" rtl="0" algn="l">
              <a:lnSpc>
                <a:spcPct val="120000"/>
              </a:lnSpc>
              <a:spcBef>
                <a:spcPts val="500"/>
              </a:spcBef>
              <a:spcAft>
                <a:spcPts val="0"/>
              </a:spcAft>
              <a:buSzPts val="1800"/>
              <a:buChar char="•"/>
            </a:pPr>
            <a:r>
              <a:rPr lang="en-US"/>
              <a:t>Store target PCs and mask</a:t>
            </a:r>
            <a:endParaRPr/>
          </a:p>
          <a:p>
            <a:pPr indent="-228600" lvl="1" marL="685800" rtl="0" algn="l">
              <a:lnSpc>
                <a:spcPct val="120000"/>
              </a:lnSpc>
              <a:spcBef>
                <a:spcPts val="500"/>
              </a:spcBef>
              <a:spcAft>
                <a:spcPts val="0"/>
              </a:spcAft>
              <a:buSzPts val="1800"/>
              <a:buChar char="•"/>
            </a:pPr>
            <a:r>
              <a:rPr lang="en-US"/>
              <a:t>Go through all possible targets, one by one </a:t>
            </a:r>
            <a:endParaRPr/>
          </a:p>
        </p:txBody>
      </p:sp>
      <p:pic>
        <p:nvPicPr>
          <p:cNvPr descr="表格&#10;&#10;AI 生成的内容可能不正确。" id="199" name="Google Shape;199;p11"/>
          <p:cNvPicPr preferRelativeResize="0"/>
          <p:nvPr/>
        </p:nvPicPr>
        <p:blipFill rotWithShape="1">
          <a:blip r:embed="rId3">
            <a:alphaModFix/>
          </a:blip>
          <a:srcRect b="0" l="0" r="0" t="0"/>
          <a:stretch/>
        </p:blipFill>
        <p:spPr>
          <a:xfrm>
            <a:off x="1994638" y="3469348"/>
            <a:ext cx="4766486" cy="190258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VR SUBTHREAD</a:t>
            </a:r>
            <a:endParaRPr/>
          </a:p>
        </p:txBody>
      </p:sp>
      <p:sp>
        <p:nvSpPr>
          <p:cNvPr id="205" name="Google Shape;205;p1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Termination</a:t>
            </a:r>
            <a:endParaRPr/>
          </a:p>
          <a:p>
            <a:pPr indent="-228600" lvl="1" marL="685800" rtl="0" algn="l">
              <a:lnSpc>
                <a:spcPct val="120000"/>
              </a:lnSpc>
              <a:spcBef>
                <a:spcPts val="500"/>
              </a:spcBef>
              <a:spcAft>
                <a:spcPts val="0"/>
              </a:spcAft>
              <a:buSzPts val="1800"/>
              <a:buChar char="•"/>
            </a:pPr>
            <a:r>
              <a:rPr lang="en-US"/>
              <a:t>FLR reached</a:t>
            </a:r>
            <a:endParaRPr/>
          </a:p>
          <a:p>
            <a:pPr indent="-228600" lvl="1" marL="685800" rtl="0" algn="l">
              <a:lnSpc>
                <a:spcPct val="120000"/>
              </a:lnSpc>
              <a:spcBef>
                <a:spcPts val="500"/>
              </a:spcBef>
              <a:spcAft>
                <a:spcPts val="0"/>
              </a:spcAft>
              <a:buSzPts val="1800"/>
              <a:buChar char="•"/>
            </a:pPr>
            <a:r>
              <a:rPr lang="en-US"/>
              <a:t>Next iteration of Stride PC</a:t>
            </a:r>
            <a:endParaRPr/>
          </a:p>
          <a:p>
            <a:pPr indent="-228600" lvl="1" marL="685800" rtl="0" algn="l">
              <a:lnSpc>
                <a:spcPct val="120000"/>
              </a:lnSpc>
              <a:spcBef>
                <a:spcPts val="500"/>
              </a:spcBef>
              <a:spcAft>
                <a:spcPts val="0"/>
              </a:spcAft>
              <a:buSzPts val="1800"/>
              <a:buChar char="•"/>
            </a:pPr>
            <a:r>
              <a:rPr lang="en-US"/>
              <a:t>Timeout</a:t>
            </a:r>
            <a:endParaRPr/>
          </a:p>
          <a:p>
            <a:pPr indent="-228600" lvl="0" marL="228600" rtl="0" algn="l">
              <a:lnSpc>
                <a:spcPct val="120000"/>
              </a:lnSpc>
              <a:spcBef>
                <a:spcPts val="1000"/>
              </a:spcBef>
              <a:spcAft>
                <a:spcPts val="0"/>
              </a:spcAft>
              <a:buSzPts val="2000"/>
              <a:buChar char="•"/>
            </a:pPr>
            <a:r>
              <a:rPr lang="en-US"/>
              <a:t>Eligible for entering Discovery mode after termination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cc5effebde_0_43"/>
          <p:cNvSpPr txBox="1"/>
          <p:nvPr>
            <p:ph type="title"/>
          </p:nvPr>
        </p:nvSpPr>
        <p:spPr>
          <a:xfrm>
            <a:off x="1451579" y="804519"/>
            <a:ext cx="9603300" cy="1049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LIMITATIONS OF VR</a:t>
            </a:r>
            <a:endParaRPr/>
          </a:p>
        </p:txBody>
      </p:sp>
      <p:sp>
        <p:nvSpPr>
          <p:cNvPr id="212" name="Google Shape;212;g3cc5effebde_0_43"/>
          <p:cNvSpPr txBox="1"/>
          <p:nvPr>
            <p:ph idx="1" type="body"/>
          </p:nvPr>
        </p:nvSpPr>
        <p:spPr>
          <a:xfrm>
            <a:off x="1451579" y="2015732"/>
            <a:ext cx="9603300" cy="3450600"/>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FF0000"/>
              </a:buClr>
              <a:buSzPts val="2000"/>
              <a:buChar char="•"/>
            </a:pPr>
            <a:r>
              <a:rPr lang="en-US">
                <a:solidFill>
                  <a:srgbClr val="FF0000"/>
                </a:solidFill>
              </a:rPr>
              <a:t>Performance Boost Diminish with Bigger ROBs</a:t>
            </a:r>
            <a:endParaRPr>
              <a:solidFill>
                <a:srgbClr val="FF0000"/>
              </a:solidFill>
            </a:endParaRPr>
          </a:p>
          <a:p>
            <a:pPr indent="-228600" lvl="0" marL="228600" rtl="0" algn="l">
              <a:lnSpc>
                <a:spcPct val="120000"/>
              </a:lnSpc>
              <a:spcBef>
                <a:spcPts val="1000"/>
              </a:spcBef>
              <a:spcAft>
                <a:spcPts val="0"/>
              </a:spcAft>
              <a:buClr>
                <a:srgbClr val="FF0000"/>
              </a:buClr>
              <a:buSzPts val="2000"/>
              <a:buChar char="•"/>
            </a:pPr>
            <a:r>
              <a:rPr lang="en-US">
                <a:solidFill>
                  <a:srgbClr val="FF0000"/>
                </a:solidFill>
              </a:rPr>
              <a:t>Delayed Termination Stalls Commit</a:t>
            </a:r>
            <a:endParaRPr>
              <a:solidFill>
                <a:srgbClr val="FF0000"/>
              </a:solidFill>
            </a:endParaRPr>
          </a:p>
          <a:p>
            <a:pPr indent="-228600" lvl="0" marL="228600" rtl="0" algn="l">
              <a:lnSpc>
                <a:spcPct val="120000"/>
              </a:lnSpc>
              <a:spcBef>
                <a:spcPts val="1000"/>
              </a:spcBef>
              <a:spcAft>
                <a:spcPts val="0"/>
              </a:spcAft>
              <a:buClr>
                <a:srgbClr val="FF0000"/>
              </a:buClr>
              <a:buSzPts val="2000"/>
              <a:buChar char="•"/>
            </a:pPr>
            <a:r>
              <a:rPr lang="en-US">
                <a:solidFill>
                  <a:srgbClr val="FF0000"/>
                </a:solidFill>
              </a:rPr>
              <a:t>No adaption to run-time characteristics</a:t>
            </a:r>
            <a:endParaRPr>
              <a:solidFill>
                <a:srgbClr val="FF0000"/>
              </a:solidFill>
            </a:endParaRPr>
          </a:p>
          <a:p>
            <a:pPr indent="-228600" lvl="0" marL="228600" rtl="0" algn="l">
              <a:lnSpc>
                <a:spcPct val="120000"/>
              </a:lnSpc>
              <a:spcBef>
                <a:spcPts val="1000"/>
              </a:spcBef>
              <a:spcAft>
                <a:spcPts val="0"/>
              </a:spcAft>
              <a:buSzPts val="2000"/>
              <a:buChar char="•"/>
            </a:pPr>
            <a:r>
              <a:rPr lang="en-US"/>
              <a:t>Inability to Vectorize Multiple Invocations of the Same Loop</a:t>
            </a:r>
            <a:endParaRPr/>
          </a:p>
          <a:p>
            <a:pPr indent="-228600" lvl="0" marL="228600" rtl="0" algn="l">
              <a:lnSpc>
                <a:spcPct val="120000"/>
              </a:lnSpc>
              <a:spcBef>
                <a:spcPts val="1000"/>
              </a:spcBef>
              <a:spcAft>
                <a:spcPts val="0"/>
              </a:spcAft>
              <a:buClr>
                <a:srgbClr val="FF0000"/>
              </a:buClr>
              <a:buSzPts val="2000"/>
              <a:buChar char="•"/>
            </a:pPr>
            <a:r>
              <a:rPr lang="en-US">
                <a:solidFill>
                  <a:srgbClr val="FF0000"/>
                </a:solidFill>
              </a:rPr>
              <a:t>Inability to Handle Control-Flow Divergence</a:t>
            </a:r>
            <a:endParaRPr>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NESTED VECTOR RUNAHEAD</a:t>
            </a:r>
            <a:endParaRPr/>
          </a:p>
        </p:txBody>
      </p:sp>
      <p:sp>
        <p:nvSpPr>
          <p:cNvPr id="218" name="Google Shape;218;p13"/>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Nested Discovery Mode</a:t>
            </a:r>
            <a:endParaRPr/>
          </a:p>
          <a:p>
            <a:pPr indent="-228600" lvl="1" marL="685800" rtl="0" algn="l">
              <a:lnSpc>
                <a:spcPct val="120000"/>
              </a:lnSpc>
              <a:spcBef>
                <a:spcPts val="500"/>
              </a:spcBef>
              <a:spcAft>
                <a:spcPts val="0"/>
              </a:spcAft>
              <a:buSzPts val="1800"/>
              <a:buChar char="•"/>
            </a:pPr>
            <a:r>
              <a:rPr lang="en-US"/>
              <a:t>When not enough iterations, begin NDM in subthread</a:t>
            </a:r>
            <a:endParaRPr/>
          </a:p>
          <a:p>
            <a:pPr indent="-228600" lvl="2" marL="1143000" rtl="0" algn="l">
              <a:lnSpc>
                <a:spcPct val="120000"/>
              </a:lnSpc>
              <a:spcBef>
                <a:spcPts val="500"/>
              </a:spcBef>
              <a:spcAft>
                <a:spcPts val="0"/>
              </a:spcAft>
              <a:buSzPts val="1800"/>
              <a:buChar char="•"/>
            </a:pPr>
            <a:r>
              <a:rPr lang="en-US"/>
              <a:t>Look for multiple invocations of inner loops</a:t>
            </a:r>
            <a:endParaRPr/>
          </a:p>
          <a:p>
            <a:pPr indent="-228600" lvl="2" marL="1143000" rtl="0" algn="l">
              <a:lnSpc>
                <a:spcPct val="120000"/>
              </a:lnSpc>
              <a:spcBef>
                <a:spcPts val="500"/>
              </a:spcBef>
              <a:spcAft>
                <a:spcPts val="0"/>
              </a:spcAft>
              <a:buSzPts val="1600"/>
              <a:buChar char="•"/>
            </a:pPr>
            <a:r>
              <a:rPr lang="en-US"/>
              <a:t>E</a:t>
            </a:r>
            <a:r>
              <a:rPr lang="en-US"/>
              <a:t>nable more useful prefetch</a:t>
            </a:r>
            <a:endParaRPr/>
          </a:p>
          <a:p>
            <a:pPr indent="-228600" lvl="1" marL="685800" rtl="0" algn="l">
              <a:lnSpc>
                <a:spcPct val="120000"/>
              </a:lnSpc>
              <a:spcBef>
                <a:spcPts val="500"/>
              </a:spcBef>
              <a:spcAft>
                <a:spcPts val="0"/>
              </a:spcAft>
              <a:buSzPts val="1800"/>
              <a:buChar char="•"/>
            </a:pPr>
            <a:r>
              <a:rPr lang="en-US"/>
              <a:t>Increment Register and Inner Load Register</a:t>
            </a:r>
            <a:endParaRPr/>
          </a:p>
          <a:p>
            <a:pPr indent="-228600" lvl="2" marL="1143000" rtl="0" algn="l">
              <a:lnSpc>
                <a:spcPct val="120000"/>
              </a:lnSpc>
              <a:spcBef>
                <a:spcPts val="500"/>
              </a:spcBef>
              <a:spcAft>
                <a:spcPts val="0"/>
              </a:spcAft>
              <a:buSzPts val="1600"/>
              <a:buChar char="•"/>
            </a:pPr>
            <a:r>
              <a:rPr lang="en-US"/>
              <a:t>Allow DVR to execute correctly</a:t>
            </a:r>
            <a:endParaRPr/>
          </a:p>
          <a:p>
            <a:pPr indent="-114300" lvl="1" marL="685800" rtl="0" algn="l">
              <a:lnSpc>
                <a:spcPct val="120000"/>
              </a:lnSpc>
              <a:spcBef>
                <a:spcPts val="500"/>
              </a:spcBef>
              <a:spcAft>
                <a:spcPts val="0"/>
              </a:spcAft>
              <a:buSzPts val="1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4"/>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NESTED VECTOR RUNAHEAD</a:t>
            </a:r>
            <a:endParaRPr/>
          </a:p>
        </p:txBody>
      </p:sp>
      <p:sp>
        <p:nvSpPr>
          <p:cNvPr id="224" name="Google Shape;224;p14"/>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Further Vectorization</a:t>
            </a:r>
            <a:endParaRPr/>
          </a:p>
          <a:p>
            <a:pPr indent="-228600" lvl="1" marL="685800" rtl="0" algn="l">
              <a:lnSpc>
                <a:spcPct val="120000"/>
              </a:lnSpc>
              <a:spcBef>
                <a:spcPts val="500"/>
              </a:spcBef>
              <a:spcAft>
                <a:spcPts val="0"/>
              </a:spcAft>
              <a:buSzPts val="1800"/>
              <a:buChar char="•"/>
            </a:pPr>
            <a:r>
              <a:rPr lang="en-US"/>
              <a:t>Based on the multiple loops NDM identified</a:t>
            </a:r>
            <a:endParaRPr/>
          </a:p>
          <a:p>
            <a:pPr indent="-228600" lvl="1" marL="685800" rtl="0" algn="l">
              <a:lnSpc>
                <a:spcPct val="120000"/>
              </a:lnSpc>
              <a:spcBef>
                <a:spcPts val="500"/>
              </a:spcBef>
              <a:spcAft>
                <a:spcPts val="0"/>
              </a:spcAft>
              <a:buSzPts val="1800"/>
              <a:buChar char="•"/>
            </a:pPr>
            <a:r>
              <a:rPr lang="en-US"/>
              <a:t>Takes up to 128 entries</a:t>
            </a:r>
            <a:endParaRPr/>
          </a:p>
          <a:p>
            <a:pPr indent="-228600" lvl="1" marL="685800" rtl="0" algn="l">
              <a:lnSpc>
                <a:spcPct val="120000"/>
              </a:lnSpc>
              <a:spcBef>
                <a:spcPts val="500"/>
              </a:spcBef>
              <a:spcAft>
                <a:spcPts val="0"/>
              </a:spcAft>
              <a:buSzPts val="1800"/>
              <a:buChar char="•"/>
            </a:pPr>
            <a:r>
              <a:rPr lang="en-US"/>
              <a:t>DVR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PERFORMANCE EVALUATION</a:t>
            </a:r>
            <a:endParaRPr/>
          </a:p>
        </p:txBody>
      </p:sp>
      <p:sp>
        <p:nvSpPr>
          <p:cNvPr id="230" name="Google Shape;230;p15"/>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pic>
        <p:nvPicPr>
          <p:cNvPr descr="图表, 条形图&#10;&#10;AI 生成的内容可能不正确。" id="231" name="Google Shape;231;p15"/>
          <p:cNvPicPr preferRelativeResize="0"/>
          <p:nvPr/>
        </p:nvPicPr>
        <p:blipFill rotWithShape="1">
          <a:blip r:embed="rId3">
            <a:alphaModFix/>
          </a:blip>
          <a:srcRect b="0" l="0" r="0" t="0"/>
          <a:stretch/>
        </p:blipFill>
        <p:spPr>
          <a:xfrm>
            <a:off x="631041" y="2036076"/>
            <a:ext cx="10943771" cy="404556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6"/>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t/>
            </a:r>
            <a:endParaRPr/>
          </a:p>
        </p:txBody>
      </p:sp>
      <p:sp>
        <p:nvSpPr>
          <p:cNvPr id="238" name="Google Shape;238;p16"/>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pic>
        <p:nvPicPr>
          <p:cNvPr descr="手机屏幕截图&#10;&#10;AI 生成的内容可能不正确。" id="239" name="Google Shape;239;p16"/>
          <p:cNvPicPr preferRelativeResize="0"/>
          <p:nvPr/>
        </p:nvPicPr>
        <p:blipFill rotWithShape="1">
          <a:blip r:embed="rId3">
            <a:alphaModFix/>
          </a:blip>
          <a:srcRect b="0" l="0" r="0" t="0"/>
          <a:stretch/>
        </p:blipFill>
        <p:spPr>
          <a:xfrm>
            <a:off x="885192" y="1819140"/>
            <a:ext cx="4917391" cy="3219720"/>
          </a:xfrm>
          <a:prstGeom prst="rect">
            <a:avLst/>
          </a:prstGeom>
          <a:noFill/>
          <a:ln>
            <a:noFill/>
          </a:ln>
        </p:spPr>
      </p:pic>
      <p:pic>
        <p:nvPicPr>
          <p:cNvPr descr="图表, 条形图&#10;&#10;AI 生成的内容可能不正确。" id="240" name="Google Shape;240;p16"/>
          <p:cNvPicPr preferRelativeResize="0"/>
          <p:nvPr/>
        </p:nvPicPr>
        <p:blipFill rotWithShape="1">
          <a:blip r:embed="rId4">
            <a:alphaModFix/>
          </a:blip>
          <a:srcRect b="0" l="0" r="0" t="0"/>
          <a:stretch/>
        </p:blipFill>
        <p:spPr>
          <a:xfrm>
            <a:off x="6216310" y="1819140"/>
            <a:ext cx="5155760" cy="32197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t/>
            </a:r>
            <a:endParaRPr/>
          </a:p>
        </p:txBody>
      </p:sp>
      <p:sp>
        <p:nvSpPr>
          <p:cNvPr id="246" name="Google Shape;246;p17"/>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pic>
        <p:nvPicPr>
          <p:cNvPr descr="图表, 条形图&#10;&#10;AI 生成的内容可能不正确。" id="247" name="Google Shape;247;p17"/>
          <p:cNvPicPr preferRelativeResize="0"/>
          <p:nvPr/>
        </p:nvPicPr>
        <p:blipFill rotWithShape="1">
          <a:blip r:embed="rId3">
            <a:alphaModFix/>
          </a:blip>
          <a:srcRect b="0" l="0" r="0" t="0"/>
          <a:stretch/>
        </p:blipFill>
        <p:spPr>
          <a:xfrm>
            <a:off x="679634" y="1503476"/>
            <a:ext cx="5227847" cy="3851048"/>
          </a:xfrm>
          <a:prstGeom prst="rect">
            <a:avLst/>
          </a:prstGeom>
          <a:noFill/>
          <a:ln>
            <a:noFill/>
          </a:ln>
        </p:spPr>
      </p:pic>
      <p:pic>
        <p:nvPicPr>
          <p:cNvPr descr="图表, 条形图&#10;&#10;AI 生成的内容可能不正确。" id="248" name="Google Shape;248;p17"/>
          <p:cNvPicPr preferRelativeResize="0"/>
          <p:nvPr/>
        </p:nvPicPr>
        <p:blipFill rotWithShape="1">
          <a:blip r:embed="rId4">
            <a:alphaModFix/>
          </a:blip>
          <a:srcRect b="0" l="0" r="0" t="0"/>
          <a:stretch/>
        </p:blipFill>
        <p:spPr>
          <a:xfrm>
            <a:off x="6072974" y="1730991"/>
            <a:ext cx="5361009" cy="339601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t/>
            </a:r>
            <a:endParaRPr/>
          </a:p>
        </p:txBody>
      </p:sp>
      <p:sp>
        <p:nvSpPr>
          <p:cNvPr id="254" name="Google Shape;254;p18"/>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0"/>
              </a:spcAft>
              <a:buSzPts val="2000"/>
              <a:buNone/>
            </a:pPr>
            <a:r>
              <a:t/>
            </a:r>
            <a:endParaRPr/>
          </a:p>
        </p:txBody>
      </p:sp>
      <p:pic>
        <p:nvPicPr>
          <p:cNvPr descr="图表, 条形图, 直方图&#10;&#10;AI 生成的内容可能不正确。" id="255" name="Google Shape;255;p18"/>
          <p:cNvPicPr preferRelativeResize="0"/>
          <p:nvPr/>
        </p:nvPicPr>
        <p:blipFill rotWithShape="1">
          <a:blip r:embed="rId3">
            <a:alphaModFix/>
          </a:blip>
          <a:srcRect b="0" l="0" r="0" t="0"/>
          <a:stretch/>
        </p:blipFill>
        <p:spPr>
          <a:xfrm>
            <a:off x="6358304" y="1752157"/>
            <a:ext cx="5219173" cy="3353686"/>
          </a:xfrm>
          <a:prstGeom prst="rect">
            <a:avLst/>
          </a:prstGeom>
          <a:noFill/>
          <a:ln>
            <a:noFill/>
          </a:ln>
        </p:spPr>
      </p:pic>
      <p:pic>
        <p:nvPicPr>
          <p:cNvPr descr="图表&#10;&#10;AI 生成的内容可能不正确。" id="256" name="Google Shape;256;p18"/>
          <p:cNvPicPr preferRelativeResize="0"/>
          <p:nvPr/>
        </p:nvPicPr>
        <p:blipFill rotWithShape="1">
          <a:blip r:embed="rId4">
            <a:alphaModFix/>
          </a:blip>
          <a:srcRect b="732" l="0" r="0" t="0"/>
          <a:stretch/>
        </p:blipFill>
        <p:spPr>
          <a:xfrm>
            <a:off x="668376" y="1586876"/>
            <a:ext cx="5444915" cy="368424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n-US"/>
              <a:t>D</a:t>
            </a:r>
            <a:r>
              <a:rPr lang="en-US"/>
              <a:t>iscussion</a:t>
            </a:r>
            <a:r>
              <a:rPr lang="en-US"/>
              <a:t>:HARDWARE OVERHEAD</a:t>
            </a:r>
            <a:endParaRPr/>
          </a:p>
        </p:txBody>
      </p:sp>
      <p:sp>
        <p:nvSpPr>
          <p:cNvPr id="262" name="Google Shape;262;p19"/>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SzPts val="2000"/>
              <a:buChar char="•"/>
            </a:pPr>
            <a:r>
              <a:rPr lang="en-US"/>
              <a:t>1139 Bytes according to Paper</a:t>
            </a:r>
            <a:endParaRPr/>
          </a:p>
          <a:p>
            <a:pPr indent="-228600" lvl="0" marL="228600" rtl="0" algn="l">
              <a:lnSpc>
                <a:spcPct val="120000"/>
              </a:lnSpc>
              <a:spcBef>
                <a:spcPts val="1000"/>
              </a:spcBef>
              <a:spcAft>
                <a:spcPts val="0"/>
              </a:spcAft>
              <a:buSzPts val="2000"/>
              <a:buChar char="•"/>
            </a:pPr>
            <a:r>
              <a:rPr lang="en-US"/>
              <a:t>Vector Runahead from previous presentation: 1.31KB, PRE 1.24KB</a:t>
            </a:r>
            <a:endParaRPr/>
          </a:p>
          <a:p>
            <a:pPr indent="0" lvl="0" marL="228600" rtl="0" algn="l">
              <a:lnSpc>
                <a:spcPct val="120000"/>
              </a:lnSpc>
              <a:spcBef>
                <a:spcPts val="1000"/>
              </a:spcBef>
              <a:spcAft>
                <a:spcPts val="0"/>
              </a:spcAft>
              <a:buNone/>
            </a:pPr>
            <a:r>
              <a:t/>
            </a:r>
            <a:endParaRPr/>
          </a:p>
          <a:p>
            <a:pPr indent="-215900" lvl="0" marL="228600" rtl="0" algn="l">
              <a:lnSpc>
                <a:spcPct val="120000"/>
              </a:lnSpc>
              <a:spcBef>
                <a:spcPts val="1000"/>
              </a:spcBef>
              <a:spcAft>
                <a:spcPts val="0"/>
              </a:spcAft>
              <a:buSzPts val="1800"/>
              <a:buChar char="•"/>
            </a:pPr>
            <a:r>
              <a:rPr lang="en-US"/>
              <a:t>Bits count removes </a:t>
            </a:r>
            <a:r>
              <a:rPr lang="en-US"/>
              <a:t>process</a:t>
            </a:r>
            <a:r>
              <a:rPr lang="en-US"/>
              <a:t> node variations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ccc27e3785_0_0"/>
          <p:cNvSpPr txBox="1"/>
          <p:nvPr>
            <p:ph type="title"/>
          </p:nvPr>
        </p:nvSpPr>
        <p:spPr>
          <a:xfrm>
            <a:off x="1451579" y="804519"/>
            <a:ext cx="9603300" cy="1049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Discussion: Workloads</a:t>
            </a:r>
            <a:endParaRPr/>
          </a:p>
        </p:txBody>
      </p:sp>
      <p:sp>
        <p:nvSpPr>
          <p:cNvPr id="269" name="Google Shape;269;g3ccc27e3785_0_0"/>
          <p:cNvSpPr txBox="1"/>
          <p:nvPr>
            <p:ph idx="1" type="body"/>
          </p:nvPr>
        </p:nvSpPr>
        <p:spPr>
          <a:xfrm>
            <a:off x="1451579" y="2015732"/>
            <a:ext cx="9603300" cy="3450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Benchmarks used for simulation are mainly memory-intensive workloads.</a:t>
            </a:r>
            <a:endParaRPr/>
          </a:p>
          <a:p>
            <a:pPr indent="0" lvl="0" marL="0" rtl="0" algn="l">
              <a:spcBef>
                <a:spcPts val="1000"/>
              </a:spcBef>
              <a:spcAft>
                <a:spcPts val="0"/>
              </a:spcAft>
              <a:buNone/>
            </a:pPr>
            <a:r>
              <a:rPr lang="en-US"/>
              <a:t>Performance on other workloads?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ccc27e3785_0_6"/>
          <p:cNvSpPr txBox="1"/>
          <p:nvPr>
            <p:ph type="title"/>
          </p:nvPr>
        </p:nvSpPr>
        <p:spPr>
          <a:xfrm>
            <a:off x="1451579" y="804519"/>
            <a:ext cx="9603300" cy="1049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a:t>Discussion: Energy/Power </a:t>
            </a:r>
            <a:endParaRPr/>
          </a:p>
        </p:txBody>
      </p:sp>
      <p:sp>
        <p:nvSpPr>
          <p:cNvPr id="276" name="Google Shape;276;g3ccc27e3785_0_6"/>
          <p:cNvSpPr txBox="1"/>
          <p:nvPr>
            <p:ph idx="1" type="body"/>
          </p:nvPr>
        </p:nvSpPr>
        <p:spPr>
          <a:xfrm>
            <a:off x="1451579" y="2015732"/>
            <a:ext cx="9603300" cy="3450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Power consumption differences among PRE, VR, DVR</a:t>
            </a:r>
            <a:endParaRPr/>
          </a:p>
          <a:p>
            <a:pPr indent="0" lvl="0" marL="0" rtl="0" algn="l">
              <a:spcBef>
                <a:spcPts val="1000"/>
              </a:spcBef>
              <a:spcAft>
                <a:spcPts val="0"/>
              </a:spcAft>
              <a:buNone/>
            </a:pPr>
            <a:r>
              <a:rPr lang="en-US"/>
              <a:t>Increased Power consumption and Impact Energy efficiency</a:t>
            </a:r>
            <a:endParaRPr/>
          </a:p>
          <a:p>
            <a:pPr indent="0" lvl="0" marL="0" rtl="0" algn="l">
              <a:spcBef>
                <a:spcPts val="1000"/>
              </a:spcBef>
              <a:spcAft>
                <a:spcPts val="0"/>
              </a:spcAft>
              <a:buNone/>
            </a:pPr>
            <a:r>
              <a:rPr lang="en-US"/>
              <a:t>PRE: performance improvement ~18 percent with ~6 percent reduction in energy</a:t>
            </a:r>
            <a:endParaRPr/>
          </a:p>
          <a:p>
            <a:pPr indent="0" lvl="0" marL="0" rtl="0" algn="l">
              <a:spcBef>
                <a:spcPts val="1000"/>
              </a:spcBef>
              <a:spcAft>
                <a:spcPts val="0"/>
              </a:spcAft>
              <a:buNone/>
            </a:pPr>
            <a:r>
              <a:rPr lang="en-US"/>
              <a:t>On In-order Cores</a:t>
            </a:r>
            <a:endParaRPr/>
          </a:p>
          <a:p>
            <a:pPr indent="0" lvl="0" marL="0" rtl="0" algn="l">
              <a:spcBef>
                <a:spcPts val="1000"/>
              </a:spcBef>
              <a:spcAft>
                <a:spcPts val="0"/>
              </a:spcAft>
              <a:buNone/>
            </a:pPr>
            <a:r>
              <a:rPr lang="en-US"/>
              <a:t>VR/DVR: impractical for power efficiency</a:t>
            </a:r>
            <a:endParaRPr/>
          </a:p>
          <a:p>
            <a:pPr indent="0" lvl="0" marL="0" rtl="0" algn="l">
              <a:spcBef>
                <a:spcPts val="1000"/>
              </a:spcBef>
              <a:spcAft>
                <a:spcPts val="0"/>
              </a:spcAft>
              <a:buNone/>
            </a:pPr>
            <a:r>
              <a:rPr lang="en-US"/>
              <a:t>SVR: more hardware overhead but halving the energy.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画廊">
  <a:themeElements>
    <a:clrScheme name="画廊">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2026-02-27T00:01:11Z</dcterms:created>
  <dc:creator>Shengmin Liu</dc:creator>
</cp:coreProperties>
</file>
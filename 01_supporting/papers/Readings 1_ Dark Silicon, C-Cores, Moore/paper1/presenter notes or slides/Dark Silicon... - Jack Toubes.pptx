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8e767660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8e767660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228a5f13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228a5f13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people need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Capacitor is C = Q/V; Q = CV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Charging capacitor requires CV charge to be drawn from supply. Discharging </a:t>
            </a:r>
            <a:r>
              <a:rPr lang="en"/>
              <a:t>requires CV to be discharged to ground.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current over full charge discharge cycle is CV/t where t is the length of the cycle. If we use the clock frequency to define the length of the cycle, we get average current is CVf.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 = IV = CV^2f each time a transistor switches.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say it switches with probability a each cycle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P/fet = aCV^2f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 is proportional to LW / t_ox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28f4860e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28f4860e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practice, because we had room in the power budget, power rose over generations. But it didn’t need to necessarily.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228a5f131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228a5f13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2c13185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2c13185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228a5f13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228a5f13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228a5f13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228a5f13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228a5f13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228a5f13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319add3a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319add3a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228a5f13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228a5f13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29b2ab1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29b2ab1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228a5f13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228a5f13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228a5f13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228a5f13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Shows best core configuration for a given power and area.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228a5f131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228a5f13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 assumed to scale linearly with frequency (may not be accurate)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c4ede11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c4ede11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is asymmetric but turn off the big core for parallel portions (to give more power to the smaller cores).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Composed is small cores can fuse into big core for sequential portions.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c4ede118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c4ede118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CPI is acquired synthetically based on the SPEC benchmark performance to equalize the CmpMr ratio to the ratio in SPEC performance.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c4ede118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c4ede118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c4ede118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c4ede118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c4ede118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c4ede118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c4ede118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bc4ede118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228a5f13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228a5f13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c4ede118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bc4ede118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Projects 8nm processor to have frequency of 11.78 GHz!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c4ede118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bc4ede118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228a5f131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c228a5f13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point on the graphs is a </a:t>
            </a:r>
            <a:r>
              <a:rPr lang="en"/>
              <a:t>different</a:t>
            </a:r>
            <a:r>
              <a:rPr lang="en"/>
              <a:t> benchmark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2ee2006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c2ee2006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228a5f131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c228a5f131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30d14ba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c30d14ba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2c131851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2c131851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2c1318516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c2c1318516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2c1318516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c2c1318516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2c1318516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c2c1318516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c2c1318516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c2c1318516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2c1318516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c2c1318516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2c1318516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c2c1318516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c2c1318516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c2c1318516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c2c1318516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c2c1318516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c2c1318516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c2c1318516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2c1318516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c2c1318516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c356671d4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c356671d4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c2c1318516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c2c1318516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c2f45c8d9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c2f45c8d9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c30d14ba3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c30d14ba3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c356671d4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c356671d4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c2f45c8d90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c2f45c8d90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c2f45c8d90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c2f45c8d90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c2f45c8d90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c2f45c8d90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c2f45c8d90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c2f45c8d90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c2f45c8d90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c2f45c8d90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c2f45c8d90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c2f45c8d90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c30d14ba3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c30d14ba3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c356671d4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c356671d4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Moving from power into sustainability broadly :)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c41d1f4e9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c41d1f4e9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c2f45c8d90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c2f45c8d90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c2f45c8d90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c2f45c8d90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c30d14ba3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c30d14ba3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c317bf452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c317bf452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c30d14ba3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c30d14ba3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c41d1f4e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c41d1f4e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 to 16 CCDs in Zen5 + big IO die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c317bf452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c317bf452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c317bf452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c317bf452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c317bf452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c317bf452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c2f45c8d90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c2f45c8d90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c319add3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c319add3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c228a5f13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c228a5f13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c228a5f1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c228a5f1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c228a5f13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c228a5f13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bc4ede118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bc4ede118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0050" y="1828800"/>
            <a:ext cx="8520600" cy="8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Source Sans Pro"/>
              <a:buNone/>
              <a:defRPr b="1" sz="48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1463040"/>
            <a:ext cx="85206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11700" y="4587025"/>
            <a:ext cx="3880200" cy="3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ctrTitle"/>
          </p:nvPr>
        </p:nvSpPr>
        <p:spPr>
          <a:xfrm>
            <a:off x="320050" y="1828800"/>
            <a:ext cx="8520600" cy="8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Source Sans Pro"/>
              <a:buNone/>
              <a:defRPr b="1" sz="48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365755" y="259075"/>
            <a:ext cx="85206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65750" y="982975"/>
            <a:ext cx="8520600" cy="3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55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55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55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55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55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55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55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TITLE_AND_BOD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65750" y="990600"/>
            <a:ext cx="4257000" cy="34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55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55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55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55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55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55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55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365755" y="259075"/>
            <a:ext cx="85206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llout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6"/>
          <p:cNvSpPr txBox="1"/>
          <p:nvPr>
            <p:ph idx="1" type="subTitle"/>
          </p:nvPr>
        </p:nvSpPr>
        <p:spPr>
          <a:xfrm>
            <a:off x="311700" y="2317190"/>
            <a:ext cx="8520600" cy="5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365755" y="259075"/>
            <a:ext cx="85206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gram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7"/>
          <p:cNvSpPr txBox="1"/>
          <p:nvPr>
            <p:ph type="title"/>
          </p:nvPr>
        </p:nvSpPr>
        <p:spPr>
          <a:xfrm>
            <a:off x="365755" y="259075"/>
            <a:ext cx="85206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gram on left">
  <p:cSld name="TITLE_ONLY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8"/>
          <p:cNvSpPr txBox="1"/>
          <p:nvPr>
            <p:ph type="title"/>
          </p:nvPr>
        </p:nvSpPr>
        <p:spPr>
          <a:xfrm>
            <a:off x="4622800" y="259075"/>
            <a:ext cx="4263600" cy="12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and description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620775" y="1469575"/>
            <a:ext cx="350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11"/>
          <p:cNvSpPr txBox="1"/>
          <p:nvPr>
            <p:ph idx="2" type="subTitle"/>
          </p:nvPr>
        </p:nvSpPr>
        <p:spPr>
          <a:xfrm rot="-5400000">
            <a:off x="-106275" y="46121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4" name="Google Shape;44;p11"/>
          <p:cNvSpPr txBox="1"/>
          <p:nvPr>
            <p:ph idx="3" type="subTitle"/>
          </p:nvPr>
        </p:nvSpPr>
        <p:spPr>
          <a:xfrm rot="-5400000">
            <a:off x="-106275" y="38846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5" name="Google Shape;45;p11"/>
          <p:cNvSpPr txBox="1"/>
          <p:nvPr>
            <p:ph idx="4" type="subTitle"/>
          </p:nvPr>
        </p:nvSpPr>
        <p:spPr>
          <a:xfrm rot="-5400000">
            <a:off x="-106275" y="31571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6" name="Google Shape;46;p11"/>
          <p:cNvSpPr txBox="1"/>
          <p:nvPr>
            <p:ph idx="5" type="subTitle"/>
          </p:nvPr>
        </p:nvSpPr>
        <p:spPr>
          <a:xfrm rot="-5400000">
            <a:off x="-106275" y="242970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7" name="Google Shape;47;p11"/>
          <p:cNvSpPr txBox="1"/>
          <p:nvPr>
            <p:ph idx="6" type="subTitle"/>
          </p:nvPr>
        </p:nvSpPr>
        <p:spPr>
          <a:xfrm rot="-5400000">
            <a:off x="-106275" y="17022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8" name="Google Shape;48;p11"/>
          <p:cNvSpPr txBox="1"/>
          <p:nvPr>
            <p:ph idx="7" type="subTitle"/>
          </p:nvPr>
        </p:nvSpPr>
        <p:spPr>
          <a:xfrm rot="-5400000">
            <a:off x="-106275" y="9747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9" name="Google Shape;49;p11"/>
          <p:cNvSpPr txBox="1"/>
          <p:nvPr>
            <p:ph idx="8" type="subTitle"/>
          </p:nvPr>
        </p:nvSpPr>
        <p:spPr>
          <a:xfrm rot="-5400000">
            <a:off x="-106275" y="2472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85902" y="258750"/>
            <a:ext cx="4314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620775" y="258750"/>
            <a:ext cx="35082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9pPr>
          </a:lstStyle>
          <a:p/>
        </p:txBody>
      </p:sp>
      <p:sp>
        <p:nvSpPr>
          <p:cNvPr id="52" name="Google Shape;52;p11"/>
          <p:cNvSpPr/>
          <p:nvPr>
            <p:ph idx="9" type="pic"/>
          </p:nvPr>
        </p:nvSpPr>
        <p:spPr>
          <a:xfrm>
            <a:off x="6796700" y="0"/>
            <a:ext cx="2347200" cy="273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1"/>
          <p:cNvSpPr/>
          <p:nvPr>
            <p:ph idx="13" type="pic"/>
          </p:nvPr>
        </p:nvSpPr>
        <p:spPr>
          <a:xfrm>
            <a:off x="4434825" y="2753975"/>
            <a:ext cx="4709100" cy="2389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1"/>
          <p:cNvSpPr/>
          <p:nvPr>
            <p:ph idx="14" type="pic"/>
          </p:nvPr>
        </p:nvSpPr>
        <p:spPr>
          <a:xfrm>
            <a:off x="4434825" y="0"/>
            <a:ext cx="2347200" cy="273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5750" y="982975"/>
            <a:ext cx="8520600" cy="3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55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55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55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55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55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55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55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365755" y="259075"/>
            <a:ext cx="85206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7.png"/><Relationship Id="rId4" Type="http://schemas.openxmlformats.org/officeDocument/2006/relationships/image" Target="../media/image4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6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ctrTitle"/>
          </p:nvPr>
        </p:nvSpPr>
        <p:spPr>
          <a:xfrm>
            <a:off x="320050" y="1828800"/>
            <a:ext cx="8520600" cy="19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Dark Silicon and Conservation Cores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accent6"/>
                </a:solidFill>
              </a:rPr>
              <a:t>CS 252A Paper Reviews</a:t>
            </a:r>
            <a:br>
              <a:rPr lang="en" sz="2700">
                <a:solidFill>
                  <a:schemeClr val="accent6"/>
                </a:solidFill>
              </a:rPr>
            </a:br>
            <a:endParaRPr sz="27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300"/>
              <a:t>Presented by: Jack Toubes &amp; Tofic Esses</a:t>
            </a:r>
            <a:endParaRPr b="0" sz="2700"/>
          </a:p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3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</a:t>
            </a:r>
            <a:r>
              <a:rPr lang="en">
                <a:solidFill>
                  <a:schemeClr val="accent6"/>
                </a:solidFill>
              </a:rPr>
              <a:t>MOSFET Switching Power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67" name="Google Shape;6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25" y="1293025"/>
            <a:ext cx="4749475" cy="32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1250" y="1082200"/>
            <a:ext cx="4013101" cy="3053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4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</a:t>
            </a:r>
            <a:r>
              <a:rPr lang="en">
                <a:solidFill>
                  <a:schemeClr val="accent6"/>
                </a:solidFill>
              </a:rPr>
              <a:t>Dennard Scaling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239480" y="3175341"/>
            <a:ext cx="85206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Dennard scaling </a:t>
            </a:r>
            <a:r>
              <a:rPr i="1" lang="en"/>
              <a:t>relies</a:t>
            </a:r>
            <a:r>
              <a:rPr lang="en"/>
              <a:t> on reducing the driving voltage (V) and capacitance (C) to enable increases in frequency (f) and # of transistors (N_fet).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Each generation, increase frequency AND halve the power per transistor.</a:t>
            </a:r>
            <a:endParaRPr/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1878038"/>
            <a:ext cx="3782675" cy="454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1850" y="889117"/>
            <a:ext cx="3361751" cy="2331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025" y="962563"/>
            <a:ext cx="2694849" cy="799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5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Breakdown of </a:t>
            </a:r>
            <a:r>
              <a:rPr lang="en">
                <a:solidFill>
                  <a:schemeClr val="accent6"/>
                </a:solidFill>
              </a:rPr>
              <a:t>Dennard Scaling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descr="Overclockers, Supercomputers and Cooling" id="85" name="Google Shape;85;p15"/>
          <p:cNvPicPr preferRelativeResize="0"/>
          <p:nvPr/>
        </p:nvPicPr>
        <p:blipFill rotWithShape="1">
          <a:blip r:embed="rId3">
            <a:alphaModFix/>
          </a:blip>
          <a:srcRect b="41297" l="32714" r="0" t="0"/>
          <a:stretch/>
        </p:blipFill>
        <p:spPr>
          <a:xfrm>
            <a:off x="4501052" y="1106825"/>
            <a:ext cx="4429476" cy="12486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" name="Google Shape;86;p15"/>
          <p:cNvSpPr/>
          <p:nvPr/>
        </p:nvSpPr>
        <p:spPr>
          <a:xfrm>
            <a:off x="8363474" y="627175"/>
            <a:ext cx="254916" cy="604481"/>
          </a:xfrm>
          <a:custGeom>
            <a:rect b="b" l="l" r="r" t="t"/>
            <a:pathLst>
              <a:path extrusionOk="0" h="13593" w="17460">
                <a:moveTo>
                  <a:pt x="17460" y="330"/>
                </a:moveTo>
                <a:cubicBezTo>
                  <a:pt x="13599" y="330"/>
                  <a:pt x="9351" y="-717"/>
                  <a:pt x="5898" y="1010"/>
                </a:cubicBezTo>
                <a:cubicBezTo>
                  <a:pt x="1811" y="3054"/>
                  <a:pt x="-988" y="9258"/>
                  <a:pt x="457" y="13593"/>
                </a:cubicBezTo>
              </a:path>
            </a:pathLst>
          </a:cu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239480" y="3175341"/>
            <a:ext cx="8520600" cy="19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Dennard scaling </a:t>
            </a:r>
            <a:r>
              <a:rPr i="1" lang="en"/>
              <a:t>relies</a:t>
            </a:r>
            <a:r>
              <a:rPr lang="en"/>
              <a:t> on reducing the driving voltage (V) and capacitance (C) to enable increases in frequency (f) and # of transistors (N_fet).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Each generation, increase frequency AND halve the power per transistor.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BUT, as transistors get smaller, reducing their threshold voltage (necessary to enable reducing driving voltage) exponentially increases leakage power.</a:t>
            </a:r>
            <a:endParaRPr/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125" y="1828350"/>
            <a:ext cx="3782675" cy="454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" name="Google Shape;8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275" y="898838"/>
            <a:ext cx="2694849" cy="799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6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Wall &amp; Dark Silicon</a:t>
            </a:r>
            <a:endParaRPr/>
          </a:p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365750" y="982975"/>
            <a:ext cx="8520600" cy="36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Our cooling technologies can only (economically) cool a certain amount of power dissipated (hence why power-consumption is often listed as </a:t>
            </a:r>
            <a:r>
              <a:rPr i="1" lang="en">
                <a:solidFill>
                  <a:schemeClr val="accent6"/>
                </a:solidFill>
              </a:rPr>
              <a:t>Thermal Design</a:t>
            </a:r>
            <a:r>
              <a:rPr lang="en"/>
              <a:t> power).</a:t>
            </a:r>
            <a:br>
              <a:rPr lang="en"/>
            </a:b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>
                <a:solidFill>
                  <a:schemeClr val="accent6"/>
                </a:solidFill>
              </a:rPr>
              <a:t>Power Wall</a:t>
            </a:r>
            <a:r>
              <a:rPr lang="en"/>
              <a:t>: Chips must only consume power which can be dissipated by economical cooling technologies.</a:t>
            </a:r>
            <a:br>
              <a:rPr lang="en"/>
            </a:b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>
                <a:solidFill>
                  <a:schemeClr val="accent6"/>
                </a:solidFill>
              </a:rPr>
              <a:t>Dark silicon</a:t>
            </a:r>
            <a:r>
              <a:rPr lang="en"/>
              <a:t>: with the failure of Dennard scaling, not all of the transistors which can fit on a chip can be switching at their maximum speed at the same time, without slamming into the power wall.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7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</a:t>
            </a:r>
            <a:r>
              <a:rPr lang="en">
                <a:solidFill>
                  <a:schemeClr val="accent6"/>
                </a:solidFill>
              </a:rPr>
              <a:t>2004 </a:t>
            </a:r>
            <a:r>
              <a:rPr lang="en"/>
              <a:t>and we’re running into a problem</a:t>
            </a:r>
            <a:endParaRPr/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365750" y="982975"/>
            <a:ext cx="8520600" cy="8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2004: Choose between increasing frequency and increasing # of transistors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We chose increasing # of transistors -&gt; Multicore processors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8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Breakdown of </a:t>
            </a:r>
            <a:r>
              <a:rPr lang="en">
                <a:solidFill>
                  <a:schemeClr val="accent6"/>
                </a:solidFill>
              </a:rPr>
              <a:t>Dennard Scaling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descr="Overclockers, Supercomputers and Cooling" id="110" name="Google Shape;110;p18"/>
          <p:cNvPicPr preferRelativeResize="0"/>
          <p:nvPr/>
        </p:nvPicPr>
        <p:blipFill rotWithShape="1">
          <a:blip r:embed="rId3">
            <a:alphaModFix/>
          </a:blip>
          <a:srcRect b="41297" l="0" r="0" t="0"/>
          <a:stretch/>
        </p:blipFill>
        <p:spPr>
          <a:xfrm>
            <a:off x="1397555" y="1763325"/>
            <a:ext cx="6583300" cy="12486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239480" y="3175341"/>
            <a:ext cx="85206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We’ve stopped increasing frequency, but we’re still doubling the number of transistors on the chip every generation.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0.7 * 2 = 1.4! We’re now increasing total power with number of transistors :(</a:t>
            </a:r>
            <a:endParaRPr/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5525" y="1045219"/>
            <a:ext cx="3854551" cy="536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3" name="Google Shape;11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275" y="898838"/>
            <a:ext cx="2694849" cy="799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19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</a:t>
            </a:r>
            <a:r>
              <a:rPr lang="en">
                <a:solidFill>
                  <a:schemeClr val="accent6"/>
                </a:solidFill>
              </a:rPr>
              <a:t>2011 </a:t>
            </a:r>
            <a:r>
              <a:rPr lang="en"/>
              <a:t>and we’re running into a problem</a:t>
            </a:r>
            <a:endParaRPr/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365750" y="982975"/>
            <a:ext cx="8520600" cy="19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2004: Choose between increasing frequency and increasing # of transistors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We chose increasing # of transistors -&gt; Multicore processors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2011: Can fit more transistors on a processor but can’t fully power all of them at the same time.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What do we do???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ctrTitle"/>
          </p:nvPr>
        </p:nvSpPr>
        <p:spPr>
          <a:xfrm>
            <a:off x="320050" y="1828800"/>
            <a:ext cx="8520600" cy="12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Dark Silicon and the End of </a:t>
            </a:r>
            <a:r>
              <a:rPr lang="en" sz="3600" strike="sngStrike"/>
              <a:t>the world </a:t>
            </a:r>
            <a:r>
              <a:rPr lang="en" sz="3600"/>
              <a:t>Multicore Scaling</a:t>
            </a:r>
            <a:endParaRPr sz="3600">
              <a:solidFill>
                <a:schemeClr val="accent6"/>
              </a:solidFill>
            </a:endParaRPr>
          </a:p>
        </p:txBody>
      </p:sp>
      <p:sp>
        <p:nvSpPr>
          <p:cNvPr id="126" name="Google Shape;126;p20"/>
          <p:cNvSpPr txBox="1"/>
          <p:nvPr>
            <p:ph idx="1" type="subTitle"/>
          </p:nvPr>
        </p:nvSpPr>
        <p:spPr>
          <a:xfrm>
            <a:off x="311700" y="1463040"/>
            <a:ext cx="85206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A CS 252a Presentation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27" name="Google Shape;127;p20"/>
          <p:cNvSpPr txBox="1"/>
          <p:nvPr>
            <p:ph idx="2" type="subTitle"/>
          </p:nvPr>
        </p:nvSpPr>
        <p:spPr>
          <a:xfrm>
            <a:off x="311700" y="4325075"/>
            <a:ext cx="3880200" cy="61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Jack Toubes</a:t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2026-2-4</a:t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1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>
                <a:solidFill>
                  <a:schemeClr val="accent6"/>
                </a:solidFill>
              </a:rPr>
              <a:t>Question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365750" y="982975"/>
            <a:ext cx="8520600" cy="1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2011: we’ve had to start giving transistors less power.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do we expect to get from multicore scaling in the next 15 years?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2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261950" y="982975"/>
            <a:ext cx="4418700" cy="36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Bottom up multicore PPA model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Device model for capturing effects of </a:t>
            </a:r>
            <a:r>
              <a:rPr lang="en">
                <a:solidFill>
                  <a:schemeClr val="accent6"/>
                </a:solidFill>
              </a:rPr>
              <a:t>transistor scaling</a:t>
            </a:r>
            <a:endParaRPr>
              <a:solidFill>
                <a:schemeClr val="accent6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Core model for capturing a pareto frontier of </a:t>
            </a:r>
            <a:r>
              <a:rPr lang="en">
                <a:solidFill>
                  <a:schemeClr val="accent6"/>
                </a:solidFill>
              </a:rPr>
              <a:t>architectures</a:t>
            </a:r>
            <a:endParaRPr>
              <a:solidFill>
                <a:schemeClr val="accent6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Multicore model for capturing different </a:t>
            </a:r>
            <a:r>
              <a:rPr lang="en">
                <a:solidFill>
                  <a:schemeClr val="accent6"/>
                </a:solidFill>
              </a:rPr>
              <a:t>topologies </a:t>
            </a:r>
            <a:r>
              <a:rPr lang="en"/>
              <a:t> &amp; </a:t>
            </a:r>
            <a:r>
              <a:rPr lang="en">
                <a:solidFill>
                  <a:schemeClr val="accent6"/>
                </a:solidFill>
              </a:rPr>
              <a:t>microarchitectures </a:t>
            </a:r>
            <a:r>
              <a:rPr lang="en"/>
              <a:t>and considering </a:t>
            </a:r>
            <a:r>
              <a:rPr lang="en">
                <a:solidFill>
                  <a:schemeClr val="accent6"/>
                </a:solidFill>
              </a:rPr>
              <a:t>different workloads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50" y="1248125"/>
            <a:ext cx="4267150" cy="2809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3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Scaling Model </a:t>
            </a:r>
            <a:r>
              <a:rPr lang="en">
                <a:solidFill>
                  <a:schemeClr val="accent6"/>
                </a:solidFill>
              </a:rPr>
              <a:t>(DevM)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65750" y="982975"/>
            <a:ext cx="4206300" cy="33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Predict transistor frequency, voltage, capacitance, and power scaling for future technology nodes.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Large capacitance &amp; frequency jumps from 32 to 22 </a:t>
            </a:r>
            <a:r>
              <a:rPr lang="en"/>
              <a:t>because</a:t>
            </a:r>
            <a:r>
              <a:rPr lang="en"/>
              <a:t> of “multi-gate” (FinFet) transistors.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○"/>
            </a:pPr>
            <a:r>
              <a:rPr lang="en">
                <a:solidFill>
                  <a:schemeClr val="accent6"/>
                </a:solidFill>
              </a:rPr>
              <a:t>FinFet significantly reduces leakage.</a:t>
            </a:r>
            <a:endParaRPr/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6300" y="982975"/>
            <a:ext cx="4030400" cy="36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4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Scaling Model </a:t>
            </a:r>
            <a:r>
              <a:rPr lang="en">
                <a:solidFill>
                  <a:schemeClr val="accent6"/>
                </a:solidFill>
              </a:rPr>
              <a:t>(CoreM)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58" name="Google Shape;1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647" y="1012046"/>
            <a:ext cx="7978808" cy="371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DevM</a:t>
            </a:r>
            <a:r>
              <a:rPr lang="en"/>
              <a:t> X </a:t>
            </a:r>
            <a:r>
              <a:rPr lang="en">
                <a:solidFill>
                  <a:schemeClr val="accent6"/>
                </a:solidFill>
              </a:rPr>
              <a:t>CoreM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65" name="Google Shape;16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600" y="1071875"/>
            <a:ext cx="7978808" cy="3515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26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Theoretical Multi-core Performance </a:t>
            </a:r>
            <a:r>
              <a:rPr lang="en">
                <a:solidFill>
                  <a:schemeClr val="accent6"/>
                </a:solidFill>
              </a:rPr>
              <a:t>(CmpMu)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7943" y="1084700"/>
            <a:ext cx="4710511" cy="390252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 txBox="1"/>
          <p:nvPr>
            <p:ph idx="1" type="body"/>
          </p:nvPr>
        </p:nvSpPr>
        <p:spPr>
          <a:xfrm>
            <a:off x="365750" y="982975"/>
            <a:ext cx="3429600" cy="19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Theoretical limits on the performance improvements of multi-core with different system topologies</a:t>
            </a:r>
            <a:endParaRPr/>
          </a:p>
        </p:txBody>
      </p:sp>
      <p:pic>
        <p:nvPicPr>
          <p:cNvPr id="174" name="Google Shape;174;p26"/>
          <p:cNvPicPr preferRelativeResize="0"/>
          <p:nvPr/>
        </p:nvPicPr>
        <p:blipFill rotWithShape="1">
          <a:blip r:embed="rId4">
            <a:alphaModFix/>
          </a:blip>
          <a:srcRect b="3870" l="0" r="0" t="13975"/>
          <a:stretch/>
        </p:blipFill>
        <p:spPr>
          <a:xfrm>
            <a:off x="39625" y="3624450"/>
            <a:ext cx="4143375" cy="96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7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Realistic Multi-core Performance </a:t>
            </a:r>
            <a:r>
              <a:rPr lang="en">
                <a:solidFill>
                  <a:schemeClr val="accent6"/>
                </a:solidFill>
              </a:rPr>
              <a:t>(CmpMr)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225" y="983625"/>
            <a:ext cx="7172892" cy="390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28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Realistic Multi-core Performance </a:t>
            </a:r>
            <a:r>
              <a:rPr lang="en">
                <a:solidFill>
                  <a:schemeClr val="accent6"/>
                </a:solidFill>
              </a:rPr>
              <a:t>(CmpMr)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88" name="Google Shape;1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88575"/>
            <a:ext cx="498157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4125" y="2217400"/>
            <a:ext cx="3019425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8"/>
          <p:cNvSpPr/>
          <p:nvPr/>
        </p:nvSpPr>
        <p:spPr>
          <a:xfrm>
            <a:off x="3105600" y="1750000"/>
            <a:ext cx="116531" cy="749744"/>
          </a:xfrm>
          <a:custGeom>
            <a:rect b="b" l="l" r="r" t="t"/>
            <a:pathLst>
              <a:path extrusionOk="0" h="27592" w="5261">
                <a:moveTo>
                  <a:pt x="0" y="0"/>
                </a:moveTo>
                <a:cubicBezTo>
                  <a:pt x="3168" y="4224"/>
                  <a:pt x="5751" y="9757"/>
                  <a:pt x="5098" y="14996"/>
                </a:cubicBezTo>
                <a:cubicBezTo>
                  <a:pt x="4554" y="19357"/>
                  <a:pt x="1200" y="23197"/>
                  <a:pt x="1200" y="27592"/>
                </a:cubicBezTo>
              </a:path>
            </a:pathLst>
          </a:cu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stealth"/>
            <a:tailEnd len="med" w="med" type="none"/>
          </a:ln>
        </p:spPr>
      </p:sp>
      <p:pic>
        <p:nvPicPr>
          <p:cNvPr id="191" name="Google Shape;19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4125" y="3507100"/>
            <a:ext cx="5953125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8"/>
          <p:cNvSpPr/>
          <p:nvPr/>
        </p:nvSpPr>
        <p:spPr>
          <a:xfrm>
            <a:off x="3045600" y="3069600"/>
            <a:ext cx="1874475" cy="479875"/>
          </a:xfrm>
          <a:custGeom>
            <a:rect b="b" l="l" r="r" t="t"/>
            <a:pathLst>
              <a:path extrusionOk="0" h="19195" w="74979">
                <a:moveTo>
                  <a:pt x="0" y="19195"/>
                </a:moveTo>
                <a:cubicBezTo>
                  <a:pt x="0" y="7183"/>
                  <a:pt x="21295" y="4767"/>
                  <a:pt x="33291" y="5399"/>
                </a:cubicBezTo>
                <a:cubicBezTo>
                  <a:pt x="47284" y="6136"/>
                  <a:pt x="70548" y="13293"/>
                  <a:pt x="74979" y="0"/>
                </a:cubicBezTo>
              </a:path>
            </a:pathLst>
          </a:cu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sp>
      <p:pic>
        <p:nvPicPr>
          <p:cNvPr id="193" name="Google Shape;193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4250" y="4184800"/>
            <a:ext cx="4636987" cy="83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8"/>
          <p:cNvSpPr/>
          <p:nvPr/>
        </p:nvSpPr>
        <p:spPr>
          <a:xfrm>
            <a:off x="2880650" y="3954350"/>
            <a:ext cx="1289625" cy="487350"/>
          </a:xfrm>
          <a:custGeom>
            <a:rect b="b" l="l" r="r" t="t"/>
            <a:pathLst>
              <a:path extrusionOk="0" h="19494" w="51585">
                <a:moveTo>
                  <a:pt x="0" y="19494"/>
                </a:moveTo>
                <a:cubicBezTo>
                  <a:pt x="7167" y="9946"/>
                  <a:pt x="19991" y="4815"/>
                  <a:pt x="31791" y="2999"/>
                </a:cubicBezTo>
                <a:cubicBezTo>
                  <a:pt x="38387" y="1984"/>
                  <a:pt x="49475" y="6331"/>
                  <a:pt x="51585" y="0"/>
                </a:cubicBezTo>
              </a:path>
            </a:pathLst>
          </a:cu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95" name="Google Shape;195;p28"/>
          <p:cNvSpPr/>
          <p:nvPr/>
        </p:nvSpPr>
        <p:spPr>
          <a:xfrm>
            <a:off x="5047525" y="3984350"/>
            <a:ext cx="1169650" cy="554825"/>
          </a:xfrm>
          <a:custGeom>
            <a:rect b="b" l="l" r="r" t="t"/>
            <a:pathLst>
              <a:path extrusionOk="0" h="22193" w="46786">
                <a:moveTo>
                  <a:pt x="0" y="22193"/>
                </a:moveTo>
                <a:cubicBezTo>
                  <a:pt x="0" y="14488"/>
                  <a:pt x="8849" y="6954"/>
                  <a:pt x="16495" y="5998"/>
                </a:cubicBezTo>
                <a:cubicBezTo>
                  <a:pt x="26708" y="4721"/>
                  <a:pt x="44295" y="9987"/>
                  <a:pt x="46786" y="0"/>
                </a:cubicBezTo>
              </a:path>
            </a:pathLst>
          </a:cu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9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Realistic Multi-core Performance </a:t>
            </a:r>
            <a:r>
              <a:rPr lang="en">
                <a:solidFill>
                  <a:schemeClr val="accent6"/>
                </a:solidFill>
              </a:rPr>
              <a:t>(CmpMr)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202" name="Google Shape;20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488" y="1156075"/>
            <a:ext cx="7993016" cy="3346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30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Realistic Multi-core Performance </a:t>
            </a:r>
            <a:r>
              <a:rPr lang="en">
                <a:solidFill>
                  <a:schemeClr val="accent6"/>
                </a:solidFill>
              </a:rPr>
              <a:t>(CmpMr)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365750" y="982975"/>
            <a:ext cx="4206300" cy="22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Model designed to </a:t>
            </a:r>
            <a:r>
              <a:rPr i="1" lang="en">
                <a:solidFill>
                  <a:schemeClr val="accent6"/>
                </a:solidFill>
              </a:rPr>
              <a:t>over-estimate</a:t>
            </a:r>
            <a:r>
              <a:rPr lang="en"/>
              <a:t> performance with </a:t>
            </a:r>
            <a:r>
              <a:rPr i="1" lang="en">
                <a:solidFill>
                  <a:schemeClr val="accent6"/>
                </a:solidFill>
              </a:rPr>
              <a:t>first-order</a:t>
            </a:r>
            <a:r>
              <a:rPr i="1" lang="en"/>
              <a:t> </a:t>
            </a:r>
            <a:r>
              <a:rPr lang="en"/>
              <a:t>models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Model is validated by comparing projections to measurement &amp; simulation results.</a:t>
            </a:r>
            <a:endParaRPr/>
          </a:p>
        </p:txBody>
      </p:sp>
      <p:pic>
        <p:nvPicPr>
          <p:cNvPr id="210" name="Google Shape;21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36175"/>
            <a:ext cx="3924474" cy="383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31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DevM</a:t>
            </a:r>
            <a:r>
              <a:rPr lang="en"/>
              <a:t> X </a:t>
            </a:r>
            <a:r>
              <a:rPr lang="en">
                <a:solidFill>
                  <a:schemeClr val="accent6"/>
                </a:solidFill>
              </a:rPr>
              <a:t>CoreM </a:t>
            </a:r>
            <a:r>
              <a:rPr lang="en"/>
              <a:t>X </a:t>
            </a:r>
            <a:r>
              <a:rPr lang="en">
                <a:solidFill>
                  <a:schemeClr val="accent6"/>
                </a:solidFill>
              </a:rPr>
              <a:t>CmpMu/r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365750" y="982975"/>
            <a:ext cx="8520600" cy="39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Start at each point on pareto area/perf curve, construct a multicore by adding 1 core at a time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After each core is added, compute the new area, power consumption, and performance (speedup vs 45nm core). 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Check if area limit is hit, power wall is hit, or performance degrades.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If so, the optimal configuration was found.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Once optimal configuration is found, compute dark silicon by subtracting area </a:t>
            </a:r>
            <a:r>
              <a:rPr lang="en"/>
              <a:t>occupied</a:t>
            </a:r>
            <a:r>
              <a:rPr lang="en"/>
              <a:t> from total die area.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32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Real Point</a:t>
            </a:r>
            <a:endParaRPr/>
          </a:p>
        </p:txBody>
      </p:sp>
      <p:pic>
        <p:nvPicPr>
          <p:cNvPr id="224" name="Google Shape;22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250" y="936175"/>
            <a:ext cx="6925503" cy="390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3"/>
          <p:cNvSpPr txBox="1"/>
          <p:nvPr>
            <p:ph type="title"/>
          </p:nvPr>
        </p:nvSpPr>
        <p:spPr>
          <a:xfrm>
            <a:off x="365755" y="259075"/>
            <a:ext cx="85206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accent6"/>
                </a:solidFill>
              </a:rPr>
              <a:t>DevM</a:t>
            </a:r>
            <a:r>
              <a:rPr lang="en" sz="3150"/>
              <a:t> X </a:t>
            </a:r>
            <a:r>
              <a:rPr lang="en" sz="3150">
                <a:solidFill>
                  <a:schemeClr val="accent6"/>
                </a:solidFill>
              </a:rPr>
              <a:t>CoreM </a:t>
            </a:r>
            <a:r>
              <a:rPr lang="en" sz="3150"/>
              <a:t>X </a:t>
            </a:r>
            <a:r>
              <a:rPr lang="en" sz="3150">
                <a:solidFill>
                  <a:schemeClr val="accent6"/>
                </a:solidFill>
              </a:rPr>
              <a:t>CmpMu </a:t>
            </a:r>
            <a:r>
              <a:rPr lang="en" sz="3150"/>
              <a:t>Results (dynamic top.)</a:t>
            </a:r>
            <a:endParaRPr sz="3150"/>
          </a:p>
        </p:txBody>
      </p:sp>
      <p:pic>
        <p:nvPicPr>
          <p:cNvPr id="231" name="Google Shape;23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900" y="1006075"/>
            <a:ext cx="7482478" cy="3902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p34"/>
          <p:cNvSpPr txBox="1"/>
          <p:nvPr>
            <p:ph type="title"/>
          </p:nvPr>
        </p:nvSpPr>
        <p:spPr>
          <a:xfrm>
            <a:off x="365755" y="259075"/>
            <a:ext cx="85206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accent6"/>
                </a:solidFill>
              </a:rPr>
              <a:t>DevM</a:t>
            </a:r>
            <a:r>
              <a:rPr lang="en" sz="3150"/>
              <a:t> X </a:t>
            </a:r>
            <a:r>
              <a:rPr lang="en" sz="3150">
                <a:solidFill>
                  <a:schemeClr val="accent6"/>
                </a:solidFill>
              </a:rPr>
              <a:t>CoreM </a:t>
            </a:r>
            <a:r>
              <a:rPr lang="en" sz="3150"/>
              <a:t>X </a:t>
            </a:r>
            <a:r>
              <a:rPr lang="en" sz="3150">
                <a:solidFill>
                  <a:schemeClr val="accent6"/>
                </a:solidFill>
              </a:rPr>
              <a:t>CmpMr </a:t>
            </a:r>
            <a:r>
              <a:rPr lang="en" sz="3150"/>
              <a:t>Results</a:t>
            </a:r>
            <a:endParaRPr sz="3150"/>
          </a:p>
        </p:txBody>
      </p:sp>
      <p:pic>
        <p:nvPicPr>
          <p:cNvPr id="238" name="Google Shape;238;p34"/>
          <p:cNvPicPr preferRelativeResize="0"/>
          <p:nvPr/>
        </p:nvPicPr>
        <p:blipFill rotWithShape="1">
          <a:blip r:embed="rId3">
            <a:alphaModFix/>
          </a:blip>
          <a:srcRect b="1797" l="0" r="0" t="0"/>
          <a:stretch/>
        </p:blipFill>
        <p:spPr>
          <a:xfrm>
            <a:off x="4372088" y="967340"/>
            <a:ext cx="4082849" cy="207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4350" y="3104916"/>
            <a:ext cx="4082826" cy="191530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4"/>
          <p:cNvSpPr txBox="1"/>
          <p:nvPr>
            <p:ph idx="1" type="body"/>
          </p:nvPr>
        </p:nvSpPr>
        <p:spPr>
          <a:xfrm>
            <a:off x="365750" y="982975"/>
            <a:ext cx="4038600" cy="26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Geomean speedups are small compared to past gains from technology scaling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Optimal number of cores plateaus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Dark silicon percentages grow very fast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5"/>
          <p:cNvSpPr txBox="1"/>
          <p:nvPr>
            <p:ph type="title"/>
          </p:nvPr>
        </p:nvSpPr>
        <p:spPr>
          <a:xfrm>
            <a:off x="365755" y="259075"/>
            <a:ext cx="85206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accent6"/>
                </a:solidFill>
              </a:rPr>
              <a:t>DevM</a:t>
            </a:r>
            <a:r>
              <a:rPr lang="en" sz="3150"/>
              <a:t> X </a:t>
            </a:r>
            <a:r>
              <a:rPr lang="en" sz="3150">
                <a:solidFill>
                  <a:schemeClr val="accent6"/>
                </a:solidFill>
              </a:rPr>
              <a:t>CoreM </a:t>
            </a:r>
            <a:r>
              <a:rPr lang="en" sz="3150"/>
              <a:t>X </a:t>
            </a:r>
            <a:r>
              <a:rPr lang="en" sz="3150">
                <a:solidFill>
                  <a:schemeClr val="accent6"/>
                </a:solidFill>
              </a:rPr>
              <a:t>CmpMr </a:t>
            </a:r>
            <a:r>
              <a:rPr lang="en" sz="3150"/>
              <a:t>Results (8nm)</a:t>
            </a:r>
            <a:endParaRPr sz="3150"/>
          </a:p>
        </p:txBody>
      </p:sp>
      <p:sp>
        <p:nvSpPr>
          <p:cNvPr id="247" name="Google Shape;247;p35"/>
          <p:cNvSpPr txBox="1"/>
          <p:nvPr>
            <p:ph idx="1" type="body"/>
          </p:nvPr>
        </p:nvSpPr>
        <p:spPr>
          <a:xfrm>
            <a:off x="365750" y="982975"/>
            <a:ext cx="4038600" cy="39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Only the most parallel workloads get significant speedups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Increasing the power budget doesn’t alleviate this problem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Simple configuration changes (e.g. L2 size or memory bandwidth) cannot alleviate this problem</a:t>
            </a:r>
            <a:endParaRPr/>
          </a:p>
        </p:txBody>
      </p:sp>
      <p:pic>
        <p:nvPicPr>
          <p:cNvPr id="248" name="Google Shape;248;p35"/>
          <p:cNvPicPr preferRelativeResize="0"/>
          <p:nvPr/>
        </p:nvPicPr>
        <p:blipFill rotWithShape="1">
          <a:blip r:embed="rId3">
            <a:alphaModFix/>
          </a:blip>
          <a:srcRect b="0" l="0" r="0" t="8851"/>
          <a:stretch/>
        </p:blipFill>
        <p:spPr>
          <a:xfrm>
            <a:off x="4494500" y="983527"/>
            <a:ext cx="3895101" cy="188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5"/>
          <p:cNvPicPr preferRelativeResize="0"/>
          <p:nvPr/>
        </p:nvPicPr>
        <p:blipFill rotWithShape="1">
          <a:blip r:embed="rId4">
            <a:alphaModFix/>
          </a:blip>
          <a:srcRect b="0" l="0" r="0" t="6551"/>
          <a:stretch/>
        </p:blipFill>
        <p:spPr>
          <a:xfrm>
            <a:off x="4607900" y="3027450"/>
            <a:ext cx="3781701" cy="195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36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Real Point</a:t>
            </a:r>
            <a:endParaRPr/>
          </a:p>
        </p:txBody>
      </p:sp>
      <p:pic>
        <p:nvPicPr>
          <p:cNvPr id="256" name="Google Shape;25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250" y="936175"/>
            <a:ext cx="6925503" cy="390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7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37"/>
          <p:cNvSpPr txBox="1"/>
          <p:nvPr>
            <p:ph type="title"/>
          </p:nvPr>
        </p:nvSpPr>
        <p:spPr>
          <a:xfrm>
            <a:off x="365755" y="259075"/>
            <a:ext cx="85206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/>
              <a:t>Limitations (of the paper or conference format)</a:t>
            </a:r>
            <a:endParaRPr sz="3150"/>
          </a:p>
        </p:txBody>
      </p:sp>
      <p:sp>
        <p:nvSpPr>
          <p:cNvPr id="263" name="Google Shape;263;p37"/>
          <p:cNvSpPr txBox="1"/>
          <p:nvPr>
            <p:ph idx="1" type="body"/>
          </p:nvPr>
        </p:nvSpPr>
        <p:spPr>
          <a:xfrm>
            <a:off x="365750" y="982975"/>
            <a:ext cx="8520600" cy="19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No consideration of SMT in results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Potential overestimation of GPU power-budget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Ignore uncore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No consideration of ARM or Tilera cores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Many assumptions made to build a useful/useable model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38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</a:t>
            </a:r>
            <a:r>
              <a:rPr lang="en">
                <a:solidFill>
                  <a:schemeClr val="accent6"/>
                </a:solidFill>
              </a:rPr>
              <a:t>2011 </a:t>
            </a:r>
            <a:r>
              <a:rPr lang="en"/>
              <a:t>and we’re running into a problem</a:t>
            </a:r>
            <a:endParaRPr/>
          </a:p>
        </p:txBody>
      </p:sp>
      <p:sp>
        <p:nvSpPr>
          <p:cNvPr id="270" name="Google Shape;270;p38"/>
          <p:cNvSpPr txBox="1"/>
          <p:nvPr>
            <p:ph idx="1" type="body"/>
          </p:nvPr>
        </p:nvSpPr>
        <p:spPr>
          <a:xfrm>
            <a:off x="365750" y="982975"/>
            <a:ext cx="85206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2011: Can fit more transistors on a processor but can’t fully power all of them at the same time.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What do we do???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39"/>
          <p:cNvSpPr txBox="1"/>
          <p:nvPr>
            <p:ph type="title"/>
          </p:nvPr>
        </p:nvSpPr>
        <p:spPr>
          <a:xfrm>
            <a:off x="365755" y="259075"/>
            <a:ext cx="85206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/>
              <a:t>What if each core was more energy efficient?</a:t>
            </a:r>
            <a:endParaRPr sz="3150"/>
          </a:p>
        </p:txBody>
      </p:sp>
      <p:sp>
        <p:nvSpPr>
          <p:cNvPr id="277" name="Google Shape;277;p39"/>
          <p:cNvSpPr txBox="1"/>
          <p:nvPr>
            <p:ph idx="1" type="body"/>
          </p:nvPr>
        </p:nvSpPr>
        <p:spPr>
          <a:xfrm>
            <a:off x="365750" y="982975"/>
            <a:ext cx="8520600" cy="22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Idea: Trade silicon area to implement logic for energy efficiency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Reduces dark-silicon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Introducing </a:t>
            </a:r>
            <a:r>
              <a:rPr b="1" lang="en">
                <a:solidFill>
                  <a:schemeClr val="accent6"/>
                </a:solidFill>
              </a:rPr>
              <a:t>conservation cores</a:t>
            </a:r>
            <a:r>
              <a:rPr lang="en"/>
              <a:t> (c-cores)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/>
              <a:t>Paper:</a:t>
            </a:r>
            <a:r>
              <a:rPr lang="en"/>
              <a:t> Venkatesh et al., ASPLOS 2010 — “Conservation Cores: Reducing the Energy of Mature Computations”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/>
              <a:t>Key evaluation metric:</a:t>
            </a:r>
            <a:r>
              <a:rPr lang="en"/>
              <a:t> Energy Delay Product (EDP) = Eτ = Pτ²</a:t>
            </a:r>
            <a:endParaRPr/>
          </a:p>
        </p:txBody>
      </p:sp>
      <p:pic>
        <p:nvPicPr>
          <p:cNvPr id="278" name="Google Shape;27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8938" y="3245574"/>
            <a:ext cx="2886125" cy="183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4" name="Google Shape;284;p40"/>
          <p:cNvSpPr txBox="1"/>
          <p:nvPr>
            <p:ph type="title"/>
          </p:nvPr>
        </p:nvSpPr>
        <p:spPr>
          <a:xfrm>
            <a:off x="365755" y="259075"/>
            <a:ext cx="85206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/>
              <a:t>Conservation Cores</a:t>
            </a:r>
            <a:endParaRPr sz="3150"/>
          </a:p>
        </p:txBody>
      </p:sp>
      <p:sp>
        <p:nvSpPr>
          <p:cNvPr id="285" name="Google Shape;285;p40"/>
          <p:cNvSpPr txBox="1"/>
          <p:nvPr>
            <p:ph idx="1" type="body"/>
          </p:nvPr>
        </p:nvSpPr>
        <p:spPr>
          <a:xfrm>
            <a:off x="365750" y="982975"/>
            <a:ext cx="8520600" cy="27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Use c-cores for energy expensive code    	 “hot code”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loops, inner loops, frequently used functions, arithmetic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Code mustn’t change too much	    “mature code” 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Otherwise hardware is wasted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Minor code changes are adapted by the hardware	    “patched”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Ensures longer lifetime of hardware	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    </a:t>
            </a:r>
            <a:endParaRPr/>
          </a:p>
        </p:txBody>
      </p:sp>
      <p:sp>
        <p:nvSpPr>
          <p:cNvPr id="286" name="Google Shape;286;p40"/>
          <p:cNvSpPr/>
          <p:nvPr/>
        </p:nvSpPr>
        <p:spPr>
          <a:xfrm>
            <a:off x="5089149" y="1179220"/>
            <a:ext cx="326100" cy="14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6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7" name="Google Shape;287;p40"/>
          <p:cNvSpPr/>
          <p:nvPr/>
        </p:nvSpPr>
        <p:spPr>
          <a:xfrm>
            <a:off x="4328599" y="1877745"/>
            <a:ext cx="326100" cy="14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6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8" name="Google Shape;288;p40"/>
          <p:cNvSpPr/>
          <p:nvPr/>
        </p:nvSpPr>
        <p:spPr>
          <a:xfrm>
            <a:off x="6209093" y="2588047"/>
            <a:ext cx="326100" cy="14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6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1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41"/>
          <p:cNvSpPr txBox="1"/>
          <p:nvPr>
            <p:ph type="title"/>
          </p:nvPr>
        </p:nvSpPr>
        <p:spPr>
          <a:xfrm>
            <a:off x="365755" y="259075"/>
            <a:ext cx="85206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/>
              <a:t>C-c</a:t>
            </a:r>
            <a:r>
              <a:rPr lang="en" sz="3150"/>
              <a:t>ore </a:t>
            </a:r>
            <a:r>
              <a:rPr lang="en" sz="3150">
                <a:solidFill>
                  <a:schemeClr val="accent6"/>
                </a:solidFill>
              </a:rPr>
              <a:t>Example</a:t>
            </a:r>
            <a:endParaRPr sz="3150">
              <a:solidFill>
                <a:schemeClr val="accent6"/>
              </a:solidFill>
            </a:endParaRPr>
          </a:p>
        </p:txBody>
      </p:sp>
      <p:pic>
        <p:nvPicPr>
          <p:cNvPr id="295" name="Google Shape;29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81075"/>
            <a:ext cx="8839200" cy="2919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2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1" name="Google Shape;301;p42"/>
          <p:cNvSpPr txBox="1"/>
          <p:nvPr>
            <p:ph type="title"/>
          </p:nvPr>
        </p:nvSpPr>
        <p:spPr>
          <a:xfrm>
            <a:off x="365755" y="259075"/>
            <a:ext cx="85206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/>
              <a:t>C-core Enabled </a:t>
            </a:r>
            <a:r>
              <a:rPr lang="en" sz="3150">
                <a:solidFill>
                  <a:schemeClr val="accent6"/>
                </a:solidFill>
              </a:rPr>
              <a:t>System</a:t>
            </a:r>
            <a:endParaRPr sz="3150">
              <a:solidFill>
                <a:schemeClr val="accent6"/>
              </a:solidFill>
            </a:endParaRPr>
          </a:p>
        </p:txBody>
      </p:sp>
      <p:sp>
        <p:nvSpPr>
          <p:cNvPr id="302" name="Google Shape;302;p42"/>
          <p:cNvSpPr txBox="1"/>
          <p:nvPr>
            <p:ph idx="1" type="body"/>
          </p:nvPr>
        </p:nvSpPr>
        <p:spPr>
          <a:xfrm>
            <a:off x="365750" y="982975"/>
            <a:ext cx="8520600" cy="1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    </a:t>
            </a:r>
            <a:endParaRPr/>
          </a:p>
        </p:txBody>
      </p:sp>
      <p:pic>
        <p:nvPicPr>
          <p:cNvPr id="303" name="Google Shape;30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600" y="1385950"/>
            <a:ext cx="7978805" cy="2656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3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9" name="Google Shape;309;p43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Synthesis &amp; Compilation</a:t>
            </a:r>
            <a:r>
              <a:rPr lang="en"/>
              <a:t> of c-cores</a:t>
            </a:r>
            <a:endParaRPr/>
          </a:p>
        </p:txBody>
      </p:sp>
      <p:pic>
        <p:nvPicPr>
          <p:cNvPr id="310" name="Google Shape;31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300" y="1019475"/>
            <a:ext cx="7633385" cy="390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4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C-core </a:t>
            </a:r>
            <a:r>
              <a:rPr lang="en">
                <a:solidFill>
                  <a:schemeClr val="accent6"/>
                </a:solidFill>
              </a:rPr>
              <a:t>toolchain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317" name="Google Shape;31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512" y="936175"/>
            <a:ext cx="3643076" cy="39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45"/>
          <p:cNvSpPr txBox="1"/>
          <p:nvPr>
            <p:ph type="title"/>
          </p:nvPr>
        </p:nvSpPr>
        <p:spPr>
          <a:xfrm>
            <a:off x="365755" y="259075"/>
            <a:ext cx="85206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/>
              <a:t>C-core </a:t>
            </a:r>
            <a:r>
              <a:rPr lang="en" sz="3150">
                <a:solidFill>
                  <a:schemeClr val="accent6"/>
                </a:solidFill>
              </a:rPr>
              <a:t>Analogy</a:t>
            </a:r>
            <a:endParaRPr sz="3150">
              <a:solidFill>
                <a:schemeClr val="accent6"/>
              </a:solidFill>
            </a:endParaRPr>
          </a:p>
        </p:txBody>
      </p:sp>
      <p:pic>
        <p:nvPicPr>
          <p:cNvPr id="324" name="Google Shape;324;p45" title="ven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5807" y="1678500"/>
            <a:ext cx="2492379" cy="2361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5" name="Google Shape;325;p45"/>
          <p:cNvCxnSpPr/>
          <p:nvPr/>
        </p:nvCxnSpPr>
        <p:spPr>
          <a:xfrm flipH="1" rot="10800000">
            <a:off x="2853135" y="2695496"/>
            <a:ext cx="1722600" cy="511200"/>
          </a:xfrm>
          <a:prstGeom prst="straightConnector1">
            <a:avLst/>
          </a:prstGeom>
          <a:noFill/>
          <a:ln cap="flat" cmpd="sng" w="114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" name="Google Shape;326;p45"/>
          <p:cNvSpPr txBox="1"/>
          <p:nvPr/>
        </p:nvSpPr>
        <p:spPr>
          <a:xfrm>
            <a:off x="1681250" y="2916346"/>
            <a:ext cx="12276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175" lIns="110175" spcFirstLastPara="1" rIns="110175" wrap="square" tIns="11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1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c-cores</a:t>
            </a:r>
            <a:endParaRPr sz="241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6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6"/>
          <p:cNvSpPr txBox="1"/>
          <p:nvPr>
            <p:ph type="title"/>
          </p:nvPr>
        </p:nvSpPr>
        <p:spPr>
          <a:xfrm>
            <a:off x="365755" y="259075"/>
            <a:ext cx="85206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accent6"/>
                </a:solidFill>
              </a:rPr>
              <a:t>Function per EDP</a:t>
            </a:r>
            <a:r>
              <a:rPr lang="en" sz="3150"/>
              <a:t> Results</a:t>
            </a:r>
            <a:endParaRPr sz="3150"/>
          </a:p>
        </p:txBody>
      </p:sp>
      <p:sp>
        <p:nvSpPr>
          <p:cNvPr id="333" name="Google Shape;333;p46"/>
          <p:cNvSpPr txBox="1"/>
          <p:nvPr>
            <p:ph idx="1" type="body"/>
          </p:nvPr>
        </p:nvSpPr>
        <p:spPr>
          <a:xfrm>
            <a:off x="365750" y="982975"/>
            <a:ext cx="8520600" cy="1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    </a:t>
            </a:r>
            <a:endParaRPr/>
          </a:p>
        </p:txBody>
      </p:sp>
      <p:pic>
        <p:nvPicPr>
          <p:cNvPr id="334" name="Google Shape;33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75" y="1349775"/>
            <a:ext cx="8051726" cy="302477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6"/>
          <p:cNvSpPr/>
          <p:nvPr/>
        </p:nvSpPr>
        <p:spPr>
          <a:xfrm>
            <a:off x="1192825" y="1105875"/>
            <a:ext cx="6358200" cy="49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1" name="Google Shape;341;p47"/>
          <p:cNvSpPr txBox="1"/>
          <p:nvPr>
            <p:ph type="title"/>
          </p:nvPr>
        </p:nvSpPr>
        <p:spPr>
          <a:xfrm>
            <a:off x="365755" y="259075"/>
            <a:ext cx="85206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accent6"/>
                </a:solidFill>
              </a:rPr>
              <a:t>Speedup</a:t>
            </a:r>
            <a:r>
              <a:rPr lang="en" sz="3150"/>
              <a:t> Results</a:t>
            </a:r>
            <a:endParaRPr sz="3150"/>
          </a:p>
        </p:txBody>
      </p:sp>
      <p:sp>
        <p:nvSpPr>
          <p:cNvPr id="342" name="Google Shape;342;p47"/>
          <p:cNvSpPr txBox="1"/>
          <p:nvPr>
            <p:ph idx="1" type="body"/>
          </p:nvPr>
        </p:nvSpPr>
        <p:spPr>
          <a:xfrm>
            <a:off x="365750" y="982975"/>
            <a:ext cx="8520600" cy="1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    </a:t>
            </a:r>
            <a:endParaRPr/>
          </a:p>
        </p:txBody>
      </p:sp>
      <p:sp>
        <p:nvSpPr>
          <p:cNvPr id="343" name="Google Shape;343;p47"/>
          <p:cNvSpPr/>
          <p:nvPr/>
        </p:nvSpPr>
        <p:spPr>
          <a:xfrm>
            <a:off x="1192825" y="1105875"/>
            <a:ext cx="6358200" cy="49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44" name="Google Shape;34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600" y="1467450"/>
            <a:ext cx="7978808" cy="28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8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0" name="Google Shape;350;p48"/>
          <p:cNvSpPr txBox="1"/>
          <p:nvPr>
            <p:ph type="title"/>
          </p:nvPr>
        </p:nvSpPr>
        <p:spPr>
          <a:xfrm>
            <a:off x="365755" y="259075"/>
            <a:ext cx="85206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accent6"/>
                </a:solidFill>
              </a:rPr>
              <a:t>Effectiveness over Time</a:t>
            </a:r>
            <a:r>
              <a:rPr lang="en" sz="3150"/>
              <a:t> </a:t>
            </a:r>
            <a:r>
              <a:rPr lang="en" sz="3150"/>
              <a:t>Results</a:t>
            </a:r>
            <a:endParaRPr sz="3150"/>
          </a:p>
        </p:txBody>
      </p:sp>
      <p:sp>
        <p:nvSpPr>
          <p:cNvPr id="351" name="Google Shape;351;p48"/>
          <p:cNvSpPr txBox="1"/>
          <p:nvPr>
            <p:ph idx="1" type="body"/>
          </p:nvPr>
        </p:nvSpPr>
        <p:spPr>
          <a:xfrm>
            <a:off x="365750" y="982975"/>
            <a:ext cx="8520600" cy="1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    </a:t>
            </a:r>
            <a:endParaRPr/>
          </a:p>
        </p:txBody>
      </p:sp>
      <p:sp>
        <p:nvSpPr>
          <p:cNvPr id="352" name="Google Shape;352;p48"/>
          <p:cNvSpPr/>
          <p:nvPr/>
        </p:nvSpPr>
        <p:spPr>
          <a:xfrm>
            <a:off x="1192825" y="1105875"/>
            <a:ext cx="6358200" cy="49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53" name="Google Shape;35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000" y="928675"/>
            <a:ext cx="3469525" cy="389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9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9" name="Google Shape;359;p49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360" name="Google Shape;360;p49"/>
          <p:cNvSpPr txBox="1"/>
          <p:nvPr>
            <p:ph idx="1" type="body"/>
          </p:nvPr>
        </p:nvSpPr>
        <p:spPr>
          <a:xfrm>
            <a:off x="365750" y="982975"/>
            <a:ext cx="8520600" cy="24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Best suited for mature/slowly evolving hot-code; </a:t>
            </a:r>
            <a:r>
              <a:rPr lang="en">
                <a:solidFill>
                  <a:schemeClr val="accent6"/>
                </a:solidFill>
              </a:rPr>
              <a:t>fast-changing code reduces value</a:t>
            </a:r>
            <a:endParaRPr>
              <a:solidFill>
                <a:schemeClr val="accent6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Extra specialized cores increase design + </a:t>
            </a:r>
            <a:r>
              <a:rPr lang="en">
                <a:solidFill>
                  <a:schemeClr val="accent6"/>
                </a:solidFill>
              </a:rPr>
              <a:t>verification complexity</a:t>
            </a:r>
            <a:r>
              <a:rPr lang="en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>
                <a:solidFill>
                  <a:schemeClr val="accent6"/>
                </a:solidFill>
              </a:rPr>
              <a:t>Less efficient than full ASIC</a:t>
            </a:r>
            <a:r>
              <a:rPr lang="en"/>
              <a:t> accelerators due to patchability/generalization overhead.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0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6" name="Google Shape;366;p50"/>
          <p:cNvSpPr txBox="1"/>
          <p:nvPr>
            <p:ph type="ctrTitle"/>
          </p:nvPr>
        </p:nvSpPr>
        <p:spPr>
          <a:xfrm>
            <a:off x="320050" y="1828800"/>
            <a:ext cx="8520600" cy="9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51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- </a:t>
            </a:r>
            <a:r>
              <a:rPr lang="en">
                <a:solidFill>
                  <a:schemeClr val="accent6"/>
                </a:solidFill>
              </a:rPr>
              <a:t>General vs Domain-Specific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73" name="Google Shape;373;p51"/>
          <p:cNvSpPr txBox="1"/>
          <p:nvPr>
            <p:ph idx="1" type="body"/>
          </p:nvPr>
        </p:nvSpPr>
        <p:spPr>
          <a:xfrm>
            <a:off x="365750" y="982975"/>
            <a:ext cx="8520600" cy="3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“Should we try to reduce dark silicon at any cost or should we embrace it by spawning multiple accelerators?” </a:t>
            </a:r>
            <a:r>
              <a:rPr lang="en">
                <a:solidFill>
                  <a:schemeClr val="accent6"/>
                </a:solidFill>
              </a:rPr>
              <a:t>- Ferran Hermida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“Where do we draw the line between c-cores and the sea of accelerators design?” </a:t>
            </a:r>
            <a:r>
              <a:rPr lang="en">
                <a:solidFill>
                  <a:schemeClr val="accent6"/>
                </a:solidFill>
              </a:rPr>
              <a:t>-</a:t>
            </a:r>
            <a:r>
              <a:rPr lang="en"/>
              <a:t> </a:t>
            </a:r>
            <a:r>
              <a:rPr lang="en">
                <a:solidFill>
                  <a:schemeClr val="accent6"/>
                </a:solidFill>
              </a:rPr>
              <a:t>Angela Yue Cui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“How robust are c-cores to software changes, and up to what point do you think it would be better to just design domain-specific chips?” </a:t>
            </a:r>
            <a:r>
              <a:rPr lang="en">
                <a:solidFill>
                  <a:schemeClr val="accent6"/>
                </a:solidFill>
              </a:rPr>
              <a:t>- Tofic Esses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“To what extent does specialization reduce total system cost once engineering complexity and software support are considered?”</a:t>
            </a:r>
            <a:r>
              <a:rPr lang="en">
                <a:solidFill>
                  <a:schemeClr val="accent6"/>
                </a:solidFill>
              </a:rPr>
              <a:t> - Jiaqi Huang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2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52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- </a:t>
            </a:r>
            <a:r>
              <a:rPr lang="en">
                <a:solidFill>
                  <a:schemeClr val="accent6"/>
                </a:solidFill>
              </a:rPr>
              <a:t>Area Compromise</a:t>
            </a:r>
            <a:endParaRPr/>
          </a:p>
        </p:txBody>
      </p:sp>
      <p:sp>
        <p:nvSpPr>
          <p:cNvPr id="380" name="Google Shape;380;p52"/>
          <p:cNvSpPr txBox="1"/>
          <p:nvPr>
            <p:ph idx="1" type="body"/>
          </p:nvPr>
        </p:nvSpPr>
        <p:spPr>
          <a:xfrm>
            <a:off x="365750" y="982975"/>
            <a:ext cx="8520600" cy="20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“Will further development in c-core cause an issue on area?” </a:t>
            </a:r>
            <a:r>
              <a:rPr lang="en">
                <a:solidFill>
                  <a:schemeClr val="accent6"/>
                </a:solidFill>
              </a:rPr>
              <a:t>- Shengmin Liu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3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p53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- </a:t>
            </a:r>
            <a:r>
              <a:rPr lang="en">
                <a:solidFill>
                  <a:schemeClr val="accent6"/>
                </a:solidFill>
              </a:rPr>
              <a:t>Area Compromise</a:t>
            </a:r>
            <a:endParaRPr/>
          </a:p>
        </p:txBody>
      </p:sp>
      <p:sp>
        <p:nvSpPr>
          <p:cNvPr id="387" name="Google Shape;387;p53"/>
          <p:cNvSpPr txBox="1"/>
          <p:nvPr>
            <p:ph idx="1" type="body"/>
          </p:nvPr>
        </p:nvSpPr>
        <p:spPr>
          <a:xfrm>
            <a:off x="365750" y="982975"/>
            <a:ext cx="8520600" cy="28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“Will further development in c-core cause an issue on area?” </a:t>
            </a:r>
            <a:r>
              <a:rPr lang="en">
                <a:solidFill>
                  <a:schemeClr val="accent6"/>
                </a:solidFill>
              </a:rPr>
              <a:t>- Shengmin Liu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Section 7.2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“Patching support increases the area requirements of c-cores by 89% on average.”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88" name="Google Shape;38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7850" y="3388250"/>
            <a:ext cx="3566199" cy="145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53"/>
          <p:cNvSpPr txBox="1"/>
          <p:nvPr/>
        </p:nvSpPr>
        <p:spPr>
          <a:xfrm>
            <a:off x="4176650" y="2988050"/>
            <a:ext cx="158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Non-patchable</a:t>
            </a:r>
            <a:endParaRPr sz="17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90" name="Google Shape;390;p53"/>
          <p:cNvSpPr txBox="1"/>
          <p:nvPr/>
        </p:nvSpPr>
        <p:spPr>
          <a:xfrm>
            <a:off x="6179400" y="2988050"/>
            <a:ext cx="158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patchable</a:t>
            </a:r>
            <a:endParaRPr sz="17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4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54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- </a:t>
            </a:r>
            <a:r>
              <a:rPr lang="en">
                <a:solidFill>
                  <a:schemeClr val="accent6"/>
                </a:solidFill>
              </a:rPr>
              <a:t>The Dark Si Future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97" name="Google Shape;397;p54"/>
          <p:cNvSpPr txBox="1"/>
          <p:nvPr>
            <p:ph idx="1" type="body"/>
          </p:nvPr>
        </p:nvSpPr>
        <p:spPr>
          <a:xfrm>
            <a:off x="365750" y="982975"/>
            <a:ext cx="8520600" cy="17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/>
              <a:t>Should future chips be designed assuming that only a fraction of hardware is active at any time?” - </a:t>
            </a:r>
            <a:r>
              <a:rPr lang="en">
                <a:solidFill>
                  <a:schemeClr val="accent6"/>
                </a:solidFill>
              </a:rPr>
              <a:t>Shengmin Liu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“What is your vision to tackle dark silicon while improving performance and energy efficiency?” - </a:t>
            </a:r>
            <a:r>
              <a:rPr lang="en">
                <a:solidFill>
                  <a:schemeClr val="accent6"/>
                </a:solidFill>
              </a:rPr>
              <a:t>Tofic Esses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5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55"/>
          <p:cNvSpPr txBox="1"/>
          <p:nvPr>
            <p:ph type="title"/>
          </p:nvPr>
        </p:nvSpPr>
        <p:spPr>
          <a:xfrm>
            <a:off x="365755" y="259075"/>
            <a:ext cx="8520600" cy="11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could we (did we) do about dark silicon after these papers?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6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Dark Silicon in 2026</a:t>
            </a:r>
            <a:endParaRPr/>
          </a:p>
        </p:txBody>
      </p:sp>
      <p:sp>
        <p:nvSpPr>
          <p:cNvPr id="409" name="Google Shape;409;p56"/>
          <p:cNvSpPr txBox="1"/>
          <p:nvPr>
            <p:ph idx="1" type="body"/>
          </p:nvPr>
        </p:nvSpPr>
        <p:spPr>
          <a:xfrm>
            <a:off x="365750" y="982975"/>
            <a:ext cx="4675800" cy="8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Here are some die shots of contemporary processors. Where is the dark si?</a:t>
            </a:r>
            <a:endParaRPr/>
          </a:p>
        </p:txBody>
      </p:sp>
      <p:sp>
        <p:nvSpPr>
          <p:cNvPr id="410" name="Google Shape;410;p56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1" name="Google Shape;41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3375" y="131550"/>
            <a:ext cx="3150586" cy="480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650" y="1829575"/>
            <a:ext cx="3685823" cy="3161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7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8" name="Google Shape;418;p57"/>
          <p:cNvSpPr txBox="1"/>
          <p:nvPr>
            <p:ph type="title"/>
          </p:nvPr>
        </p:nvSpPr>
        <p:spPr>
          <a:xfrm>
            <a:off x="365750" y="259075"/>
            <a:ext cx="86244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“Is Dark Silicon Useful? </a:t>
            </a:r>
            <a:r>
              <a:rPr lang="en" sz="3000"/>
              <a:t>Harnessing the Four Horsemen of the Coming Dark Silicon Apocalypse”</a:t>
            </a:r>
            <a:endParaRPr sz="3000"/>
          </a:p>
        </p:txBody>
      </p:sp>
      <p:sp>
        <p:nvSpPr>
          <p:cNvPr id="419" name="Google Shape;419;p57"/>
          <p:cNvSpPr txBox="1"/>
          <p:nvPr>
            <p:ph idx="1" type="body"/>
          </p:nvPr>
        </p:nvSpPr>
        <p:spPr>
          <a:xfrm>
            <a:off x="365750" y="1552475"/>
            <a:ext cx="8401500" cy="24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Shrink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Dim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Specialize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Change (at device level)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AutoNum type="arabicPeriod"/>
            </a:pPr>
            <a:r>
              <a:rPr lang="en">
                <a:solidFill>
                  <a:schemeClr val="accent6"/>
                </a:solidFill>
              </a:rPr>
              <a:t>Better cooling?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Which of these do we see?</a:t>
            </a:r>
            <a:endParaRPr/>
          </a:p>
        </p:txBody>
      </p:sp>
      <p:sp>
        <p:nvSpPr>
          <p:cNvPr id="420" name="Google Shape;420;p57"/>
          <p:cNvSpPr txBox="1"/>
          <p:nvPr/>
        </p:nvSpPr>
        <p:spPr>
          <a:xfrm>
            <a:off x="246650" y="4681172"/>
            <a:ext cx="8520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M. B. Taylor, "Is dark silicon useful? Harnessing the four horsemen of the coming dark silicon apocalypse," DAC Design Automation Conference 2012, San Francisco, CA, USA, 2012, pp. 1131-1136.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8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6" name="Google Shape;426;p58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Dark Silicon </a:t>
            </a:r>
            <a:r>
              <a:rPr lang="en" strike="sngStrike"/>
              <a:t>Useful</a:t>
            </a:r>
            <a:r>
              <a:rPr lang="en"/>
              <a:t> Acceptable?</a:t>
            </a:r>
            <a:endParaRPr/>
          </a:p>
        </p:txBody>
      </p:sp>
      <p:sp>
        <p:nvSpPr>
          <p:cNvPr id="427" name="Google Shape;427;p58"/>
          <p:cNvSpPr txBox="1"/>
          <p:nvPr>
            <p:ph idx="1" type="body"/>
          </p:nvPr>
        </p:nvSpPr>
        <p:spPr>
          <a:xfrm>
            <a:off x="371250" y="936175"/>
            <a:ext cx="8401500" cy="42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Dim ( + better cooling):</a:t>
            </a:r>
            <a:br>
              <a:rPr lang="en"/>
            </a:br>
            <a:r>
              <a:rPr lang="en"/>
              <a:t>Base vs Boost clocks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Specialize: “</a:t>
            </a:r>
            <a:r>
              <a:rPr b="1" lang="en" sz="145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The CPUs in modern [mobile] SoCs… occupy only a small percentage of the die area. The rest of the SoC is committed to a potpourri of different accelerators, such as the DSP, GPU, ISP, NPU, video, and audio codecs.” </a:t>
            </a:r>
            <a:endParaRPr b="1" sz="145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5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Reddi &amp; Hill, Communications of the ACM, 2021</a:t>
            </a:r>
            <a:endParaRPr sz="1500"/>
          </a:p>
        </p:txBody>
      </p:sp>
      <p:pic>
        <p:nvPicPr>
          <p:cNvPr id="428" name="Google Shape;42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3975" y="936175"/>
            <a:ext cx="5104214" cy="186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738" y="2862225"/>
            <a:ext cx="8623898" cy="82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9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Multicore Scaling after this Paper</a:t>
            </a:r>
            <a:endParaRPr/>
          </a:p>
        </p:txBody>
      </p:sp>
      <p:sp>
        <p:nvSpPr>
          <p:cNvPr id="435" name="Google Shape;435;p59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6" name="Google Shape;43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063" y="936175"/>
            <a:ext cx="6427887" cy="397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0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2" name="Google Shape;442;p60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- </a:t>
            </a:r>
            <a:r>
              <a:rPr lang="en">
                <a:solidFill>
                  <a:schemeClr val="accent6"/>
                </a:solidFill>
              </a:rPr>
              <a:t>Extra Power</a:t>
            </a:r>
            <a:endParaRPr/>
          </a:p>
        </p:txBody>
      </p:sp>
      <p:sp>
        <p:nvSpPr>
          <p:cNvPr id="443" name="Google Shape;443;p60"/>
          <p:cNvSpPr txBox="1"/>
          <p:nvPr>
            <p:ph idx="1" type="body"/>
          </p:nvPr>
        </p:nvSpPr>
        <p:spPr>
          <a:xfrm>
            <a:off x="365750" y="982975"/>
            <a:ext cx="8520600" cy="18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“How do the authors plan to use the extra power budget they have won by reducing the energy/instruction ratio?” </a:t>
            </a:r>
            <a:r>
              <a:rPr lang="en">
                <a:solidFill>
                  <a:schemeClr val="accent6"/>
                </a:solidFill>
              </a:rPr>
              <a:t>- Ferran Hermida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1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61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- </a:t>
            </a:r>
            <a:r>
              <a:rPr lang="en">
                <a:solidFill>
                  <a:schemeClr val="accent6"/>
                </a:solidFill>
              </a:rPr>
              <a:t>Extra Power</a:t>
            </a:r>
            <a:endParaRPr/>
          </a:p>
        </p:txBody>
      </p:sp>
      <p:sp>
        <p:nvSpPr>
          <p:cNvPr id="450" name="Google Shape;450;p61"/>
          <p:cNvSpPr txBox="1"/>
          <p:nvPr>
            <p:ph idx="1" type="body"/>
          </p:nvPr>
        </p:nvSpPr>
        <p:spPr>
          <a:xfrm>
            <a:off x="365750" y="982975"/>
            <a:ext cx="8520600" cy="30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“How do the authors plan to use the extra power budget they have won by reducing the energy/instruction ratio?” </a:t>
            </a:r>
            <a:r>
              <a:rPr lang="en">
                <a:solidFill>
                  <a:schemeClr val="accent6"/>
                </a:solidFill>
              </a:rPr>
              <a:t>- Ferran Hermida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Abstract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“In this regime, specialized, energy-efficient processors can increase </a:t>
            </a:r>
            <a:r>
              <a:rPr lang="en" u="sng"/>
              <a:t>parallelism</a:t>
            </a:r>
            <a:r>
              <a:rPr lang="en"/>
              <a:t> by reducing the per-computation power requirements and allowing more computations to execute under the same power budget.”</a:t>
            </a:r>
            <a:endParaRPr/>
          </a:p>
        </p:txBody>
      </p:sp>
      <p:sp>
        <p:nvSpPr>
          <p:cNvPr id="451" name="Google Shape;451;p61"/>
          <p:cNvSpPr/>
          <p:nvPr/>
        </p:nvSpPr>
        <p:spPr>
          <a:xfrm>
            <a:off x="39649" y="3014670"/>
            <a:ext cx="326100" cy="14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6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2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7" name="Google Shape;457;p62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- </a:t>
            </a:r>
            <a:r>
              <a:rPr lang="en">
                <a:solidFill>
                  <a:schemeClr val="accent6"/>
                </a:solidFill>
              </a:rPr>
              <a:t>Sustainability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58" name="Google Shape;458;p62"/>
          <p:cNvSpPr txBox="1"/>
          <p:nvPr>
            <p:ph idx="1" type="body"/>
          </p:nvPr>
        </p:nvSpPr>
        <p:spPr>
          <a:xfrm>
            <a:off x="365750" y="982975"/>
            <a:ext cx="85206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“‘Conservation cores’ implies concern over environmental impact of computing. Are conservation cores the most </a:t>
            </a:r>
            <a:r>
              <a:rPr i="1" lang="en"/>
              <a:t>sustainable</a:t>
            </a:r>
            <a:r>
              <a:rPr lang="en"/>
              <a:t> way to move forward in the dark silicon era?” - </a:t>
            </a:r>
            <a:r>
              <a:rPr lang="en">
                <a:solidFill>
                  <a:schemeClr val="accent6"/>
                </a:solidFill>
              </a:rPr>
              <a:t>Jack Toubes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3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4" name="Google Shape;464;p63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Carbon Footprint of a Processor</a:t>
            </a:r>
            <a:endParaRPr/>
          </a:p>
        </p:txBody>
      </p:sp>
      <p:pic>
        <p:nvPicPr>
          <p:cNvPr id="465" name="Google Shape;46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19450"/>
            <a:ext cx="8839199" cy="2574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4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1" name="Google Shape;471;p64"/>
          <p:cNvSpPr txBox="1"/>
          <p:nvPr>
            <p:ph type="title"/>
          </p:nvPr>
        </p:nvSpPr>
        <p:spPr>
          <a:xfrm>
            <a:off x="365755" y="259075"/>
            <a:ext cx="8520600" cy="11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 “conservation” cores carbon efficient?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 accelerators?</a:t>
            </a:r>
            <a:endParaRPr/>
          </a:p>
        </p:txBody>
      </p:sp>
      <p:pic>
        <p:nvPicPr>
          <p:cNvPr id="472" name="Google Shape;47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713" y="1344050"/>
            <a:ext cx="7841173" cy="328422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64"/>
          <p:cNvSpPr txBox="1"/>
          <p:nvPr/>
        </p:nvSpPr>
        <p:spPr>
          <a:xfrm>
            <a:off x="365750" y="4680575"/>
            <a:ext cx="814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E. Brunvand, D. Kline and A. K. Jones, "Dark Silicon Considered Harmful: A Case for Truly Green Computing," 2018 Ninth International Green and Sustainable Computing Conference (IGSC), Pittsburgh, PA, USA, 2018, pp. 1-8, doi: 10.1109/IGCC.2018.8752110.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5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9" name="Google Shape;479;p65"/>
          <p:cNvSpPr txBox="1"/>
          <p:nvPr>
            <p:ph type="title"/>
          </p:nvPr>
        </p:nvSpPr>
        <p:spPr>
          <a:xfrm>
            <a:off x="365755" y="259075"/>
            <a:ext cx="8520600" cy="11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FPGA acceleration?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CGRA acceleration?</a:t>
            </a:r>
            <a:endParaRPr/>
          </a:p>
        </p:txBody>
      </p:sp>
      <p:pic>
        <p:nvPicPr>
          <p:cNvPr id="480" name="Google Shape;48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1581500"/>
            <a:ext cx="4259376" cy="259004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65"/>
          <p:cNvSpPr txBox="1"/>
          <p:nvPr/>
        </p:nvSpPr>
        <p:spPr>
          <a:xfrm>
            <a:off x="365750" y="4680575"/>
            <a:ext cx="408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Udit Gupta et al., ACT, ISCA, 2022</a:t>
            </a:r>
            <a:endParaRPr/>
          </a:p>
        </p:txBody>
      </p:sp>
      <p:pic>
        <p:nvPicPr>
          <p:cNvPr id="482" name="Google Shape;482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8325" y="2021126"/>
            <a:ext cx="4259377" cy="12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65"/>
          <p:cNvSpPr txBox="1"/>
          <p:nvPr/>
        </p:nvSpPr>
        <p:spPr>
          <a:xfrm>
            <a:off x="4793375" y="4733750"/>
            <a:ext cx="408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Pranav Dangi et al., Sustainable HW Specialization, ICCAD, 2024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6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9" name="Google Shape;489;p66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- </a:t>
            </a:r>
            <a:r>
              <a:rPr lang="en">
                <a:solidFill>
                  <a:schemeClr val="accent6"/>
                </a:solidFill>
              </a:rPr>
              <a:t>ISA Change</a:t>
            </a:r>
            <a:endParaRPr/>
          </a:p>
        </p:txBody>
      </p:sp>
      <p:sp>
        <p:nvSpPr>
          <p:cNvPr id="490" name="Google Shape;490;p66"/>
          <p:cNvSpPr txBox="1"/>
          <p:nvPr>
            <p:ph idx="1" type="body"/>
          </p:nvPr>
        </p:nvSpPr>
        <p:spPr>
          <a:xfrm>
            <a:off x="365750" y="982975"/>
            <a:ext cx="8520600" cy="30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 would be interested to have a quantification of the overhead of a context switch from CPU to c-core.” “Did [scan chain access] necessitate an ISA change? Could scan chain access have been performed with memory mapped io?” </a:t>
            </a:r>
            <a:r>
              <a:rPr lang="en">
                <a:solidFill>
                  <a:schemeClr val="accent6"/>
                </a:solidFill>
              </a:rPr>
              <a:t>- Jack Toubes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7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6" name="Google Shape;496;p67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- </a:t>
            </a:r>
            <a:r>
              <a:rPr lang="en">
                <a:solidFill>
                  <a:schemeClr val="accent6"/>
                </a:solidFill>
              </a:rPr>
              <a:t>ISA Change</a:t>
            </a:r>
            <a:endParaRPr/>
          </a:p>
        </p:txBody>
      </p:sp>
      <p:sp>
        <p:nvSpPr>
          <p:cNvPr id="497" name="Google Shape;497;p67"/>
          <p:cNvSpPr txBox="1"/>
          <p:nvPr>
            <p:ph idx="1" type="body"/>
          </p:nvPr>
        </p:nvSpPr>
        <p:spPr>
          <a:xfrm>
            <a:off x="365750" y="982975"/>
            <a:ext cx="8520600" cy="49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 would be interested to have a quantification of the overhead of a context switch from CPU to c-core.” “Did [scan chain access] necessitate an ISA change? Could scan chain access have been performed with memory mapped io?” </a:t>
            </a:r>
            <a:r>
              <a:rPr lang="en">
                <a:solidFill>
                  <a:schemeClr val="accent6"/>
                </a:solidFill>
              </a:rPr>
              <a:t>- Jack Toubes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Section 4.2 </a:t>
            </a:r>
            <a:r>
              <a:rPr lang="en"/>
              <a:t>Regarding</a:t>
            </a:r>
            <a:r>
              <a:rPr b="1" lang="en"/>
              <a:t> </a:t>
            </a:r>
            <a:r>
              <a:rPr lang="en"/>
              <a:t>datapath scan chains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To access the interface, the </a:t>
            </a:r>
            <a:r>
              <a:rPr lang="en" sz="1600" u="sng"/>
              <a:t>CPU provides three new instructions</a:t>
            </a:r>
            <a:r>
              <a:rPr lang="en" sz="1600"/>
              <a:t>: Move-From-ScanChain (MFSC), Move-To-ScanChain (MTSC), and ScanChain-Rotate-Left (SCRL). MFSC moves the 32 bits at the head of a scan chain into a general purpose processor register, and MTSC does the reverse. SCRL rotates a scan chain left by n bits. SCRL executes asynchronously but MFSC and MTSC have blocking semantics: They will wait for previously issued SCRLs on a scan chain to finish before returning a value from that scan chain.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8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3" name="Google Shape;503;p68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- </a:t>
            </a:r>
            <a:r>
              <a:rPr lang="en">
                <a:solidFill>
                  <a:schemeClr val="accent6"/>
                </a:solidFill>
              </a:rPr>
              <a:t>c-core vs chiplets, near mem proc. </a:t>
            </a:r>
            <a:endParaRPr/>
          </a:p>
        </p:txBody>
      </p:sp>
      <p:sp>
        <p:nvSpPr>
          <p:cNvPr id="504" name="Google Shape;504;p68"/>
          <p:cNvSpPr txBox="1"/>
          <p:nvPr>
            <p:ph idx="1" type="body"/>
          </p:nvPr>
        </p:nvSpPr>
        <p:spPr>
          <a:xfrm>
            <a:off x="365750" y="982975"/>
            <a:ext cx="8520600" cy="23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“How does the c-core philosophy compare to modern chiplet-based specialization or near-memory processing?” </a:t>
            </a:r>
            <a:r>
              <a:rPr lang="en">
                <a:solidFill>
                  <a:schemeClr val="accent6"/>
                </a:solidFill>
              </a:rPr>
              <a:t>- Jiaqi Huang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05" name="Google Shape;50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325" y="2230250"/>
            <a:ext cx="2892150" cy="228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9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69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- </a:t>
            </a:r>
            <a:r>
              <a:rPr lang="en">
                <a:solidFill>
                  <a:schemeClr val="accent6"/>
                </a:solidFill>
              </a:rPr>
              <a:t>Packaging and Power Density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512" name="Google Shape;512;p69"/>
          <p:cNvPicPr preferRelativeResize="0"/>
          <p:nvPr/>
        </p:nvPicPr>
        <p:blipFill rotWithShape="1">
          <a:blip r:embed="rId3">
            <a:alphaModFix/>
          </a:blip>
          <a:srcRect b="0" l="0" r="54560" t="0"/>
          <a:stretch/>
        </p:blipFill>
        <p:spPr>
          <a:xfrm>
            <a:off x="4711018" y="936175"/>
            <a:ext cx="3617249" cy="390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9"/>
          <p:cNvPicPr preferRelativeResize="0"/>
          <p:nvPr/>
        </p:nvPicPr>
        <p:blipFill rotWithShape="1">
          <a:blip r:embed="rId4">
            <a:alphaModFix/>
          </a:blip>
          <a:srcRect b="32396" l="0" r="0" t="0"/>
          <a:stretch/>
        </p:blipFill>
        <p:spPr>
          <a:xfrm>
            <a:off x="128375" y="1806250"/>
            <a:ext cx="4406225" cy="169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0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9" name="Google Shape;519;p70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- </a:t>
            </a:r>
            <a:r>
              <a:rPr lang="en">
                <a:solidFill>
                  <a:schemeClr val="accent6"/>
                </a:solidFill>
              </a:rPr>
              <a:t>OoO c-cores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20" name="Google Shape;520;p70"/>
          <p:cNvSpPr txBox="1"/>
          <p:nvPr>
            <p:ph idx="1" type="body"/>
          </p:nvPr>
        </p:nvSpPr>
        <p:spPr>
          <a:xfrm>
            <a:off x="365750" y="982975"/>
            <a:ext cx="8520600" cy="8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“Could out-of-order execution techniques be incorporated into c-cores without losing their energy advantage?” </a:t>
            </a:r>
            <a:r>
              <a:rPr lang="en">
                <a:solidFill>
                  <a:schemeClr val="accent6"/>
                </a:solidFill>
              </a:rPr>
              <a:t>- Shengmin Liu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1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6" name="Google Shape;526;p71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- </a:t>
            </a:r>
            <a:r>
              <a:rPr lang="en">
                <a:solidFill>
                  <a:schemeClr val="accent6"/>
                </a:solidFill>
              </a:rPr>
              <a:t>Wimpy Cores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27" name="Google Shape;527;p71"/>
          <p:cNvSpPr txBox="1"/>
          <p:nvPr>
            <p:ph idx="1" type="body"/>
          </p:nvPr>
        </p:nvSpPr>
        <p:spPr>
          <a:xfrm>
            <a:off x="365750" y="982975"/>
            <a:ext cx="8520600" cy="38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/>
              <a:t>How would a Wimpy core strategy behave instead of this and what would be the limits of improvement if any?”</a:t>
            </a:r>
            <a:r>
              <a:rPr lang="en"/>
              <a:t> </a:t>
            </a:r>
            <a:r>
              <a:rPr lang="en">
                <a:solidFill>
                  <a:schemeClr val="accent6"/>
                </a:solidFill>
              </a:rPr>
              <a:t>- Ferran Hermida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V. Gupta and K. Schwan, "Brawny vs. Wimpy: Evaluation and Analysis of Modern Workloads on Heterogeneous Processors," </a:t>
            </a:r>
            <a:r>
              <a:rPr i="1" lang="en" sz="10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2013 IEEE International Symposium on Parallel &amp; Distributed Processing, Workshops and Phd Forum</a:t>
            </a:r>
            <a:r>
              <a:rPr lang="en" sz="10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Cambridge, MA, USA, 2013, pp. 74-83, doi: 10.1109/IPDPSW.2013.130.</a:t>
            </a:r>
            <a:endParaRPr sz="10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keywords: {Program processors;Performance evaluation;Multicore processing;Servers;Benchmark testing;Browsers;Mobile handsets},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2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3" name="Google Shape;533;p72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- </a:t>
            </a:r>
            <a:r>
              <a:rPr lang="en">
                <a:solidFill>
                  <a:schemeClr val="accent6"/>
                </a:solidFill>
              </a:rPr>
              <a:t>Anything Else?</a:t>
            </a:r>
            <a:endParaRPr>
              <a:solidFill>
                <a:schemeClr val="accent6"/>
              </a:solidFill>
              <a:highlight>
                <a:schemeClr val="accent6"/>
              </a:highlight>
            </a:endParaRPr>
          </a:p>
        </p:txBody>
      </p:sp>
      <p:sp>
        <p:nvSpPr>
          <p:cNvPr id="534" name="Google Shape;534;p72"/>
          <p:cNvSpPr txBox="1"/>
          <p:nvPr>
            <p:ph idx="1" type="body"/>
          </p:nvPr>
        </p:nvSpPr>
        <p:spPr>
          <a:xfrm>
            <a:off x="365750" y="982975"/>
            <a:ext cx="85206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Any pressing questions or perspectives you would like to share?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3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0" name="Google Shape;540;p73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541" name="Google Shape;541;p73"/>
          <p:cNvSpPr txBox="1"/>
          <p:nvPr>
            <p:ph idx="1" type="body"/>
          </p:nvPr>
        </p:nvSpPr>
        <p:spPr>
          <a:xfrm>
            <a:off x="365750" y="982975"/>
            <a:ext cx="85206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Thank you for your attention and participation in the discussion!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4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7" name="Google Shape;547;p74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Backups / Extras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5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3" name="Google Shape;553;p75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A story told by 2 graphs  (1)</a:t>
            </a:r>
            <a:endParaRPr/>
          </a:p>
        </p:txBody>
      </p:sp>
      <p:pic>
        <p:nvPicPr>
          <p:cNvPr id="554" name="Google Shape;554;p75"/>
          <p:cNvPicPr preferRelativeResize="0"/>
          <p:nvPr/>
        </p:nvPicPr>
        <p:blipFill rotWithShape="1">
          <a:blip r:embed="rId3">
            <a:alphaModFix/>
          </a:blip>
          <a:srcRect b="3438" l="0" r="0" t="0"/>
          <a:stretch/>
        </p:blipFill>
        <p:spPr>
          <a:xfrm>
            <a:off x="1584675" y="1030600"/>
            <a:ext cx="5974675" cy="376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75"/>
          <p:cNvSpPr/>
          <p:nvPr/>
        </p:nvSpPr>
        <p:spPr>
          <a:xfrm>
            <a:off x="6411150" y="4587025"/>
            <a:ext cx="189425" cy="422575"/>
          </a:xfrm>
          <a:custGeom>
            <a:rect b="b" l="l" r="r" t="t"/>
            <a:pathLst>
              <a:path extrusionOk="0" h="16903" w="7577">
                <a:moveTo>
                  <a:pt x="0" y="16903"/>
                </a:moveTo>
                <a:cubicBezTo>
                  <a:pt x="6054" y="15690"/>
                  <a:pt x="7577" y="6175"/>
                  <a:pt x="7577" y="0"/>
                </a:cubicBezTo>
              </a:path>
            </a:pathLst>
          </a:cu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556" name="Google Shape;556;p75"/>
          <p:cNvSpPr txBox="1"/>
          <p:nvPr/>
        </p:nvSpPr>
        <p:spPr>
          <a:xfrm>
            <a:off x="5049325" y="4725325"/>
            <a:ext cx="14427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We are here</a:t>
            </a:r>
            <a:endParaRPr sz="20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6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2" name="Google Shape;562;p76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A story told by 2 graphs (2)</a:t>
            </a:r>
            <a:endParaRPr/>
          </a:p>
        </p:txBody>
      </p:sp>
      <p:pic>
        <p:nvPicPr>
          <p:cNvPr id="563" name="Google Shape;56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875" y="1009500"/>
            <a:ext cx="6244251" cy="388355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76"/>
          <p:cNvSpPr/>
          <p:nvPr/>
        </p:nvSpPr>
        <p:spPr>
          <a:xfrm>
            <a:off x="7613250" y="4618925"/>
            <a:ext cx="189425" cy="422575"/>
          </a:xfrm>
          <a:custGeom>
            <a:rect b="b" l="l" r="r" t="t"/>
            <a:pathLst>
              <a:path extrusionOk="0" h="16903" w="7577">
                <a:moveTo>
                  <a:pt x="0" y="16903"/>
                </a:moveTo>
                <a:cubicBezTo>
                  <a:pt x="6054" y="15690"/>
                  <a:pt x="7577" y="6175"/>
                  <a:pt x="7577" y="0"/>
                </a:cubicBezTo>
              </a:path>
            </a:pathLst>
          </a:cu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565" name="Google Shape;565;p76"/>
          <p:cNvSpPr txBox="1"/>
          <p:nvPr/>
        </p:nvSpPr>
        <p:spPr>
          <a:xfrm>
            <a:off x="6251425" y="4757225"/>
            <a:ext cx="14427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We are here</a:t>
            </a:r>
            <a:endParaRPr sz="20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7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1" name="Google Shape;571;p77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Scaling Model </a:t>
            </a:r>
            <a:r>
              <a:rPr lang="en">
                <a:solidFill>
                  <a:schemeClr val="accent6"/>
                </a:solidFill>
              </a:rPr>
              <a:t>(CoreM)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572" name="Google Shape;572;p77"/>
          <p:cNvPicPr preferRelativeResize="0"/>
          <p:nvPr/>
        </p:nvPicPr>
        <p:blipFill rotWithShape="1">
          <a:blip r:embed="rId3">
            <a:alphaModFix/>
          </a:blip>
          <a:srcRect b="0" l="0" r="0" t="1225"/>
          <a:stretch/>
        </p:blipFill>
        <p:spPr>
          <a:xfrm>
            <a:off x="4300079" y="982975"/>
            <a:ext cx="4120495" cy="3604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77"/>
          <p:cNvSpPr txBox="1"/>
          <p:nvPr>
            <p:ph idx="1" type="body"/>
          </p:nvPr>
        </p:nvSpPr>
        <p:spPr>
          <a:xfrm>
            <a:off x="365750" y="982975"/>
            <a:ext cx="3699600" cy="22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Can use voltage and frequency scaling to push a core harder (using more of your power budget) or less hard (using less of your power budget)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8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9" name="Google Shape;579;p78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Realistic Multi-core Performance </a:t>
            </a:r>
            <a:r>
              <a:rPr lang="en">
                <a:solidFill>
                  <a:schemeClr val="accent6"/>
                </a:solidFill>
              </a:rPr>
              <a:t>(CmpMr)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80" name="Google Shape;580;p78"/>
          <p:cNvSpPr txBox="1"/>
          <p:nvPr>
            <p:ph idx="1" type="body"/>
          </p:nvPr>
        </p:nvSpPr>
        <p:spPr>
          <a:xfrm>
            <a:off x="365750" y="982975"/>
            <a:ext cx="8243400" cy="26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Fill in parameters using core models from before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Convert SPECmark score into estimated CPI &amp; frequency</a:t>
            </a:r>
            <a:endParaRPr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/>
              <a:t>Assume everything else equal for two cores, set CPI to equalize the ratio of their CmpMr scores, to their SPECmark scores.</a:t>
            </a:r>
            <a:endParaRPr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/>
              <a:t>Assume CPI does not change with technology node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Rely on past studies for application behavior characterization.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Separate consideration of single-thread vs many-thread (GPU) cores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ncertainty Sharp">
  <a:themeElements>
    <a:clrScheme name="Simple Light">
      <a:dk1>
        <a:srgbClr val="222222"/>
      </a:dk1>
      <a:lt1>
        <a:srgbClr val="FFFFFF"/>
      </a:lt1>
      <a:dk2>
        <a:srgbClr val="666666"/>
      </a:dk2>
      <a:lt2>
        <a:srgbClr val="EEEEEE"/>
      </a:lt2>
      <a:accent1>
        <a:srgbClr val="FF3B30"/>
      </a:accent1>
      <a:accent2>
        <a:srgbClr val="FF9500"/>
      </a:accent2>
      <a:accent3>
        <a:srgbClr val="FFCC00"/>
      </a:accent3>
      <a:accent4>
        <a:srgbClr val="26C759"/>
      </a:accent4>
      <a:accent5>
        <a:srgbClr val="007AFF"/>
      </a:accent5>
      <a:accent6>
        <a:srgbClr val="AF52DE"/>
      </a:accent6>
      <a:hlink>
        <a:srgbClr val="03A9F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
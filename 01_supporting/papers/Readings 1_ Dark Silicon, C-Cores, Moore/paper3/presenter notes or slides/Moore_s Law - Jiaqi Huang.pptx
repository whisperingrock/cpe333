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dIsXZn1XT7puYUaTYCjadMzdN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4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Relationship Id="rId4" Type="http://schemas.openxmlformats.org/officeDocument/2006/relationships/image" Target="../media/image1.png"/><Relationship Id="rId5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Relationship Id="rId4" Type="http://schemas.openxmlformats.org/officeDocument/2006/relationships/image" Target="../media/image1.png"/><Relationship Id="rId5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.png"/><Relationship Id="rId5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jp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5275161" y="-108496"/>
            <a:ext cx="3012839" cy="10395496"/>
            <a:chOff x="0" y="-28575"/>
            <a:chExt cx="793505" cy="2737908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793505" cy="2709333"/>
            </a:xfrm>
            <a:custGeom>
              <a:rect b="b" l="l" r="r" t="t"/>
              <a:pathLst>
                <a:path extrusionOk="0" h="2709333" w="793505">
                  <a:moveTo>
                    <a:pt x="0" y="0"/>
                  </a:moveTo>
                  <a:lnTo>
                    <a:pt x="793505" y="0"/>
                  </a:lnTo>
                  <a:lnTo>
                    <a:pt x="7935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28575"/>
              <a:ext cx="793505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2651976" y="4669518"/>
            <a:ext cx="5246624" cy="524662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5045" r="-2504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028700" y="6274961"/>
            <a:ext cx="3641344" cy="3641344"/>
          </a:xfrm>
          <a:custGeom>
            <a:rect b="b" l="l" r="r" t="t"/>
            <a:pathLst>
              <a:path extrusionOk="0" h="812800" w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5045" r="-2504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8530191" y="8436494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rot="10800000">
            <a:off x="17637125" y="1028700"/>
            <a:ext cx="261221" cy="261221"/>
          </a:xfrm>
          <a:custGeom>
            <a:rect b="b" l="l" r="r" t="t"/>
            <a:pathLst>
              <a:path extrusionOk="0" h="261221" w="261221">
                <a:moveTo>
                  <a:pt x="261221" y="261221"/>
                </a:moveTo>
                <a:lnTo>
                  <a:pt x="0" y="261221"/>
                </a:lnTo>
                <a:lnTo>
                  <a:pt x="0" y="0"/>
                </a:lnTo>
                <a:lnTo>
                  <a:pt x="261221" y="0"/>
                </a:lnTo>
                <a:lnTo>
                  <a:pt x="261221" y="2612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28700" y="2071568"/>
            <a:ext cx="13319700" cy="3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COMPONENTS ONTO INTEGRATED CIRCUITS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028700" y="743495"/>
            <a:ext cx="8394600" cy="1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CRAMMING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523259" y="6322586"/>
            <a:ext cx="3099314" cy="3408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GORDON E. MOORE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"/>
          <p:cNvGrpSpPr/>
          <p:nvPr/>
        </p:nvGrpSpPr>
        <p:grpSpPr>
          <a:xfrm>
            <a:off x="12864524" y="-108496"/>
            <a:ext cx="5423476" cy="10395496"/>
            <a:chOff x="0" y="-28575"/>
            <a:chExt cx="1428405" cy="273790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428405" cy="2709333"/>
            </a:xfrm>
            <a:custGeom>
              <a:rect b="b" l="l" r="r" t="t"/>
              <a:pathLst>
                <a:path extrusionOk="0" h="2709333" w="1428405">
                  <a:moveTo>
                    <a:pt x="0" y="0"/>
                  </a:moveTo>
                  <a:lnTo>
                    <a:pt x="1428405" y="0"/>
                  </a:lnTo>
                  <a:lnTo>
                    <a:pt x="14284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28575"/>
              <a:ext cx="1428405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8469748" y="1028700"/>
            <a:ext cx="8789552" cy="8229600"/>
          </a:xfrm>
          <a:custGeom>
            <a:rect b="b" l="l" r="r" t="t"/>
            <a:pathLst>
              <a:path extrusionOk="0" h="1274980" w="1361732">
                <a:moveTo>
                  <a:pt x="0" y="0"/>
                </a:moveTo>
                <a:lnTo>
                  <a:pt x="1361732" y="0"/>
                </a:lnTo>
                <a:lnTo>
                  <a:pt x="1361732" y="1274980"/>
                </a:lnTo>
                <a:lnTo>
                  <a:pt x="0" y="127498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0263" r="-2026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7179826" y="8997079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2" y="0"/>
                </a:lnTo>
                <a:lnTo>
                  <a:pt x="261222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28700" y="2012087"/>
            <a:ext cx="7441048" cy="1268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028700" y="1009715"/>
            <a:ext cx="7441048" cy="1268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PROMISING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028700" y="6347285"/>
            <a:ext cx="6412348" cy="2276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unit cost falling as the number of components per circuit rises, by 1975, economics may dictate squeezing as many as 65000 components on a single silicon chip.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961791" y="3305521"/>
            <a:ext cx="6412200" cy="3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of Electronics</a:t>
            </a:r>
            <a:endParaRPr sz="1200"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Electronics Brings</a:t>
            </a:r>
            <a:endParaRPr sz="1200"/>
          </a:p>
          <a:p>
            <a:pPr indent="-3111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Portable Equipment</a:t>
            </a:r>
            <a:endParaRPr sz="1200"/>
          </a:p>
          <a:p>
            <a:pPr indent="-3111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Systems</a:t>
            </a:r>
            <a:endParaRPr sz="1200"/>
          </a:p>
          <a:p>
            <a:pPr indent="-3111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Architecture</a:t>
            </a:r>
            <a:endParaRPr sz="1200"/>
          </a:p>
          <a:p>
            <a:pPr indent="-3111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</a:t>
            </a:r>
            <a:endParaRPr sz="1200"/>
          </a:p>
          <a:p>
            <a:pPr indent="0" lvl="1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3"/>
          <p:cNvGrpSpPr/>
          <p:nvPr/>
        </p:nvGrpSpPr>
        <p:grpSpPr>
          <a:xfrm>
            <a:off x="0" y="-108496"/>
            <a:ext cx="5557560" cy="10395496"/>
            <a:chOff x="0" y="-28575"/>
            <a:chExt cx="1463719" cy="2737908"/>
          </a:xfrm>
        </p:grpSpPr>
        <p:sp>
          <p:nvSpPr>
            <p:cNvPr id="112" name="Google Shape;112;p3"/>
            <p:cNvSpPr/>
            <p:nvPr/>
          </p:nvSpPr>
          <p:spPr>
            <a:xfrm>
              <a:off x="0" y="0"/>
              <a:ext cx="1463719" cy="2709333"/>
            </a:xfrm>
            <a:custGeom>
              <a:rect b="b" l="l" r="r" t="t"/>
              <a:pathLst>
                <a:path extrusionOk="0" h="2709333" w="1463719">
                  <a:moveTo>
                    <a:pt x="0" y="0"/>
                  </a:moveTo>
                  <a:lnTo>
                    <a:pt x="1463719" y="0"/>
                  </a:lnTo>
                  <a:lnTo>
                    <a:pt x="146371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0" y="-28575"/>
              <a:ext cx="1463719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3"/>
          <p:cNvSpPr/>
          <p:nvPr/>
        </p:nvSpPr>
        <p:spPr>
          <a:xfrm>
            <a:off x="0" y="3620008"/>
            <a:ext cx="7761694" cy="5638292"/>
          </a:xfrm>
          <a:custGeom>
            <a:rect b="b" l="l" r="r" t="t"/>
            <a:pathLst>
              <a:path extrusionOk="0" h="873519" w="1202490">
                <a:moveTo>
                  <a:pt x="0" y="0"/>
                </a:moveTo>
                <a:lnTo>
                  <a:pt x="1202490" y="0"/>
                </a:lnTo>
                <a:lnTo>
                  <a:pt x="1202490" y="873519"/>
                </a:lnTo>
                <a:lnTo>
                  <a:pt x="0" y="87351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514" r="-451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500473" y="1028700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9144000" y="2246050"/>
            <a:ext cx="93696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6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ELECTRONICS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9144000" y="1212798"/>
            <a:ext cx="8826093" cy="135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6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3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0" y="0"/>
            <a:ext cx="5557560" cy="2572423"/>
          </a:xfrm>
          <a:custGeom>
            <a:rect b="b" l="l" r="r" t="t"/>
            <a:pathLst>
              <a:path extrusionOk="0" h="398536" w="861011">
                <a:moveTo>
                  <a:pt x="0" y="0"/>
                </a:moveTo>
                <a:lnTo>
                  <a:pt x="861011" y="0"/>
                </a:lnTo>
                <a:lnTo>
                  <a:pt x="861011" y="398536"/>
                </a:lnTo>
                <a:lnTo>
                  <a:pt x="0" y="398536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1013" l="0" r="0" t="-3101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9258300" y="3871912"/>
            <a:ext cx="7620851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</a:t>
            </a:r>
            <a:r>
              <a:rPr lang="en-US" sz="3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roelectronics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Electronics functions supplied to the user as irreducible units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minimize the electronics equipment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Several approaches evolved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Combined with each other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4"/>
          <p:cNvGrpSpPr/>
          <p:nvPr/>
        </p:nvGrpSpPr>
        <p:grpSpPr>
          <a:xfrm>
            <a:off x="0" y="-108496"/>
            <a:ext cx="6562751" cy="10395496"/>
            <a:chOff x="0" y="-28575"/>
            <a:chExt cx="1728461" cy="2737908"/>
          </a:xfrm>
        </p:grpSpPr>
        <p:sp>
          <p:nvSpPr>
            <p:cNvPr id="125" name="Google Shape;125;p4"/>
            <p:cNvSpPr/>
            <p:nvPr/>
          </p:nvSpPr>
          <p:spPr>
            <a:xfrm>
              <a:off x="0" y="0"/>
              <a:ext cx="1728461" cy="2709333"/>
            </a:xfrm>
            <a:custGeom>
              <a:rect b="b" l="l" r="r" t="t"/>
              <a:pathLst>
                <a:path extrusionOk="0" h="2709333" w="1728461">
                  <a:moveTo>
                    <a:pt x="0" y="0"/>
                  </a:moveTo>
                  <a:lnTo>
                    <a:pt x="1728461" y="0"/>
                  </a:lnTo>
                  <a:lnTo>
                    <a:pt x="172846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0" y="-28575"/>
              <a:ext cx="1728461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4"/>
          <p:cNvSpPr/>
          <p:nvPr/>
        </p:nvSpPr>
        <p:spPr>
          <a:xfrm>
            <a:off x="1028700" y="1028700"/>
            <a:ext cx="4505351" cy="4433856"/>
          </a:xfrm>
          <a:custGeom>
            <a:rect b="b" l="l" r="r" t="t"/>
            <a:pathLst>
              <a:path extrusionOk="0" h="686920" w="697997">
                <a:moveTo>
                  <a:pt x="0" y="0"/>
                </a:moveTo>
                <a:lnTo>
                  <a:pt x="697997" y="0"/>
                </a:lnTo>
                <a:lnTo>
                  <a:pt x="697997" y="686920"/>
                </a:lnTo>
                <a:lnTo>
                  <a:pt x="0" y="68692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3807" r="-2380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6998079" y="3060607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028700" y="5850983"/>
            <a:ext cx="4505351" cy="3407317"/>
          </a:xfrm>
          <a:custGeom>
            <a:rect b="b" l="l" r="r" t="t"/>
            <a:pathLst>
              <a:path extrusionOk="0" h="527883" w="697997">
                <a:moveTo>
                  <a:pt x="0" y="0"/>
                </a:moveTo>
                <a:lnTo>
                  <a:pt x="697997" y="0"/>
                </a:lnTo>
                <a:lnTo>
                  <a:pt x="697997" y="527883"/>
                </a:lnTo>
                <a:lnTo>
                  <a:pt x="0" y="527883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7184" r="-718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7591451" y="1048007"/>
            <a:ext cx="9537239" cy="1329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8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WHERE TO USE?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7806170" y="4095217"/>
            <a:ext cx="8269800" cy="60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Mandatory for new military systems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reliability, size, and weight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Commercial computer in design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less, and perform well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Instruments using digital techniques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costs in manufacture and design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integrated circuitry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expensive, and few varieties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5"/>
          <p:cNvGrpSpPr/>
          <p:nvPr/>
        </p:nvGrpSpPr>
        <p:grpSpPr>
          <a:xfrm>
            <a:off x="8501127" y="3277444"/>
            <a:ext cx="9815452" cy="7009556"/>
            <a:chOff x="0" y="-28575"/>
            <a:chExt cx="2585139" cy="1846138"/>
          </a:xfrm>
        </p:grpSpPr>
        <p:sp>
          <p:nvSpPr>
            <p:cNvPr id="137" name="Google Shape;137;p5"/>
            <p:cNvSpPr/>
            <p:nvPr/>
          </p:nvSpPr>
          <p:spPr>
            <a:xfrm>
              <a:off x="0" y="0"/>
              <a:ext cx="2585139" cy="1817563"/>
            </a:xfrm>
            <a:custGeom>
              <a:rect b="b" l="l" r="r" t="t"/>
              <a:pathLst>
                <a:path extrusionOk="0" h="1817563" w="2585139">
                  <a:moveTo>
                    <a:pt x="0" y="0"/>
                  </a:moveTo>
                  <a:lnTo>
                    <a:pt x="2585139" y="0"/>
                  </a:lnTo>
                  <a:lnTo>
                    <a:pt x="2585139" y="1817563"/>
                  </a:lnTo>
                  <a:lnTo>
                    <a:pt x="0" y="181756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 txBox="1"/>
            <p:nvPr/>
          </p:nvSpPr>
          <p:spPr>
            <a:xfrm>
              <a:off x="0" y="-28575"/>
              <a:ext cx="2585138" cy="1846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5"/>
          <p:cNvSpPr/>
          <p:nvPr/>
        </p:nvSpPr>
        <p:spPr>
          <a:xfrm>
            <a:off x="15013621" y="1028700"/>
            <a:ext cx="3274379" cy="6990986"/>
          </a:xfrm>
          <a:custGeom>
            <a:rect b="b" l="l" r="r" t="t"/>
            <a:pathLst>
              <a:path extrusionOk="0" h="1083087" w="507287">
                <a:moveTo>
                  <a:pt x="0" y="0"/>
                </a:moveTo>
                <a:lnTo>
                  <a:pt x="507287" y="0"/>
                </a:lnTo>
                <a:lnTo>
                  <a:pt x="507287" y="1083087"/>
                </a:lnTo>
                <a:lnTo>
                  <a:pt x="0" y="108308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1123" r="-2112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028700" y="1028700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9524873" y="1028700"/>
            <a:ext cx="4469573" cy="8229600"/>
          </a:xfrm>
          <a:custGeom>
            <a:rect b="b" l="l" r="r" t="t"/>
            <a:pathLst>
              <a:path extrusionOk="0" h="1274980" w="692454">
                <a:moveTo>
                  <a:pt x="0" y="0"/>
                </a:moveTo>
                <a:lnTo>
                  <a:pt x="692454" y="0"/>
                </a:lnTo>
                <a:lnTo>
                  <a:pt x="692454" y="1274980"/>
                </a:lnTo>
                <a:lnTo>
                  <a:pt x="0" y="127498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1372" r="-1137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1003644" y="1955079"/>
            <a:ext cx="7472427" cy="910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5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WHAT’S NEXT?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1003644" y="3350937"/>
            <a:ext cx="8269723" cy="496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Reliable even at that production level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costs and a greatly simplified design 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Semiconductor integrated circuits will predominate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Silicon is likely to remain the basic material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abundant and relatively cheap in low-freq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6"/>
          <p:cNvGrpSpPr/>
          <p:nvPr/>
        </p:nvGrpSpPr>
        <p:grpSpPr>
          <a:xfrm>
            <a:off x="16283115" y="-108496"/>
            <a:ext cx="2004885" cy="10395496"/>
            <a:chOff x="0" y="-28575"/>
            <a:chExt cx="528036" cy="2737908"/>
          </a:xfrm>
        </p:grpSpPr>
        <p:sp>
          <p:nvSpPr>
            <p:cNvPr id="149" name="Google Shape;149;p6"/>
            <p:cNvSpPr/>
            <p:nvPr/>
          </p:nvSpPr>
          <p:spPr>
            <a:xfrm>
              <a:off x="0" y="0"/>
              <a:ext cx="528036" cy="2709333"/>
            </a:xfrm>
            <a:custGeom>
              <a:rect b="b" l="l" r="r" t="t"/>
              <a:pathLst>
                <a:path extrusionOk="0" h="2709333" w="528036">
                  <a:moveTo>
                    <a:pt x="0" y="0"/>
                  </a:moveTo>
                  <a:lnTo>
                    <a:pt x="528036" y="0"/>
                  </a:lnTo>
                  <a:lnTo>
                    <a:pt x="5280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6"/>
            <p:cNvSpPr txBox="1"/>
            <p:nvPr/>
          </p:nvSpPr>
          <p:spPr>
            <a:xfrm>
              <a:off x="0" y="-28575"/>
              <a:ext cx="528036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6"/>
          <p:cNvSpPr/>
          <p:nvPr/>
        </p:nvSpPr>
        <p:spPr>
          <a:xfrm>
            <a:off x="5610429" y="1028700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1869392" y="3836712"/>
            <a:ext cx="6418608" cy="5997876"/>
          </a:xfrm>
          <a:custGeom>
            <a:rect b="b" l="l" r="r" t="t"/>
            <a:pathLst>
              <a:path extrusionOk="0" h="5997876" w="6418608">
                <a:moveTo>
                  <a:pt x="0" y="0"/>
                </a:moveTo>
                <a:lnTo>
                  <a:pt x="6418608" y="0"/>
                </a:lnTo>
                <a:lnTo>
                  <a:pt x="6418608" y="5997876"/>
                </a:lnTo>
                <a:lnTo>
                  <a:pt x="0" y="59978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1028700" y="1266825"/>
            <a:ext cx="7578368" cy="1431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1003644" y="3160437"/>
            <a:ext cx="10412700" cy="65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Continues to increase as the technology evolves toward the production of larger and larger circuit functions on a single semiconductor substrate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Curve: 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simple:</a:t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/>
              <a:t>Equivalent package</a:t>
            </a:r>
            <a:endParaRPr sz="2999"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per component ≈ C​/N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complex: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Yields Decrease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6210067" y="1806299"/>
            <a:ext cx="3229719" cy="504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Biggest Attraction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7"/>
          <p:cNvGrpSpPr/>
          <p:nvPr/>
        </p:nvGrpSpPr>
        <p:grpSpPr>
          <a:xfrm>
            <a:off x="16283115" y="-108496"/>
            <a:ext cx="2004885" cy="10395496"/>
            <a:chOff x="0" y="-28575"/>
            <a:chExt cx="528036" cy="2737908"/>
          </a:xfrm>
        </p:grpSpPr>
        <p:sp>
          <p:nvSpPr>
            <p:cNvPr id="161" name="Google Shape;161;p7"/>
            <p:cNvSpPr/>
            <p:nvPr/>
          </p:nvSpPr>
          <p:spPr>
            <a:xfrm>
              <a:off x="0" y="0"/>
              <a:ext cx="528036" cy="2709333"/>
            </a:xfrm>
            <a:custGeom>
              <a:rect b="b" l="l" r="r" t="t"/>
              <a:pathLst>
                <a:path extrusionOk="0" h="2709333" w="528036">
                  <a:moveTo>
                    <a:pt x="0" y="0"/>
                  </a:moveTo>
                  <a:lnTo>
                    <a:pt x="528036" y="0"/>
                  </a:lnTo>
                  <a:lnTo>
                    <a:pt x="5280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7"/>
            <p:cNvSpPr txBox="1"/>
            <p:nvPr/>
          </p:nvSpPr>
          <p:spPr>
            <a:xfrm>
              <a:off x="0" y="-28575"/>
              <a:ext cx="528036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7"/>
          <p:cNvSpPr/>
          <p:nvPr/>
        </p:nvSpPr>
        <p:spPr>
          <a:xfrm>
            <a:off x="5610429" y="1028700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1869392" y="3836712"/>
            <a:ext cx="6418608" cy="5997876"/>
          </a:xfrm>
          <a:custGeom>
            <a:rect b="b" l="l" r="r" t="t"/>
            <a:pathLst>
              <a:path extrusionOk="0" h="5997876" w="6418608">
                <a:moveTo>
                  <a:pt x="0" y="0"/>
                </a:moveTo>
                <a:lnTo>
                  <a:pt x="6418608" y="0"/>
                </a:lnTo>
                <a:lnTo>
                  <a:pt x="6418608" y="5997876"/>
                </a:lnTo>
                <a:lnTo>
                  <a:pt x="0" y="59978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028700" y="1266825"/>
            <a:ext cx="7578368" cy="14313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1003644" y="3160437"/>
            <a:ext cx="10412848" cy="496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Sweet Point: Minimal cost in each evolution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decrease; Minimal cost point increases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complexity for minimum component costs has increased at a rate of roughly a factor of two per year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By 1975, the number of components per integrated circuit for minimum cost will be 65000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large circuit can be built on a single wafer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8"/>
          <p:cNvGrpSpPr/>
          <p:nvPr/>
        </p:nvGrpSpPr>
        <p:grpSpPr>
          <a:xfrm>
            <a:off x="12864524" y="-108496"/>
            <a:ext cx="5423476" cy="10395496"/>
            <a:chOff x="0" y="-28575"/>
            <a:chExt cx="1428405" cy="2737908"/>
          </a:xfrm>
        </p:grpSpPr>
        <p:sp>
          <p:nvSpPr>
            <p:cNvPr id="172" name="Google Shape;172;p8"/>
            <p:cNvSpPr/>
            <p:nvPr/>
          </p:nvSpPr>
          <p:spPr>
            <a:xfrm>
              <a:off x="0" y="0"/>
              <a:ext cx="1428405" cy="2709333"/>
            </a:xfrm>
            <a:custGeom>
              <a:rect b="b" l="l" r="r" t="t"/>
              <a:pathLst>
                <a:path extrusionOk="0" h="2709333" w="1428405">
                  <a:moveTo>
                    <a:pt x="0" y="0"/>
                  </a:moveTo>
                  <a:lnTo>
                    <a:pt x="1428405" y="0"/>
                  </a:lnTo>
                  <a:lnTo>
                    <a:pt x="14284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0" y="-28575"/>
              <a:ext cx="1428405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8"/>
          <p:cNvSpPr/>
          <p:nvPr/>
        </p:nvSpPr>
        <p:spPr>
          <a:xfrm>
            <a:off x="7179826" y="8997079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2" y="0"/>
                </a:lnTo>
                <a:lnTo>
                  <a:pt x="261222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1028700" y="1009715"/>
            <a:ext cx="9518265" cy="1259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POSSIBLE?</a:t>
            </a:r>
            <a:endParaRPr/>
          </a:p>
        </p:txBody>
      </p:sp>
      <p:sp>
        <p:nvSpPr>
          <p:cNvPr id="176" name="Google Shape;176;p8"/>
          <p:cNvSpPr txBox="1"/>
          <p:nvPr/>
        </p:nvSpPr>
        <p:spPr>
          <a:xfrm>
            <a:off x="1028700" y="3823885"/>
            <a:ext cx="7028700" cy="4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possible for 65000?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65000</a:t>
            </a:r>
            <a:r>
              <a:rPr lang="en-US" sz="29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components need to occupy only about one-fourth of a square inch.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based on the existing fabrication tolerances, wafer sizes, and interconnect techniques—without relying on any exotic future technology.</a:t>
            </a:r>
            <a:endParaRPr/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20200" y="3543300"/>
            <a:ext cx="8203676" cy="5394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9"/>
          <p:cNvGrpSpPr/>
          <p:nvPr/>
        </p:nvGrpSpPr>
        <p:grpSpPr>
          <a:xfrm>
            <a:off x="12864524" y="-108496"/>
            <a:ext cx="5423476" cy="10395496"/>
            <a:chOff x="0" y="-28575"/>
            <a:chExt cx="1428405" cy="2737908"/>
          </a:xfrm>
        </p:grpSpPr>
        <p:sp>
          <p:nvSpPr>
            <p:cNvPr id="183" name="Google Shape;183;p9"/>
            <p:cNvSpPr/>
            <p:nvPr/>
          </p:nvSpPr>
          <p:spPr>
            <a:xfrm>
              <a:off x="0" y="0"/>
              <a:ext cx="1428405" cy="2709333"/>
            </a:xfrm>
            <a:custGeom>
              <a:rect b="b" l="l" r="r" t="t"/>
              <a:pathLst>
                <a:path extrusionOk="0" h="2709333" w="1428405">
                  <a:moveTo>
                    <a:pt x="0" y="0"/>
                  </a:moveTo>
                  <a:lnTo>
                    <a:pt x="1428405" y="0"/>
                  </a:lnTo>
                  <a:lnTo>
                    <a:pt x="14284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9"/>
            <p:cNvSpPr txBox="1"/>
            <p:nvPr/>
          </p:nvSpPr>
          <p:spPr>
            <a:xfrm>
              <a:off x="0" y="-28575"/>
              <a:ext cx="1428405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9"/>
          <p:cNvSpPr/>
          <p:nvPr/>
        </p:nvSpPr>
        <p:spPr>
          <a:xfrm>
            <a:off x="10942213" y="3343653"/>
            <a:ext cx="6317087" cy="5914647"/>
          </a:xfrm>
          <a:custGeom>
            <a:rect b="b" l="l" r="r" t="t"/>
            <a:pathLst>
              <a:path extrusionOk="0" h="1274980" w="1361732">
                <a:moveTo>
                  <a:pt x="0" y="0"/>
                </a:moveTo>
                <a:lnTo>
                  <a:pt x="1361732" y="0"/>
                </a:lnTo>
                <a:lnTo>
                  <a:pt x="1361732" y="1274980"/>
                </a:lnTo>
                <a:lnTo>
                  <a:pt x="0" y="127498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0263" r="-2026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7179826" y="8997079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2" y="0"/>
                </a:lnTo>
                <a:lnTo>
                  <a:pt x="261222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1028700" y="1009715"/>
            <a:ext cx="9518265" cy="1259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POSSIBLE?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1028700" y="3765325"/>
            <a:ext cx="8694900" cy="71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possible to break through yield problems?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present: packaging cost &gt;&gt; semiconductor structure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it is worthy, only the engineering effort is needed.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Historically, yields improved once higher integration became economically important; the same pattern was expected to repeat if desired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0"/>
          <p:cNvGrpSpPr/>
          <p:nvPr/>
        </p:nvGrpSpPr>
        <p:grpSpPr>
          <a:xfrm>
            <a:off x="12864524" y="-108496"/>
            <a:ext cx="5423476" cy="10395496"/>
            <a:chOff x="0" y="-28575"/>
            <a:chExt cx="1428405" cy="2737908"/>
          </a:xfrm>
        </p:grpSpPr>
        <p:sp>
          <p:nvSpPr>
            <p:cNvPr id="194" name="Google Shape;194;p10"/>
            <p:cNvSpPr/>
            <p:nvPr/>
          </p:nvSpPr>
          <p:spPr>
            <a:xfrm>
              <a:off x="0" y="0"/>
              <a:ext cx="1428405" cy="2709333"/>
            </a:xfrm>
            <a:custGeom>
              <a:rect b="b" l="l" r="r" t="t"/>
              <a:pathLst>
                <a:path extrusionOk="0" h="2709333" w="1428405">
                  <a:moveTo>
                    <a:pt x="0" y="0"/>
                  </a:moveTo>
                  <a:lnTo>
                    <a:pt x="1428405" y="0"/>
                  </a:lnTo>
                  <a:lnTo>
                    <a:pt x="14284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0"/>
            <p:cNvSpPr txBox="1"/>
            <p:nvPr/>
          </p:nvSpPr>
          <p:spPr>
            <a:xfrm>
              <a:off x="0" y="-28575"/>
              <a:ext cx="1428405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6" name="Google Shape;196;p10"/>
          <p:cNvSpPr/>
          <p:nvPr/>
        </p:nvSpPr>
        <p:spPr>
          <a:xfrm>
            <a:off x="7179826" y="8997079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2" y="0"/>
                </a:lnTo>
                <a:lnTo>
                  <a:pt x="261222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028700" y="1009715"/>
            <a:ext cx="9518265" cy="1259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POSSIBLE?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1028700" y="3823885"/>
            <a:ext cx="8649300" cy="4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it possible to break through heat problems?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Naive scaling → excessive heat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ICs are 2D → efficient heat removal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Power dominated by interconnect lines and capacitance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Smaller dimensions → less capacitance</a:t>
            </a:r>
            <a:endParaRPr/>
          </a:p>
          <a:p>
            <a:pPr indent="-323847" lvl="1" marL="647697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b="0" i="0" lang="en-US" sz="2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speed at the same power density</a:t>
            </a:r>
            <a:endParaRPr/>
          </a:p>
          <a:p>
            <a:pPr indent="0" lvl="1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ansistor computer - Wikipedia" id="199" name="Google Shape;19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15800" y="1248604"/>
            <a:ext cx="2986087" cy="3894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.5D integrated circuit - Wikipedia" id="200" name="Google Shape;20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0" y="6059351"/>
            <a:ext cx="7874562" cy="3215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11"/>
          <p:cNvGrpSpPr/>
          <p:nvPr/>
        </p:nvGrpSpPr>
        <p:grpSpPr>
          <a:xfrm>
            <a:off x="12864524" y="-108496"/>
            <a:ext cx="5423476" cy="10395496"/>
            <a:chOff x="0" y="-28575"/>
            <a:chExt cx="1428405" cy="2737908"/>
          </a:xfrm>
        </p:grpSpPr>
        <p:sp>
          <p:nvSpPr>
            <p:cNvPr id="206" name="Google Shape;206;p11"/>
            <p:cNvSpPr/>
            <p:nvPr/>
          </p:nvSpPr>
          <p:spPr>
            <a:xfrm>
              <a:off x="0" y="0"/>
              <a:ext cx="1428405" cy="2709333"/>
            </a:xfrm>
            <a:custGeom>
              <a:rect b="b" l="l" r="r" t="t"/>
              <a:pathLst>
                <a:path extrusionOk="0" h="2709333" w="1428405">
                  <a:moveTo>
                    <a:pt x="0" y="0"/>
                  </a:moveTo>
                  <a:lnTo>
                    <a:pt x="1428405" y="0"/>
                  </a:lnTo>
                  <a:lnTo>
                    <a:pt x="14284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1"/>
            <p:cNvSpPr txBox="1"/>
            <p:nvPr/>
          </p:nvSpPr>
          <p:spPr>
            <a:xfrm>
              <a:off x="0" y="-28575"/>
              <a:ext cx="1428405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1"/>
          <p:cNvSpPr/>
          <p:nvPr/>
        </p:nvSpPr>
        <p:spPr>
          <a:xfrm>
            <a:off x="7179826" y="8997079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2" y="0"/>
                </a:lnTo>
                <a:lnTo>
                  <a:pt x="261222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11132504" y="5428563"/>
            <a:ext cx="6126796" cy="2695234"/>
          </a:xfrm>
          <a:custGeom>
            <a:rect b="b" l="l" r="r" t="t"/>
            <a:pathLst>
              <a:path extrusionOk="0" h="2695234" w="6126796">
                <a:moveTo>
                  <a:pt x="0" y="0"/>
                </a:moveTo>
                <a:lnTo>
                  <a:pt x="6126796" y="0"/>
                </a:lnTo>
                <a:lnTo>
                  <a:pt x="6126796" y="2695235"/>
                </a:lnTo>
                <a:lnTo>
                  <a:pt x="0" y="2695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1028700" y="990665"/>
            <a:ext cx="10682420" cy="1209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*DENNARD SCALING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1028700" y="3570126"/>
            <a:ext cx="9744900" cy="6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transistor dimensions scale down by a constant factor, voltage and current can also be reduced proportionally, allowing: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switching speed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transistors per unit area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Nearly constant power density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result, early CMOS scaling enabled higher clock frequencies without increasing chip power consumption.</a:t>
            </a:r>
            <a:endParaRPr/>
          </a:p>
          <a:p>
            <a:pPr indent="0" lvl="1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9144000" y="0"/>
            <a:ext cx="9144000" cy="7846454"/>
          </a:xfrm>
          <a:custGeom>
            <a:rect b="b" l="l" r="r" t="t"/>
            <a:pathLst>
              <a:path extrusionOk="0" h="1316680" w="1534416">
                <a:moveTo>
                  <a:pt x="0" y="0"/>
                </a:moveTo>
                <a:lnTo>
                  <a:pt x="1534416" y="0"/>
                </a:lnTo>
                <a:lnTo>
                  <a:pt x="1534416" y="1316680"/>
                </a:lnTo>
                <a:lnTo>
                  <a:pt x="0" y="131668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4396" r="-1439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028700" y="8997079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1028700" y="1015550"/>
            <a:ext cx="135030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86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</a:t>
            </a:r>
            <a:r>
              <a:rPr lang="en-US" sz="7925"/>
              <a:t>/ HOW</a:t>
            </a:r>
            <a:r>
              <a:rPr lang="en-US" sz="792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DO THIS ?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1028700" y="2672209"/>
            <a:ext cx="8115300" cy="343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Cost Must be Minimized!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Amortize the engineering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Evolve flexible techniques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 diagram to technological realization 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large system by small functions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Modular Design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13"/>
          <p:cNvGrpSpPr/>
          <p:nvPr/>
        </p:nvGrpSpPr>
        <p:grpSpPr>
          <a:xfrm>
            <a:off x="12864524" y="-108496"/>
            <a:ext cx="5423476" cy="10395496"/>
            <a:chOff x="0" y="-28575"/>
            <a:chExt cx="1428405" cy="2737908"/>
          </a:xfrm>
        </p:grpSpPr>
        <p:sp>
          <p:nvSpPr>
            <p:cNvPr id="225" name="Google Shape;225;p13"/>
            <p:cNvSpPr/>
            <p:nvPr/>
          </p:nvSpPr>
          <p:spPr>
            <a:xfrm>
              <a:off x="0" y="0"/>
              <a:ext cx="1428405" cy="2709333"/>
            </a:xfrm>
            <a:custGeom>
              <a:rect b="b" l="l" r="r" t="t"/>
              <a:pathLst>
                <a:path extrusionOk="0" h="2709333" w="1428405">
                  <a:moveTo>
                    <a:pt x="0" y="0"/>
                  </a:moveTo>
                  <a:lnTo>
                    <a:pt x="1428405" y="0"/>
                  </a:lnTo>
                  <a:lnTo>
                    <a:pt x="14284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3"/>
            <p:cNvSpPr txBox="1"/>
            <p:nvPr/>
          </p:nvSpPr>
          <p:spPr>
            <a:xfrm>
              <a:off x="0" y="-28575"/>
              <a:ext cx="1428405" cy="27379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13"/>
          <p:cNvSpPr/>
          <p:nvPr/>
        </p:nvSpPr>
        <p:spPr>
          <a:xfrm>
            <a:off x="7179826" y="8997079"/>
            <a:ext cx="261221" cy="261221"/>
          </a:xfrm>
          <a:custGeom>
            <a:rect b="b" l="l" r="r" t="t"/>
            <a:pathLst>
              <a:path extrusionOk="0" h="261221" w="261221">
                <a:moveTo>
                  <a:pt x="0" y="0"/>
                </a:moveTo>
                <a:lnTo>
                  <a:pt x="261222" y="0"/>
                </a:lnTo>
                <a:lnTo>
                  <a:pt x="261222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 txBox="1"/>
          <p:nvPr/>
        </p:nvSpPr>
        <p:spPr>
          <a:xfrm>
            <a:off x="1028700" y="990665"/>
            <a:ext cx="10682420" cy="1209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CIRCUITRY</a:t>
            </a:r>
            <a:endParaRPr/>
          </a:p>
        </p:txBody>
      </p:sp>
      <p:sp>
        <p:nvSpPr>
          <p:cNvPr id="229" name="Google Shape;229;p13"/>
          <p:cNvSpPr txBox="1"/>
          <p:nvPr/>
        </p:nvSpPr>
        <p:spPr>
          <a:xfrm>
            <a:off x="657821" y="3687245"/>
            <a:ext cx="11835900" cy="5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Would not be changed as radically as Digital Systems.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lack of large-value capacitors and inductors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Still, something looks promising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RF amplifier: high performance at minimum cost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Differential amplifier: matching, and tracking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Oscillators: stability</a:t>
            </a:r>
            <a:endParaRPr/>
          </a:p>
          <a:p>
            <a:pPr indent="-345437" lvl="1" marL="690876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99"/>
              <a:buFont typeface="Arial"/>
              <a:buChar char="•"/>
            </a:pPr>
            <a:r>
              <a:rPr b="0" i="0" lang="en-US" sz="31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Microwave area: Assemble components small compared with the wavelengths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/>
          <p:nvPr/>
        </p:nvSpPr>
        <p:spPr>
          <a:xfrm>
            <a:off x="1028700" y="990665"/>
            <a:ext cx="10682420" cy="1209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DISCUSSIONS</a:t>
            </a:r>
            <a:endParaRPr/>
          </a:p>
        </p:txBody>
      </p:sp>
      <p:sp>
        <p:nvSpPr>
          <p:cNvPr id="235" name="Google Shape;235;p14"/>
          <p:cNvSpPr txBox="1"/>
          <p:nvPr/>
        </p:nvSpPr>
        <p:spPr>
          <a:xfrm>
            <a:off x="1028700" y="2672200"/>
            <a:ext cx="15064500" cy="2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assumptions/advocate did the author make to derive the prediction: 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unit cost falling as the number of components per circuit rises, by 1975, economics may dictate squeezing as many as 65000 components on a single silicon chip？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5"/>
          <p:cNvSpPr txBox="1"/>
          <p:nvPr/>
        </p:nvSpPr>
        <p:spPr>
          <a:xfrm>
            <a:off x="1028700" y="990665"/>
            <a:ext cx="10682420" cy="1209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DISCUSSIONS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1028700" y="2672200"/>
            <a:ext cx="15630600" cy="10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Among all the assumptions, which one do you think matters the most？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/>
        </p:nvSpPr>
        <p:spPr>
          <a:xfrm>
            <a:off x="1028700" y="990665"/>
            <a:ext cx="10682420" cy="1209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DISCUSSIONS</a:t>
            </a:r>
            <a:endParaRPr/>
          </a:p>
        </p:txBody>
      </p:sp>
      <p:sp>
        <p:nvSpPr>
          <p:cNvPr id="247" name="Google Shape;247;p16"/>
          <p:cNvSpPr txBox="1"/>
          <p:nvPr/>
        </p:nvSpPr>
        <p:spPr>
          <a:xfrm>
            <a:off x="1028700" y="2672200"/>
            <a:ext cx="14771700" cy="10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assumption/ advocate do you think is not valid in the short term？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/>
        </p:nvSpPr>
        <p:spPr>
          <a:xfrm>
            <a:off x="1028700" y="990665"/>
            <a:ext cx="10682420" cy="1209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DISCUSSIONS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1028700" y="2672200"/>
            <a:ext cx="15376800" cy="10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assumptions/ advocates/ insights do you think are still valid today?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 txBox="1"/>
          <p:nvPr/>
        </p:nvSpPr>
        <p:spPr>
          <a:xfrm>
            <a:off x="1028700" y="990665"/>
            <a:ext cx="10682420" cy="12094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DISCUSSIONS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1028700" y="2672200"/>
            <a:ext cx="16196700" cy="16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Mr. Moore, what should we do when the smallest dimensions of our transistors are less than a few atoms across and we cannot shrink them any further?</a:t>
            </a:r>
            <a:endParaRPr/>
          </a:p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
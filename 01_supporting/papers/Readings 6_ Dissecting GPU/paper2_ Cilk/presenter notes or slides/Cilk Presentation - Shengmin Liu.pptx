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3E2519-D454-4415-A756-A0585E0CB2F2}">
  <a:tblStyle styleId="{313E2519-D454-4415-A756-A0585E0CB2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C-based runtime system for multithreaded parallel programming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8fcd123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48fcd123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48fcd12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48fcd12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Cilk mtrltithreaded computation can be viewed as a directed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acyclic graph (dag) that unfolds dynamically, as is shown schematically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Figure 1. A Cilk program consists of a collection of Cilk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procedures, each of which is broken into a sequence of threads, which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form the vertices of the dag. Each thread is a nonblocking C function,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means that it can run to completion without waiting or suspending once it has been invoked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48fcd123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48fcd123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48fcd123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48fcd123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48fcd123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48fcd123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48fcd123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48fcd123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48fcd12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48fcd12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48fcd123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48fcd123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</a:t>
            </a:r>
            <a:r>
              <a:rPr lang="en"/>
              <a:t> and thread length: benefits more when longer length. Not for socrates because of its speculative searching structure.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8fcd123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48fcd123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48fcd123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48fcd123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48fcd123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48fcd123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a3a12b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4a3a12b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50af395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50af395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80"/>
              <a:t>Cilk: An Efficient Multithreaded Runtime System</a:t>
            </a:r>
            <a:endParaRPr sz="42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 &amp; Continuation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Translate into C function with: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Closure Data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Void Return Type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Continuation for Data Dependency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050" y="1152475"/>
            <a:ext cx="4541250" cy="38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69" y="1227169"/>
            <a:ext cx="3233726" cy="36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Graph(DAG)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Children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Dependency 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075" y="1468150"/>
            <a:ext cx="5293950" cy="24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200" y="1613475"/>
            <a:ext cx="2748000" cy="4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200" y="2571750"/>
            <a:ext cx="2872575" cy="43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196" y="3566371"/>
            <a:ext cx="2872575" cy="421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 </a:t>
            </a:r>
            <a:r>
              <a:rPr lang="en"/>
              <a:t>of Non-Blocking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Temporary Values on runtime stacks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Reduced context switching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500" y="1210875"/>
            <a:ext cx="4288801" cy="35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Work-Stealing Scheduler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processor (thief) whom runs out of work selects another processor (victim) and steal its work.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ready queue storing ready closures.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Linked-list of differents levels of threads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11980" r="0" t="13089"/>
          <a:stretch/>
        </p:blipFill>
        <p:spPr>
          <a:xfrm>
            <a:off x="2512913" y="2735800"/>
            <a:ext cx="4118175" cy="22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Work-Stealing Scheduler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queue is not empty: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the thread from the </a:t>
            </a:r>
            <a:r>
              <a:rPr b="1" lang="en"/>
              <a:t>HEAD </a:t>
            </a:r>
            <a:r>
              <a:rPr lang="en"/>
              <a:t>of the list of the deepest nonempty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queue is empty, the processor becomes thief: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Repeatedly selects a processor until it queue is not empty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the thread from the </a:t>
            </a:r>
            <a:r>
              <a:rPr b="1" lang="en"/>
              <a:t>TAIL </a:t>
            </a:r>
            <a:r>
              <a:rPr lang="en"/>
              <a:t>of the list of the shallowest nonempty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Should steal enough amount of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Shallowest in the DAG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11980" r="0" t="13089"/>
          <a:stretch/>
        </p:blipFill>
        <p:spPr>
          <a:xfrm>
            <a:off x="4714138" y="2819825"/>
            <a:ext cx="4118175" cy="22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Spawning new threads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 the threads and </a:t>
            </a:r>
            <a:r>
              <a:rPr lang="en"/>
              <a:t>invoke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Children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Dependency 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00" y="1912300"/>
            <a:ext cx="2748000" cy="4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200" y="2885950"/>
            <a:ext cx="2872575" cy="43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196" y="3809171"/>
            <a:ext cx="2872575" cy="421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 rotWithShape="1">
          <a:blip r:embed="rId6">
            <a:alphaModFix/>
          </a:blip>
          <a:srcRect b="0" l="11980" r="0" t="13089"/>
          <a:stretch/>
        </p:blipFill>
        <p:spPr>
          <a:xfrm>
            <a:off x="4457763" y="1991525"/>
            <a:ext cx="4118175" cy="22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Performance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any given program: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Nearly perfect linear speed up when critical path is short compare with average amount of work per processor.</a:t>
            </a:r>
            <a:endParaRPr/>
          </a:p>
        </p:txBody>
      </p:sp>
      <p:graphicFrame>
        <p:nvGraphicFramePr>
          <p:cNvPr id="111" name="Google Shape;111;p20"/>
          <p:cNvGraphicFramePr/>
          <p:nvPr/>
        </p:nvGraphicFramePr>
        <p:xfrm>
          <a:off x="952500" y="175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{313E2519-D454-4415-A756-A0585E0CB2F2}</a:tableStyleId>
              </a:tblPr>
              <a:tblGrid>
                <a:gridCol w="2428875"/>
                <a:gridCol w="481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/>
                        <a:t>Work</a:t>
                      </a:r>
                      <a:endParaRPr sz="2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/>
                        <a:t>T</a:t>
                      </a:r>
                      <a:r>
                        <a:rPr baseline="-25000" lang="en" sz="2700"/>
                        <a:t>1</a:t>
                      </a:r>
                      <a:endParaRPr baseline="-25000" sz="2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/>
                        <a:t>Critical Path</a:t>
                      </a:r>
                      <a:endParaRPr sz="2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/>
                        <a:t>T</a:t>
                      </a:r>
                      <a:r>
                        <a:rPr baseline="-25000" lang="en" sz="2700"/>
                        <a:t>∞</a:t>
                      </a:r>
                      <a:endParaRPr baseline="-25000" sz="2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/>
                        <a:t>P processors</a:t>
                      </a:r>
                      <a:endParaRPr sz="2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/>
                        <a:t>T</a:t>
                      </a:r>
                      <a:r>
                        <a:rPr baseline="-25000" lang="en" sz="2700"/>
                        <a:t>P</a:t>
                      </a:r>
                      <a:r>
                        <a:rPr lang="en" sz="2700"/>
                        <a:t>≈(T</a:t>
                      </a:r>
                      <a:r>
                        <a:rPr baseline="-25000" lang="en" sz="2700"/>
                        <a:t>1</a:t>
                      </a:r>
                      <a:r>
                        <a:rPr lang="en" sz="2700"/>
                        <a:t>/P +c</a:t>
                      </a:r>
                      <a:r>
                        <a:rPr baseline="-25000" lang="en" sz="2700">
                          <a:solidFill>
                            <a:schemeClr val="dk1"/>
                          </a:solidFill>
                        </a:rPr>
                        <a:t>∞</a:t>
                      </a:r>
                      <a:r>
                        <a:rPr lang="en" sz="2700"/>
                        <a:t>T</a:t>
                      </a:r>
                      <a:r>
                        <a:rPr baseline="-25000" lang="en" sz="2700">
                          <a:solidFill>
                            <a:schemeClr val="dk1"/>
                          </a:solidFill>
                        </a:rPr>
                        <a:t>∞</a:t>
                      </a:r>
                      <a:r>
                        <a:rPr lang="en" sz="2700"/>
                        <a:t>), </a:t>
                      </a:r>
                      <a:r>
                        <a:rPr lang="en" sz="27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700">
                          <a:solidFill>
                            <a:schemeClr val="dk1"/>
                          </a:solidFill>
                        </a:rPr>
                        <a:t>∞</a:t>
                      </a:r>
                      <a:r>
                        <a:rPr lang="en" sz="2700">
                          <a:solidFill>
                            <a:schemeClr val="dk1"/>
                          </a:solidFill>
                        </a:rPr>
                        <a:t>≈1.5</a:t>
                      </a:r>
                      <a:endParaRPr sz="2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75" y="0"/>
            <a:ext cx="801323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0" y="0"/>
            <a:ext cx="906376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857" y="0"/>
            <a:ext cx="739228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Analysis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For the class of “Fully Strict” Cilk program: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Space: Sp &lt;= S</a:t>
            </a:r>
            <a:r>
              <a:rPr baseline="-25000" lang="en" sz="2300"/>
              <a:t>1</a:t>
            </a:r>
            <a:r>
              <a:rPr lang="en" sz="2300"/>
              <a:t>P, S</a:t>
            </a:r>
            <a:r>
              <a:rPr baseline="-25000" lang="en" sz="2300"/>
              <a:t>1</a:t>
            </a:r>
            <a:r>
              <a:rPr lang="en" sz="2300"/>
              <a:t> space for serial execution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Time: O(T</a:t>
            </a:r>
            <a:r>
              <a:rPr baseline="-25000" lang="en" sz="2300"/>
              <a:t>1</a:t>
            </a:r>
            <a:r>
              <a:rPr lang="en" sz="2300"/>
              <a:t>/P + T</a:t>
            </a:r>
            <a:r>
              <a:rPr baseline="-25000" lang="en" sz="2300"/>
              <a:t>∞</a:t>
            </a:r>
            <a:r>
              <a:rPr lang="en" sz="2300"/>
              <a:t>)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Communication: O(</a:t>
            </a:r>
            <a:r>
              <a:rPr lang="en" sz="2300"/>
              <a:t>T</a:t>
            </a:r>
            <a:r>
              <a:rPr baseline="-25000" lang="en" sz="2300"/>
              <a:t>∞</a:t>
            </a:r>
            <a:r>
              <a:rPr lang="en" sz="2300"/>
              <a:t>PS</a:t>
            </a:r>
            <a:r>
              <a:rPr baseline="-25000" lang="en" sz="2300"/>
              <a:t>max</a:t>
            </a:r>
            <a:r>
              <a:rPr lang="en" sz="2300"/>
              <a:t>)</a:t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Work-Stealing &amp; Memory locality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Stealing 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Hierarchical searching victim processors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Page Migration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Affinity Hints(Intel TBB): task placed at processor who have recently used the data, specifically for a certain processor rather than global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Advanced </a:t>
            </a:r>
            <a:r>
              <a:rPr lang="en"/>
              <a:t>Schedulers</a:t>
            </a:r>
            <a:r>
              <a:rPr lang="en"/>
              <a:t>(SLAW/X10):cluster with matching hardware topology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Extends to modern processors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Work-stealing scheduler: bounds, work from bottom, steal from top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Victim Selection: </a:t>
            </a:r>
            <a:r>
              <a:rPr lang="en"/>
              <a:t>Hierarchical</a:t>
            </a:r>
            <a:r>
              <a:rPr lang="en"/>
              <a:t>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movement: heat tracking, data “following”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THE:two handle enqueue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
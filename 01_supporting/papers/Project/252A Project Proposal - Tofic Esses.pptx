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Montserrat Medium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8ecd15d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8ecd15d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ecd15db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ecd15db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8ecd15db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8ecd15db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ecd15db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8ecd15db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8ecd15db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8ecd15db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ecd15dbd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c8ecd15dbd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8ecd15d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8ecd15d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ecd15d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8ecd15d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ecd15db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8ecd15db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ecd15db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ecd15db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8ecd15dbd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8ecd15db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8ecd15dbd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8ecd15db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ecd15db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8ecd15db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0479" y="190210"/>
            <a:ext cx="8721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  <a:defRPr b="1"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0479" y="878158"/>
            <a:ext cx="8721600" cy="3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TR"/>
              <a:buChar char="-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Char char="-"/>
              <a:defRPr/>
            </a:lvl2pPr>
            <a:lvl3pPr indent="-32385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TR"/>
              <a:buChar char="-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Char char="-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TR"/>
              <a:buChar char="-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jp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>
                <a:latin typeface="Montserrat SemiBold"/>
                <a:ea typeface="Montserrat SemiBold"/>
                <a:cs typeface="Montserrat SemiBold"/>
                <a:sym typeface="Montserrat SemiBold"/>
              </a:rPr>
              <a:t>Hardware Acceleration of FISTA for Compressed-Sensing Ultrasound Reconstruction</a:t>
            </a:r>
            <a:endParaRPr sz="338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3548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Tofic Esses, Ziv Behar</a:t>
            </a:r>
            <a:endParaRPr sz="26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7275" y="4101623"/>
            <a:ext cx="894400" cy="6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3500" y="4101625"/>
            <a:ext cx="948796" cy="68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Agenda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Traditional Ultrasound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Ultrasound for Spatial Imaging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is Compressed Sensing?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Ultrasound Image Reconstruction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FISTA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 it matters: Applications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Compute Bottleneck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Goal: Domain-Specific Compute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Traditional Ultrasound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in medical imaging with beamforming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450" y="2027875"/>
            <a:ext cx="2220801" cy="166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8575" y="1743925"/>
            <a:ext cx="4405925" cy="21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Ultrasound for Spatial Imaging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if instead we transmitted non-coherent ultrasound waves: various frequencies, time delays, and positions?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Fewer transducers -&gt; smaller form factor, reduced cost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Fewer samples -&gt; less time taken during TX/RX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how can we reconstruct an image?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What is Compressed Sensing?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signal processing technique that enables the reconstruction of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sparse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 compressible signals from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significantly fewer samples than required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by the Nyquist-Shannon theorem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1045" y="2221246"/>
            <a:ext cx="2999326" cy="226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/>
          <p:nvPr/>
        </p:nvSpPr>
        <p:spPr>
          <a:xfrm>
            <a:off x="3542397" y="2181846"/>
            <a:ext cx="440100" cy="423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2931132" y="3534954"/>
            <a:ext cx="174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Sensing Matrix</a:t>
            </a:r>
            <a:endParaRPr b="1" sz="13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(determined from simulations -</a:t>
            </a:r>
            <a:br>
              <a:rPr lang="en" sz="10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Aka. forward model)</a:t>
            </a:r>
            <a:endParaRPr sz="10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143507" y="3534954"/>
            <a:ext cx="174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Measurement Vector</a:t>
            </a:r>
            <a:endParaRPr b="1" sz="13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(data from ADC)</a:t>
            </a:r>
            <a:endParaRPr sz="10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3325127" y="4434799"/>
            <a:ext cx="3076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High-Dimensional Signal</a:t>
            </a:r>
            <a:br>
              <a:rPr b="1" lang="en" sz="13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Image to be Reconstructed)</a:t>
            </a:r>
            <a:endParaRPr sz="10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endParaRPr sz="10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5242125" y="3266154"/>
            <a:ext cx="796200" cy="229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6067202" y="3189337"/>
            <a:ext cx="3076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Underdetermined System</a:t>
            </a:r>
            <a:endParaRPr b="1" sz="1000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7876925" y="0"/>
            <a:ext cx="126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Review</a:t>
            </a:r>
            <a:endParaRPr sz="6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Ultrasound Image Reconstruction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44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Represent 3D space as a cluster of boxes (a.k.a voxels)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075" y="1922238"/>
            <a:ext cx="2575600" cy="2350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7876925" y="0"/>
            <a:ext cx="126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Review</a:t>
            </a:r>
            <a:endParaRPr sz="6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onstruction model&#10;&#10;AI-generated content may be incorrect." id="110" name="Google Shape;11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1989" l="19614" r="0" t="15130"/>
          <a:stretch/>
        </p:blipFill>
        <p:spPr>
          <a:xfrm>
            <a:off x="882376" y="2723189"/>
            <a:ext cx="3100200" cy="210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metal cross on a pole&#10;&#10;AI-generated content may be incorrect." id="112" name="Google Shape;112;p20"/>
          <p:cNvPicPr preferRelativeResize="0"/>
          <p:nvPr/>
        </p:nvPicPr>
        <p:blipFill rotWithShape="1">
          <a:blip r:embed="rId4">
            <a:alphaModFix/>
          </a:blip>
          <a:srcRect b="23627" l="14029" r="18299" t="8341"/>
          <a:stretch/>
        </p:blipFill>
        <p:spPr>
          <a:xfrm>
            <a:off x="991892" y="694164"/>
            <a:ext cx="2371727" cy="1788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diagram&#10;&#10;AI-generated content may be incorrect." id="113" name="Google Shape;113;p20"/>
          <p:cNvPicPr preferRelativeResize="0"/>
          <p:nvPr/>
        </p:nvPicPr>
        <p:blipFill rotWithShape="1">
          <a:blip r:embed="rId5">
            <a:alphaModFix/>
          </a:blip>
          <a:srcRect b="11063" l="20717" r="0" t="15768"/>
          <a:stretch/>
        </p:blipFill>
        <p:spPr>
          <a:xfrm>
            <a:off x="4763792" y="2798226"/>
            <a:ext cx="3388318" cy="2345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 shot of a diagram&#10;&#10;AI-generated content may be incorrect." id="114" name="Google Shape;114;p20"/>
          <p:cNvPicPr preferRelativeResize="0"/>
          <p:nvPr/>
        </p:nvPicPr>
        <p:blipFill rotWithShape="1">
          <a:blip r:embed="rId6">
            <a:alphaModFix/>
          </a:blip>
          <a:srcRect b="12341" l="19840" r="0" t="14157"/>
          <a:stretch/>
        </p:blipFill>
        <p:spPr>
          <a:xfrm>
            <a:off x="4763791" y="503164"/>
            <a:ext cx="3388318" cy="233001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991891" y="2482373"/>
            <a:ext cx="24111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TR"/>
              <a:buNone/>
            </a:pPr>
            <a:r>
              <a:rPr b="1"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“Ground Truth”</a:t>
            </a:r>
            <a:endParaRPr sz="1100"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210479" y="190210"/>
            <a:ext cx="87216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"/>
              <a:buNone/>
            </a:pPr>
            <a:r>
              <a:rPr b="0" lang="en">
                <a:latin typeface="Montserrat SemiBold"/>
                <a:ea typeface="Montserrat SemiBold"/>
                <a:cs typeface="Montserrat SemiBold"/>
                <a:sym typeface="Montserrat SemiBold"/>
              </a:rPr>
              <a:t>R</a:t>
            </a:r>
            <a:r>
              <a:rPr b="0" lang="en">
                <a:latin typeface="Montserrat SemiBold"/>
                <a:ea typeface="Montserrat SemiBold"/>
                <a:cs typeface="Montserrat SemiBold"/>
                <a:sym typeface="Montserrat SemiBold"/>
              </a:rPr>
              <a:t>econstruction (20 acquisitions)</a:t>
            </a:r>
            <a:endParaRPr b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876925" y="0"/>
            <a:ext cx="126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Review</a:t>
            </a:r>
            <a:endParaRPr sz="6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Convex Optimization: </a:t>
            </a:r>
            <a:r>
              <a:rPr lang="en">
                <a:solidFill>
                  <a:srgbClr val="1155C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FISTA</a:t>
            </a:r>
            <a:endParaRPr>
              <a:solidFill>
                <a:srgbClr val="1155C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Fast Iterative Shrinkage-Thresholding Algorithm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Used for sparse matrix operations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7547" y="1660839"/>
            <a:ext cx="4233153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1"/>
          <p:cNvSpPr txBox="1"/>
          <p:nvPr/>
        </p:nvSpPr>
        <p:spPr>
          <a:xfrm>
            <a:off x="1123024" y="3356900"/>
            <a:ext cx="4113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Removes small coefficients to enforce sparsity</a:t>
            </a:r>
            <a:endParaRPr sz="6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1910424" y="3165350"/>
            <a:ext cx="4113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Calculates gradient</a:t>
            </a:r>
            <a:endParaRPr sz="6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" name="Google Shape;127;p21"/>
          <p:cNvSpPr txBox="1"/>
          <p:nvPr/>
        </p:nvSpPr>
        <p:spPr>
          <a:xfrm>
            <a:off x="1220574" y="3708275"/>
            <a:ext cx="4113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Updates momentum for fast convergence</a:t>
            </a:r>
            <a:endParaRPr sz="6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109399" y="4072879"/>
            <a:ext cx="4113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Extrapolate</a:t>
            </a:r>
            <a:endParaRPr sz="6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2109399" y="4339404"/>
            <a:ext cx="4113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Iterate step</a:t>
            </a:r>
            <a:endParaRPr sz="600">
              <a:solidFill>
                <a:srgbClr val="1155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7876925" y="0"/>
            <a:ext cx="126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155C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Review</a:t>
            </a:r>
            <a:endParaRPr sz="6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Why it Matters: Applications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Faster acquisition time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Cheaper hardware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Smaller form factor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Montserrat"/>
              <a:buChar char="●"/>
            </a:pPr>
            <a:r>
              <a:rPr b="1" lang="en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Cost competitive imaging system for robotic applications</a:t>
            </a:r>
            <a:endParaRPr b="1">
              <a:solidFill>
                <a:srgbClr val="1C458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Compute Bottleneck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FISTA is an iterative solver (takes time for solution to converge)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 matrix is very large 	 memory bandwidth problem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 suitable for real time applications unless compute and memory bandwidth is significantly sped up. </a:t>
            </a: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Batch processing?</a:t>
            </a:r>
            <a:endParaRPr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3328475" y="2248543"/>
            <a:ext cx="269100" cy="17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155CC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Project Goal: Domain-Specific Compute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Accelerate FISTA algorithm with specialized memory hierarchy, memory controller, and compute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Timeline</a:t>
            </a:r>
            <a:endParaRPr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Profile compute and memory access patterns of the FISTA iteration (A, Aᵀ, shrinkage, vector ops)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Design an RTL accelerator for the FISTA iteration kernel (datapath + control + memory interface)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Integrate the accelerator into Chipyard and connect to Rocket core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Evaluate performance and memory behavior using FireSim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Project Goal: Domain-Specific Compute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Target Metrics</a:t>
            </a:r>
            <a:endParaRPr b="1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Execution cycles / latency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Speedup vs CPU baseline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Memory bandwidth utilization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Convergence vs iteration budget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Baseline / SOTA: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Software FISTA running on Rocket core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Evaluator: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RTL + full-system simulation in FireSim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Required Tools: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Chisel, Chipyard, Firesim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Project Goal: Domain-Specific Compute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Not just applicable to Ultrasound - all types of signal processing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25" y="1721225"/>
            <a:ext cx="2228250" cy="14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3375" y="1721225"/>
            <a:ext cx="2228250" cy="1485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625" y="3435726"/>
            <a:ext cx="2654725" cy="148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9525" y="2193625"/>
            <a:ext cx="2755951" cy="208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217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Thank you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
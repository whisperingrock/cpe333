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f099db9e8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f099db9e8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f099db9e8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bf099db9e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ee50019b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ee50019b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67e4647f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67e4647f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6809728f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6809728f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6809728f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d6809728f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6809728fa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d6809728f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6809728f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6809728f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6809728fa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d6809728fa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6809728fa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d6809728fa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6809728f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6809728f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6809728f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d6809728f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c0bf4d372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c0bf4d372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480"/>
              <a:t>Building block-diagonal attention kernel with attention bias</a:t>
            </a:r>
            <a:endParaRPr sz="448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Eric Qu and Yiheng Du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420"/>
              <a:t>Problem Statement</a:t>
            </a:r>
            <a:endParaRPr sz="2420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People use packing to deal with irregular length</a:t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350" y="2110049"/>
            <a:ext cx="8129300" cy="213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420"/>
              <a:t>Problem Statement</a:t>
            </a:r>
            <a:endParaRPr sz="2420"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This motivates the block-diagonal attention in language models</a:t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8750" y="1893138"/>
            <a:ext cx="5966525" cy="267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5842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the field of</a:t>
            </a:r>
            <a:r>
              <a:rPr lang="en"/>
              <a:t> AI for Chemical Sciences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State-of-the-art models uses attention across atoms to perform prediction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Training a batch of molecules consists of “packing” them together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</a:t>
            </a:r>
            <a:r>
              <a:rPr lang="en"/>
              <a:t>molecules</a:t>
            </a:r>
            <a:r>
              <a:rPr lang="en"/>
              <a:t> are too small to fill the size for each CTA, making the tiling methods (eg flash attention) </a:t>
            </a:r>
            <a:r>
              <a:rPr lang="en"/>
              <a:t>wasteful</a:t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4225" y="2618575"/>
            <a:ext cx="2412225" cy="214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Screenshot 2026-02-18 at 5.18.49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70125" y="341750"/>
            <a:ext cx="2196325" cy="194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Existing Kernels Fail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064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Navie Per-molecule Loop</a:t>
            </a:r>
            <a:r>
              <a:rPr lang="en"/>
              <a:t>: Launches a separate </a:t>
            </a:r>
            <a:r>
              <a:rPr lang="en"/>
              <a:t>flash attention </a:t>
            </a:r>
            <a:r>
              <a:rPr lang="en"/>
              <a:t>kernel for each of the molecules. Each launch is far too small to saturate the GPU. This is too slow so not included.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Navie Explict Flash Attention</a:t>
            </a:r>
            <a:r>
              <a:rPr lang="en"/>
              <a:t>: Extract all molecules, pad everything to max len, run a full flash attention on explicitly batched molecules. Padding become wasteful when batch size is large.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Flex Attention</a:t>
            </a:r>
            <a:r>
              <a:rPr lang="en"/>
              <a:t>: Uses a compiled BlockMask to skip cross-molecule tiles. Fixed tile size 128, fixed boundary.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Kernel design: tiling scheme</a:t>
            </a:r>
            <a:endParaRPr/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74136"/>
            <a:ext cx="9144000" cy="2973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Kernel design: comparison</a:t>
            </a:r>
            <a:endParaRPr/>
          </a:p>
        </p:txBody>
      </p:sp>
      <p:pic>
        <p:nvPicPr>
          <p:cNvPr id="95" name="Google Shape;95;p19" title="Screenshot 2026-04-15 at 4.00.4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1025" y="1142738"/>
            <a:ext cx="3541275" cy="3053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345898"/>
            <a:ext cx="2997201" cy="26470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9"/>
          <p:cNvSpPr txBox="1"/>
          <p:nvPr/>
        </p:nvSpPr>
        <p:spPr>
          <a:xfrm>
            <a:off x="4017063" y="2326562"/>
            <a:ext cx="56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v.s.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8" name="Google Shape;98;p19"/>
          <p:cNvSpPr txBox="1"/>
          <p:nvPr/>
        </p:nvSpPr>
        <p:spPr>
          <a:xfrm>
            <a:off x="311700" y="4598375"/>
            <a:ext cx="386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</a:rPr>
              <a:t>Flash/Flex attention: fixed block boundaries</a:t>
            </a:r>
            <a:endParaRPr sz="1200">
              <a:solidFill>
                <a:srgbClr val="FF0000"/>
              </a:solidFill>
            </a:endParaRPr>
          </a:p>
        </p:txBody>
      </p:sp>
      <p:sp>
        <p:nvSpPr>
          <p:cNvPr id="99" name="Google Shape;99;p19"/>
          <p:cNvSpPr txBox="1"/>
          <p:nvPr/>
        </p:nvSpPr>
        <p:spPr>
          <a:xfrm>
            <a:off x="5319675" y="4598375"/>
            <a:ext cx="386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</a:rPr>
              <a:t>Ours</a:t>
            </a:r>
            <a:r>
              <a:rPr lang="en" sz="1200">
                <a:solidFill>
                  <a:srgbClr val="FF0000"/>
                </a:solidFill>
              </a:rPr>
              <a:t>: block-aware segmentation -&gt; reduce padding</a:t>
            </a:r>
            <a:endParaRPr sz="1200">
              <a:solidFill>
                <a:srgbClr val="FF0000"/>
              </a:solidFill>
            </a:endParaRPr>
          </a:p>
        </p:txBody>
      </p:sp>
      <p:cxnSp>
        <p:nvCxnSpPr>
          <p:cNvPr id="100" name="Google Shape;100;p19"/>
          <p:cNvCxnSpPr/>
          <p:nvPr/>
        </p:nvCxnSpPr>
        <p:spPr>
          <a:xfrm>
            <a:off x="311700" y="4397250"/>
            <a:ext cx="8608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Kernel implementation</a:t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Tile scheduler</a:t>
            </a:r>
            <a:endParaRPr/>
          </a:p>
        </p:txBody>
      </p:sp>
      <p:pic>
        <p:nvPicPr>
          <p:cNvPr id="107" name="Google Shape;107;p20" title="Screenshot 2026-04-15 at 4.26.4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325" y="1757126"/>
            <a:ext cx="3987300" cy="63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5319150" y="1663325"/>
            <a:ext cx="3513000" cy="290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Triton kernel</a:t>
            </a:r>
            <a:endParaRPr/>
          </a:p>
        </p:txBody>
      </p:sp>
      <p:cxnSp>
        <p:nvCxnSpPr>
          <p:cNvPr id="109" name="Google Shape;109;p20"/>
          <p:cNvCxnSpPr/>
          <p:nvPr/>
        </p:nvCxnSpPr>
        <p:spPr>
          <a:xfrm>
            <a:off x="2452573" y="2523900"/>
            <a:ext cx="0" cy="5061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10" name="Google Shape;110;p20" title="Screenshot 2026-04-15 at 4.29.52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775" y="3131400"/>
            <a:ext cx="3956396" cy="63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0" title="Screenshot 2026-04-15 at 4.31.31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19150" y="3873475"/>
            <a:ext cx="3513150" cy="7646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2" name="Google Shape;112;p20"/>
          <p:cNvCxnSpPr/>
          <p:nvPr/>
        </p:nvCxnSpPr>
        <p:spPr>
          <a:xfrm>
            <a:off x="4572000" y="3939875"/>
            <a:ext cx="600000" cy="3339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13" name="Google Shape;113;p20" title="Screenshot 2026-04-15 at 4.32.19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19150" y="2278768"/>
            <a:ext cx="3513150" cy="99637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4" name="Google Shape;114;p20"/>
          <p:cNvCxnSpPr/>
          <p:nvPr/>
        </p:nvCxnSpPr>
        <p:spPr>
          <a:xfrm rot="10800000">
            <a:off x="7075725" y="3382350"/>
            <a:ext cx="0" cy="3975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Latency: fix # of packs</a:t>
            </a:r>
            <a:endParaRPr/>
          </a:p>
        </p:txBody>
      </p:sp>
      <p:pic>
        <p:nvPicPr>
          <p:cNvPr id="120" name="Google Shape;120;p21" title="sweep_latency-2.png"/>
          <p:cNvPicPr preferRelativeResize="0"/>
          <p:nvPr/>
        </p:nvPicPr>
        <p:blipFill rotWithShape="1">
          <a:blip r:embed="rId3">
            <a:alphaModFix/>
          </a:blip>
          <a:srcRect b="61094" l="0" r="0" t="6707"/>
          <a:stretch/>
        </p:blipFill>
        <p:spPr>
          <a:xfrm>
            <a:off x="404838" y="1348050"/>
            <a:ext cx="8334324" cy="2957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Latency: fix pack size</a:t>
            </a:r>
            <a:endParaRPr/>
          </a:p>
        </p:txBody>
      </p:sp>
      <p:pic>
        <p:nvPicPr>
          <p:cNvPr id="126" name="Google Shape;126;p22" title="sweep_latency-2.png"/>
          <p:cNvPicPr preferRelativeResize="0"/>
          <p:nvPr/>
        </p:nvPicPr>
        <p:blipFill rotWithShape="1">
          <a:blip r:embed="rId3">
            <a:alphaModFix/>
          </a:blip>
          <a:srcRect b="30262" l="0" r="0" t="37882"/>
          <a:stretch/>
        </p:blipFill>
        <p:spPr>
          <a:xfrm>
            <a:off x="281000" y="1318750"/>
            <a:ext cx="8582000" cy="3013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Latency: fix total # of tokens</a:t>
            </a:r>
            <a:endParaRPr/>
          </a:p>
        </p:txBody>
      </p:sp>
      <p:pic>
        <p:nvPicPr>
          <p:cNvPr id="132" name="Google Shape;132;p23" title="sweep_latency-2.png"/>
          <p:cNvPicPr preferRelativeResize="0"/>
          <p:nvPr/>
        </p:nvPicPr>
        <p:blipFill rotWithShape="1">
          <a:blip r:embed="rId3">
            <a:alphaModFix/>
          </a:blip>
          <a:srcRect b="0" l="0" r="0" t="69735"/>
          <a:stretch/>
        </p:blipFill>
        <p:spPr>
          <a:xfrm>
            <a:off x="256275" y="1465800"/>
            <a:ext cx="8631450" cy="2879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Peak memory usage</a:t>
            </a:r>
            <a:endParaRPr/>
          </a:p>
        </p:txBody>
      </p:sp>
      <p:pic>
        <p:nvPicPr>
          <p:cNvPr id="138" name="Google Shape;138;p24" title="sweep_memory-2.png"/>
          <p:cNvPicPr preferRelativeResize="0"/>
          <p:nvPr/>
        </p:nvPicPr>
        <p:blipFill rotWithShape="1">
          <a:blip r:embed="rId3">
            <a:alphaModFix/>
          </a:blip>
          <a:srcRect b="0" l="0" r="0" t="8425"/>
          <a:stretch/>
        </p:blipFill>
        <p:spPr>
          <a:xfrm>
            <a:off x="695788" y="1112450"/>
            <a:ext cx="7752425" cy="3857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Effective TFLOP/s</a:t>
            </a:r>
            <a:endParaRPr/>
          </a:p>
        </p:txBody>
      </p:sp>
      <p:pic>
        <p:nvPicPr>
          <p:cNvPr id="144" name="Google Shape;144;p25" title="sweep_tflops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61838"/>
            <a:ext cx="8839204" cy="2619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150" name="Google Shape;150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
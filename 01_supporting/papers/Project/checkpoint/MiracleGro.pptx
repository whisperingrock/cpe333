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d8fa30873f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d8fa30873f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8fa30873f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d8fa30873f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d8fa30873f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d8fa30873f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d8fa30873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d8fa30873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d8fa30873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d8fa30873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dc705351f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dc705351f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dc705351f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dc705351f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Embench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Baseline geomean IPC: **2.1159**</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4-wide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4a — +0.0147 IPC  (idx 2, IPC 2.2326)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`optdse_iter_0_2_BTB_Capacity_and_Organization_`</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Increase BTB from 128x2 to 256x4 entries with larger extended table, reducing BTB capacity and conflict misses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4b — +0.0376 IPC  (idx 5, IPC 2.2702)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`optdse_iter_0_3_TAGE_Predictor_Table_Sizing`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Double all TAGE table entry counts from 1024 to 2048 total entries to reduce direction prediction aliasing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4c — +0.0189 IPC  (idx 11, IPC 2.2891)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`optdse_iter_2_1_BTB_Capacity_and_Organization_`</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Increase BTB from 128x2 to 256x4 entries with larger extended table, reducing BTB capacity and conflict misses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4d — +0.0165 IPC  (idx 26, IPC 2.3113)</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`optdse_iter_6_0_Integer_Multiply_Latency_Reduc`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Reduce imulLatency from 3 to 2 cycles and fix hardcoded bypass stage count to cut dependency chain latency in multiply-bound benchmarks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4e — +0.0163 IPC  (idx 27, IPC 2.3276)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`optdse_iter_6_1_BTB_Expansion_to_1024_Sets`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Double main BTB from 512 to 1024 sets, continuing the most consistently productive optimization direction across 4 prior experiments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4f — +0.0128 IPC  (idx 165, IPC 2.3453)</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`optdse_iter_41_3_Integer_Multiply_Latency_Reduc`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Reduce imulLatency from 2 to 1 cycle to shorten multiply dependency chains in Montgomery multiplication and division-heavy benchmarks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4g — +0.0240 IPC  (idx 255, IPC 2.3777)</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`optdse_iter_64_1_CLASP___Line-Boundary-Agnostic`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Modify uop cache fill unit to allow entries to span I-cache line boundaries (CLASP) and pack multiple non-sequential uop groups per way (compaction), recovering 35-45% of wasted entry capacity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4h — +0.0306 IPC  (idx 369, IPC 2.4082)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`optdse_single_iter_101_1_SRAM-Based_L0_BTB_for_1-Cycle_`</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Replace 16-entry FA register-based uBTB with 512-entry SRAM set-associative L0 BTB providing F1-speed taken-branch predictions, reducing redirect latency by 1 cycle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4i — +0.0321 IPC  (idx 412, IPC 2.4403)</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`optdse_single_iter_108_1_SRAM_L0_BTB_at_512_Entries__Pr`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Replace 16-entry FA register-based uBTB with 512-entry SRAM set-associative L0 BTB providing zero-bubble F1-speed taken-branch predictions, exactly replicating the proven iter_101_1 design without delta encoding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4j — +0.0139 IPC  (idx 496, IPC 2.4586)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`optdse_single_iter_127_3_Dual-Port_Store_Commit_with_Ad`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Enable store commit on both MEM ports and increase numDCacheBanks from 1 to 2, with adaptive priority elevation when STQ &gt;75% full, doubling peak store drain bandwidth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5-wide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5a — +0.1273 IPC  (idx 206, IPC 2.3872)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`optdse_iter_51_0_Pipeline_Width_Increase__coreW`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Widen the pipeline from 4 to 5 using GigaBoom configuration, scaling decode, issue, ROB, and physical registers proportionally to address fetch bandwidth starvation across 12 benchmarks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5b — +0.0241 IPC  (idx 222, IPC 2.4112)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`optdse_iter_55_0_Coordinated_Backend_Depth_Scal`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Grow all backend structures together in one coordinated change: ROB 160→224, INT IQ 48→64, MEM IQ 28→40, FP IQ 40→48, LDQ 40→56, STQ 40→48, INT PRF 160→192, FP PRF 160→192, MSHRs 8→16, maxBrCount 24→32, FetchBuffer 40→48, FTQ 40→56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6-wide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6a — +0.2425 IPC  (idx 250, IPC 2.6591)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`optdse_iter_63_0_Coordinated_6-Wide_Pipeline_Sc`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Widen pipeline to 6-wide decode with fetchWidth 8→16, ROB 225→288, all backend buffers scaled ~1.28x, add 5th ALU + 2nd FP + 3rd MEM port, L1D 32KB→48KB 12-way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6b — +0.0831 IPC  (idx 374, IPC 2.7631)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`optdse_single_iter_102_2_Expanded_RISC-V_Macro-Op_Fusio` *(6-wide variant)*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Add AUIPC+ADDI, AUIPC+LOAD, AUIPC+STORE, SLLI+ADD, and SLLI+SRLI fusion patterns at decode to reduce dynamic instruction count by ~8-12%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6c — +0.0461 IPC  (idx 437, IPC 2.8177)</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`optdse_single_iter_114_2_L1D_Cache_Size_Increase_32KB_t` *(6-wide variant)*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Increase L1D nWays from 8 to 12 (32KB to 48KB at same 64 sets) to reduce capacity/conflict misses, matching industry standard 48KB for 4-wide cores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6d — +0.0112 IPC  (idx 446, IPC 2.8347)</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`optdse_single_iter_116_2_TAGE-Based_Memory_Dependence_P` *(6-wide variant)*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Add 4-table TAGE-like memory dependence predictor with geometric history lengths to predict load-store conflicts and prevent costly pipeline flushes from memory ordering violations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8-wide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8a — +0.0239 IPC  (idx 303, IPC 2.8470)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`optdse_iter_77_1_Increase_Execution_Unit_Count_`</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Widen INT issue queue from 6 to 8 ports, adding 2 ALU execution units with second multiply and second branch/jump capability, closing the gap to industry 18-19 port norm for 8-wide cores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SPEC distillate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Baseline geomean IPC: **1.5342**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4-wide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4a — +0.0988 IPC  (idx 366, IPC 1.7107)</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`merge_loop_iter_2_optdse_iter__x_optdse_iter_`</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N-way merge of optdse_iter_47_1_Skewed-Associative_BTB_with_Pa (IPC: 2.3537), optdse_iter_54_0_Double_Fetch_Bandwidth__fetchW (IPC: 2.3537)</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4b — +0.0104 IPC  (idx 382, IPC 1.7300)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`optdse_single_iter_104_3_Divider_Unrolling_Increase_4_t`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Increase divUnroll from 4 to 16 to reduce worst-case 64-bit division latency from 16 to 4 cycles, addressing division-bound benchmark tarfind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4c — +0.0103 IPC  (idx 412, IPC 1.7493)</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`optdse_single_iter_108_1_SRAM_L0_BTB_at_512_Entries__Pr`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Replace 16-entry FA register-based uBTB with 512-entry SRAM set-associative L0 BTB providing zero-bubble F1-speed taken-branch predictions, exactly replicating the proven iter_101_1 design without delta encoding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4d — +0.0257 IPC  (idx 418, IPC 1.7750)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`optdse_single_iter_109_1_I-Cache_Capacity_Increase_32KB`</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Double L1I from 32KB 8-way to 64KB 16-way (same 64 sets) to reduce I-cache miss rate, matching industry standard and complementing DIC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4e — +0.0354 IPC  (idx 424, IPC 1.8104)</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`optdse_single_iter_111_1_I-Cache_Capacity_Increase_32KB`</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Double L1I from 32KB 8-way to 64KB 16-way (same 64 sets) to reduce I-cache miss rate, matching industry standard for 4-wide cores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4f — +0.0110 IPC  (idx 433, IPC 1.8214)</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`optdse_single_iter_113_2_I-Cache_Capacity_Increase__32K`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Double L1I from 32KB 8-way to 64KB 16-way (same 64 sets) to reduce I-cache miss rate, matching industry standard for 4-wide cores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6-wide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6a — +0.1803 IPC  (idx 250, IPC 1.9039)</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`optdse_iter_63_0_Coordinated_6-Wide_Pipeline_Sc`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Widen pipeline to 6-wide decode with fetchWidth 8→16, ROB 225→288, all backend buffers scaled ~1.28x, add 5th ALU + 2nd FP + 3rd MEM port, L1D 32KB→48KB 12-way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6b — +0.0196 IPC  (idx 277, IPC 1.9236)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`optdse_iter_69_3_Coordinated_Backend_Depth_Scal`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Scale all interdependent structures together: ROB 288→384, INT IQ 80→96, MEM IQ 48→64, FP IQ 56→64, LDQ 72→128, STQ 64→80, INT PRF 256→320, FP PRF 224→288, MSHRs 16→20, L2 1MB→1.5MB, maxBrCount 40→48, FTQ 64→80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6c — +0.0897 IPC  (idx 437, IPC 2.0137)</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`optdse_single_iter_114_2_L1D_Cache_Size_Increase_32KB_t` *(6-wide variant)*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Increase L1D nWays from 8 to 12 (32KB to 48KB at same 64 sets) to reduce capacity/conflict misses, matching industry standard 48KB for 4-wide cores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8-wide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8a — +0.0169 IPC  (idx 303, IPC 2.0072)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`optdse_iter_77_1_Increase_Execution_Unit_Count_`</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Widen INT issue queue from 6 to 8 ports, adding 2 ALU execution units with second multiply and second branch/jump capability, closing the gap to industry 18-19 port norm for 8-wide cores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8b — +0.0489 IPC  (idx 336, IPC 2.0571)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`optdse_iter_90_2_L1I_Capacity_Increase_to_64KB`</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Double L1 instruction cache from 32KB 8-way to 64KB 16-way (same 64 sets) to reduce miss rate on BOOM's only instruction delivery path, matching industry standard (Lion Cove, Skymont, Neoverse all use 64KB L1I)</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c705351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c705351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c705351f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dc705351f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Nodes with most performance gain still come from sizing increase. </a:t>
            </a:r>
            <a:endParaRPr/>
          </a:p>
          <a:p>
            <a:pPr indent="-298450" lvl="0" marL="457200" rtl="0" algn="l">
              <a:spcBef>
                <a:spcPts val="0"/>
              </a:spcBef>
              <a:spcAft>
                <a:spcPts val="0"/>
              </a:spcAft>
              <a:buSzPts val="1100"/>
              <a:buChar char="-"/>
            </a:pPr>
            <a:r>
              <a:rPr lang="en"/>
              <a:t>When tune prompt to heavily bias against resizing structures, we get many less ‘blue’ nodes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c705351fb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dc705351fb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6-wide perf improvement is not particularly correlating to 4-wide</a:t>
            </a:r>
            <a:endParaRPr/>
          </a:p>
          <a:p>
            <a:pPr indent="-298450" lvl="0" marL="457200" rtl="0" algn="l">
              <a:spcBef>
                <a:spcPts val="0"/>
              </a:spcBef>
              <a:spcAft>
                <a:spcPts val="0"/>
              </a:spcAft>
              <a:buSzPts val="1100"/>
              <a:buChar char="-"/>
            </a:pPr>
            <a:r>
              <a:rPr lang="en"/>
              <a:t>Performance improvement due to microarchitecture changes, not just tuning parameters, has stagnated</a:t>
            </a:r>
            <a:endParaRPr/>
          </a:p>
          <a:p>
            <a:pPr indent="-298450" lvl="0" marL="457200" rtl="0" algn="l">
              <a:spcBef>
                <a:spcPts val="0"/>
              </a:spcBef>
              <a:spcAft>
                <a:spcPts val="0"/>
              </a:spcAft>
              <a:buSzPts val="1100"/>
              <a:buChar char="-"/>
            </a:pPr>
            <a:r>
              <a:rPr lang="en"/>
              <a:t>Summarizing previous attempts has reduced the number of debug iterations, but not the performance results</a:t>
            </a:r>
            <a:endParaRPr/>
          </a:p>
          <a:p>
            <a:pPr indent="-298450" lvl="0" marL="457200" rtl="0" algn="l">
              <a:spcBef>
                <a:spcPts val="0"/>
              </a:spcBef>
              <a:spcAft>
                <a:spcPts val="0"/>
              </a:spcAft>
              <a:buSzPts val="1100"/>
              <a:buChar char="-"/>
            </a:pPr>
            <a:r>
              <a:rPr lang="en"/>
              <a:t>Same ideas are revisited many times but don’t always result in performance improvement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Learning for prior attempts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Future steps: </a:t>
            </a:r>
            <a:endParaRPr/>
          </a:p>
          <a:p>
            <a:pPr indent="-298450" lvl="0" marL="457200" rtl="0" algn="l">
              <a:spcBef>
                <a:spcPts val="0"/>
              </a:spcBef>
              <a:spcAft>
                <a:spcPts val="0"/>
              </a:spcAft>
              <a:buSzPts val="1100"/>
              <a:buChar char="-"/>
            </a:pPr>
            <a:r>
              <a:rPr lang="en"/>
              <a:t>Add waveform information to certain LLM nodes</a:t>
            </a:r>
            <a:endParaRPr/>
          </a:p>
          <a:p>
            <a:pPr indent="-298450" lvl="0" marL="457200" rtl="0" algn="l">
              <a:spcBef>
                <a:spcPts val="0"/>
              </a:spcBef>
              <a:spcAft>
                <a:spcPts val="0"/>
              </a:spcAft>
              <a:buSzPts val="1100"/>
              <a:buChar char="-"/>
            </a:pPr>
            <a:r>
              <a:rPr lang="en"/>
              <a:t>Wrap existing implementation in a perf optimization node</a:t>
            </a:r>
            <a:endParaRPr/>
          </a:p>
          <a:p>
            <a:pPr indent="-298450" lvl="0" marL="457200" rtl="0" algn="l">
              <a:spcBef>
                <a:spcPts val="0"/>
              </a:spcBef>
              <a:spcAft>
                <a:spcPts val="0"/>
              </a:spcAft>
              <a:buSzPts val="1100"/>
              <a:buChar char="-"/>
            </a:pPr>
            <a:r>
              <a:rPr lang="en"/>
              <a:t>Structure branches as vector database, </a:t>
            </a:r>
            <a:endParaRPr/>
          </a:p>
          <a:p>
            <a:pPr indent="-298450" lvl="0" marL="457200" rtl="0" algn="l">
              <a:spcBef>
                <a:spcPts val="0"/>
              </a:spcBef>
              <a:spcAft>
                <a:spcPts val="0"/>
              </a:spcAft>
              <a:buSzPts val="1100"/>
              <a:buChar char="-"/>
            </a:pPr>
            <a:r>
              <a:rPr lang="en"/>
              <a:t>Investigate misalignment with 6w performance to 4w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Embench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Baseline geomean IPC: **2.1159**</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4-wide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4a — +0.0147 IPC  (idx 2, IPC 2.2326)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`optdse_iter_0_2_BTB_Capacity_and_Organization_`</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Increase BTB from 128x2 to 256x4 entries with larger extended table, reducing BTB capacity and conflict misses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4b — +0.0376 IPC  (idx 5, IPC 2.2702)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`optdse_iter_0_3_TAGE_Predictor_Table_Sizing`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Double all TAGE table entry counts from 1024 to 2048 total entries to reduce direction prediction aliasing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4c — +0.0189 IPC  (idx 11, IPC 2.2891)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`optdse_iter_2_1_BTB_Capacity_and_Organization_`</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Increase BTB from 128x2 to 256x4 entries with larger extended table, reducing BTB capacity and conflict misses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4d — +0.0165 IPC  (idx 26, IPC 2.3113)</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`optdse_iter_6_0_Integer_Multiply_Latency_Reduc`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Reduce imulLatency from 3 to 2 cycles and fix hardcoded bypass stage count to cut dependency chain latency in multiply-bound benchmarks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4e — +0.0163 IPC  (idx 27, IPC 2.3276)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`optdse_iter_6_1_BTB_Expansion_to_1024_Sets`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Double main BTB from 512 to 1024 sets, continuing the most consistently productive optimization direction across 4 prior experiments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4f — +0.0128 IPC  (idx 165, IPC 2.3453)</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`optdse_iter_41_3_Integer_Multiply_Latency_Reduc`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Reduce imulLatency from 2 to 1 cycle to shorten multiply dependency chains in Montgomery multiplication and division-heavy benchmarks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4g — +0.0240 IPC  (idx 255, IPC 2.3777)</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`optdse_iter_64_1_CLASP___Line-Boundary-Agnostic`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Modify uop cache fill unit to allow entries to span I-cache line boundaries (CLASP) and pack multiple non-sequential uop groups per way (compaction), recovering 35-45% of wasted entry capacity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4h — +0.0306 IPC  (idx 369, IPC 2.4082)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`optdse_single_iter_101_1_SRAM-Based_L0_BTB_for_1-Cycle_`</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Replace 16-entry FA register-based uBTB with 512-entry SRAM set-associative L0 BTB providing F1-speed taken-branch predictions, reducing redirect latency by 1 cycle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4i — +0.0321 IPC  (idx 412, IPC 2.4403)</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`optdse_single_iter_108_1_SRAM_L0_BTB_at_512_Entries__Pr`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Replace 16-entry FA register-based uBTB with 512-entry SRAM set-associative L0 BTB providing zero-bubble F1-speed taken-branch predictions, exactly replicating the proven iter_101_1 design without delta encoding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4j — +0.0139 IPC  (idx 496, IPC 2.4586)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`optdse_single_iter_127_3_Dual-Port_Store_Commit_with_Ad`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Enable store commit on both MEM ports and increase numDCacheBanks from 1 to 2, with adaptive priority elevation when STQ &gt;75% full, doubling peak store drain bandwidth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5-wide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5a — +0.1273 IPC  (idx 206, IPC 2.3872)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`optdse_iter_51_0_Pipeline_Width_Increase__coreW`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Widen the pipeline from 4 to 5 using GigaBoom configuration, scaling decode, issue, ROB, and physical registers proportionally to address fetch bandwidth starvation across 12 benchmarks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5b — +0.0241 IPC  (idx 222, IPC 2.4112)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`optdse_iter_55_0_Coordinated_Backend_Depth_Scal`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Grow all backend structures together in one coordinated change: ROB 160→224, INT IQ 48→64, MEM IQ 28→40, FP IQ 40→48, LDQ 40→56, STQ 40→48, INT PRF 160→192, FP PRF 160→192, MSHRs 8→16, maxBrCount 24→32, FetchBuffer 40→48, FTQ 40→56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6-wide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6a — +0.2425 IPC  (idx 250, IPC 2.6591)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`optdse_iter_63_0_Coordinated_6-Wide_Pipeline_Sc`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Widen pipeline to 6-wide decode with fetchWidth 8→16, ROB 225→288, all backend buffers scaled ~1.28x, add 5th ALU + 2nd FP + 3rd MEM port, L1D 32KB→48KB 12-way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6b — +0.0831 IPC  (idx 374, IPC 2.7631)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`optdse_single_iter_102_2_Expanded_RISC-V_Macro-Op_Fusio` *(6-wide variant)*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Add AUIPC+ADDI, AUIPC+LOAD, AUIPC+STORE, SLLI+ADD, and SLLI+SRLI fusion patterns at decode to reduce dynamic instruction count by ~8-12%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6c — +0.0461 IPC  (idx 437, IPC 2.8177)</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`optdse_single_iter_114_2_L1D_Cache_Size_Increase_32KB_t` *(6-wide variant)*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Increase L1D nWays from 8 to 12 (32KB to 48KB at same 64 sets) to reduce capacity/conflict misses, matching industry standard 48KB for 4-wide cores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6d — +0.0112 IPC  (idx 446, IPC 2.8347)</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`optdse_single_iter_116_2_TAGE-Based_Memory_Dependence_P` *(6-wide variant)*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Add 4-table TAGE-like memory dependence predictor with geometric history lengths to predict load-store conflicts and prevent costly pipeline flushes from memory ordering violations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8-wide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8a — +0.0239 IPC  (idx 303, IPC 2.8470)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`optdse_iter_77_1_Increase_Execution_Unit_Count_`</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Widen INT issue queue from 6 to 8 ports, adding 2 ALU execution units with second multiply and second branch/jump capability, closing the gap to industry 18-19 port norm for 8-wide cores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SPEC distillate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Baseline geomean IPC: **1.5342**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4-wide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4a — +0.0988 IPC  (idx 366, IPC 1.7107)</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`merge_loop_iter_2_optdse_iter__x_optdse_iter_`</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N-way merge of optdse_iter_47_1_Skewed-Associative_BTB_with_Pa (IPC: 2.3537), optdse_iter_54_0_Double_Fetch_Bandwidth__fetchW (IPC: 2.3537)</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4b — +0.0104 IPC  (idx 382, IPC 1.7300)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`optdse_single_iter_104_3_Divider_Unrolling_Increase_4_t`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Increase divUnroll from 4 to 16 to reduce worst-case 64-bit division latency from 16 to 4 cycles, addressing division-bound benchmark tarfind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4c — +0.0103 IPC  (idx 412, IPC 1.7493)</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`optdse_single_iter_108_1_SRAM_L0_BTB_at_512_Entries__Pr`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Replace 16-entry FA register-based uBTB with 512-entry SRAM set-associative L0 BTB providing zero-bubble F1-speed taken-branch predictions, exactly replicating the proven iter_101_1 design without delta encoding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4d — +0.0257 IPC  (idx 418, IPC 1.7750)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`optdse_single_iter_109_1_I-Cache_Capacity_Increase_32KB`</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Double L1I from 32KB 8-way to 64KB 16-way (same 64 sets) to reduce I-cache miss rate, matching industry standard and complementing DIC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4e — +0.0354 IPC  (idx 424, IPC 1.8104)</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`optdse_single_iter_111_1_I-Cache_Capacity_Increase_32KB`</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Double L1I from 32KB 8-way to 64KB 16-way (same 64 sets) to reduce I-cache miss rate, matching industry standard for 4-wide cores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4f — +0.0110 IPC  (idx 433, IPC 1.8214)</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`optdse_single_iter_113_2_I-Cache_Capacity_Increase__32K`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Double L1I from 32KB 8-way to 64KB 16-way (same 64 sets) to reduce I-cache miss rate, matching industry standard for 4-wide cores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6-wide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6a — +0.1803 IPC  (idx 250, IPC 1.9039)</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`optdse_iter_63_0_Coordinated_6-Wide_Pipeline_Sc`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Widen pipeline to 6-wide decode with fetchWidth 8→16, ROB 225→288, all backend buffers scaled ~1.28x, add 5th ALU + 2nd FP + 3rd MEM port, L1D 32KB→48KB 12-way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6b — +0.0196 IPC  (idx 277, IPC 1.9236)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`optdse_iter_69_3_Coordinated_Backend_Depth_Scal`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Scale all interdependent structures together: ROB 288→384, INT IQ 80→96, MEM IQ 48→64, FP IQ 56→64, LDQ 72→128, STQ 64→80, INT PRF 256→320, FP PRF 224→288, MSHRs 16→20, L2 1MB→1.5MB, maxBrCount 40→48, FTQ 64→80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6c — +0.0897 IPC  (idx 437, IPC 2.0137)</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`optdse_single_iter_114_2_L1D_Cache_Size_Increase_32KB_t` *(6-wide variant)*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Increase L1D nWays from 8 to 12 (32KB to 48KB at same 64 sets) to reduce capacity/conflict misses, matching industry standard 48KB for 4-wide cores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8-wide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8a — +0.0169 IPC  (idx 303, IPC 2.0072)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`optdse_iter_77_1_Increase_Execution_Unit_Count_`</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Widen INT issue queue from 6 to 8 ports, adding 2 ALU execution units with second multiply and second branch/jump capability, closing the gap to industry 18-19 port norm for 8-wide cores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8b — +0.0489 IPC  (idx 336, IPC 2.0571)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**Branch:** `optdse_iter_90_2_L1I_Capacity_Increase_to_64KB`</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**Description:** Double L1 instruction cache from 32KB 8-way to 64KB 16-way (same 64 sets) to reduce miss rate on BOOM's only instruction delivery path, matching industry standard (Lion Cove, Skymont, Neoverse all use 64KB L1I)</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dc705351fb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dc705351fb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Evaluating the quality of deep research and bottleneck analysis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c705351fb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dc705351f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dc705351f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dc705351f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656c91a7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e656c91a7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d8fa30873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d8fa30873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d8fa30873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d8fa30873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we’re also working on going the other direction from RTL to software simulation. Quick motivation for this, in architecture, the misalignment between simulators and the real processors they claim to simulate leads to significant challenges in testing architectural ideas in simulators, which is frustrating because software simulation is usually significantly faster than gate-level simulation.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dc705351fb_3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dc705351fb_3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we’re also working on going the other direction from RTL to software simulation. Quick motivation for this, in architecture, the misalignment between simulators and the real processors they claim to simulate leads to significant challenges in testing architectural ideas in simulators, which is frustrating because software simulation is usually significantly faster than gate-level simulation.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d8fa30873f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d8fa30873f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rgbClr val="595959"/>
                </a:solidFill>
              </a:rPr>
              <a:t>Chia flow which uses LLMs to</a:t>
            </a:r>
            <a:endParaRPr sz="1000">
              <a:solidFill>
                <a:srgbClr val="595959"/>
              </a:solidFill>
            </a:endParaRPr>
          </a:p>
          <a:p>
            <a:pPr indent="-292100" lvl="0" marL="457200" rtl="0" algn="l">
              <a:lnSpc>
                <a:spcPct val="115000"/>
              </a:lnSpc>
              <a:spcBef>
                <a:spcPts val="1200"/>
              </a:spcBef>
              <a:spcAft>
                <a:spcPts val="0"/>
              </a:spcAft>
              <a:buClr>
                <a:srgbClr val="595959"/>
              </a:buClr>
              <a:buSzPts val="1000"/>
              <a:buAutoNum type="arabicPeriod"/>
            </a:pPr>
            <a:r>
              <a:rPr lang="en" sz="1000">
                <a:solidFill>
                  <a:srgbClr val="595959"/>
                </a:solidFill>
              </a:rPr>
              <a:t>Analyze execution traces of benchmarks</a:t>
            </a:r>
            <a:endParaRPr sz="1000">
              <a:solidFill>
                <a:srgbClr val="595959"/>
              </a:solidFill>
            </a:endParaRPr>
          </a:p>
          <a:p>
            <a:pPr indent="-292100" lvl="0" marL="457200" rtl="0" algn="l">
              <a:lnSpc>
                <a:spcPct val="115000"/>
              </a:lnSpc>
              <a:spcBef>
                <a:spcPts val="0"/>
              </a:spcBef>
              <a:spcAft>
                <a:spcPts val="0"/>
              </a:spcAft>
              <a:buClr>
                <a:srgbClr val="595959"/>
              </a:buClr>
              <a:buSzPts val="1000"/>
              <a:buAutoNum type="arabicPeriod"/>
            </a:pPr>
            <a:r>
              <a:rPr lang="en" sz="1000">
                <a:solidFill>
                  <a:srgbClr val="595959"/>
                </a:solidFill>
              </a:rPr>
              <a:t>Isolate misaligned structures between processor and simulator</a:t>
            </a:r>
            <a:endParaRPr sz="1000">
              <a:solidFill>
                <a:srgbClr val="595959"/>
              </a:solidFill>
            </a:endParaRPr>
          </a:p>
          <a:p>
            <a:pPr indent="-292100" lvl="0" marL="457200" rtl="0" algn="l">
              <a:lnSpc>
                <a:spcPct val="115000"/>
              </a:lnSpc>
              <a:spcBef>
                <a:spcPts val="0"/>
              </a:spcBef>
              <a:spcAft>
                <a:spcPts val="0"/>
              </a:spcAft>
              <a:buClr>
                <a:srgbClr val="595959"/>
              </a:buClr>
              <a:buSzPts val="1000"/>
              <a:buAutoNum type="arabicPeriod"/>
            </a:pPr>
            <a:r>
              <a:rPr lang="en" sz="1000">
                <a:solidFill>
                  <a:srgbClr val="595959"/>
                </a:solidFill>
              </a:rPr>
              <a:t>Edit the simulator to improve alignment</a:t>
            </a:r>
            <a:endParaRPr sz="1000">
              <a:solidFill>
                <a:srgbClr val="595959"/>
              </a:solidFill>
            </a:endParaRPr>
          </a:p>
          <a:p>
            <a:pPr indent="-292100" lvl="0" marL="457200" rtl="0" algn="l">
              <a:lnSpc>
                <a:spcPct val="115000"/>
              </a:lnSpc>
              <a:spcBef>
                <a:spcPts val="0"/>
              </a:spcBef>
              <a:spcAft>
                <a:spcPts val="0"/>
              </a:spcAft>
              <a:buClr>
                <a:srgbClr val="595959"/>
              </a:buClr>
              <a:buSzPts val="1000"/>
              <a:buAutoNum type="arabicPeriod"/>
            </a:pPr>
            <a:r>
              <a:rPr lang="en" sz="1000">
                <a:solidFill>
                  <a:srgbClr val="595959"/>
                </a:solidFill>
              </a:rPr>
              <a:t>Debug mistaken edits</a:t>
            </a:r>
            <a:endParaRPr sz="3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d8fa30873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d8fa30873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dc705351fb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dc705351fb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dc705351fb_3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dc705351fb_3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dc705351fb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dc705351fb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d8fa30873f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d8fa30873f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d8fa30873f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d8fa30873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d8fa30873f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d8fa30873f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d409c540d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d409c540d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d409c540dd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d409c540dd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d409c540dd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d409c540dd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d409c540dd_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d409c540dd_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d409c540dd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d409c540dd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d409c540d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d409c540d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d4433e472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d4433e472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2.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1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3.png"/><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45010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MiracleGro: Spec to RTL and RTL to Spec</a:t>
            </a:r>
            <a:endParaRPr/>
          </a:p>
        </p:txBody>
      </p:sp>
      <p:sp>
        <p:nvSpPr>
          <p:cNvPr id="55" name="Google Shape;55;p13"/>
          <p:cNvSpPr txBox="1"/>
          <p:nvPr>
            <p:ph idx="1" type="subTitle"/>
          </p:nvPr>
        </p:nvSpPr>
        <p:spPr>
          <a:xfrm>
            <a:off x="311700" y="2598545"/>
            <a:ext cx="8520600" cy="792600"/>
          </a:xfrm>
          <a:prstGeom prst="rect">
            <a:avLst/>
          </a:prstGeom>
        </p:spPr>
        <p:txBody>
          <a:bodyPr anchorCtr="0" anchor="t" bIns="91425" lIns="91425" spcFirstLastPara="1" rIns="91425" wrap="square" tIns="91425">
            <a:normAutofit fontScale="47500" lnSpcReduction="20000"/>
          </a:bodyPr>
          <a:lstStyle/>
          <a:p>
            <a:pPr indent="0" lvl="0" marL="0" rtl="0" algn="ctr">
              <a:spcBef>
                <a:spcPts val="0"/>
              </a:spcBef>
              <a:spcAft>
                <a:spcPts val="0"/>
              </a:spcAft>
              <a:buNone/>
            </a:pPr>
            <a:r>
              <a:rPr lang="en" sz="5082"/>
              <a:t>Spec to RTL and RTL to Spec</a:t>
            </a:r>
            <a:endParaRPr sz="5082"/>
          </a:p>
          <a:p>
            <a:pPr indent="0" lvl="0" marL="0" rtl="0" algn="ctr">
              <a:spcBef>
                <a:spcPts val="0"/>
              </a:spcBef>
              <a:spcAft>
                <a:spcPts val="0"/>
              </a:spcAft>
              <a:buNone/>
            </a:pPr>
            <a:r>
              <a:t/>
            </a:r>
            <a:endParaRPr sz="2400"/>
          </a:p>
          <a:p>
            <a:pPr indent="0" lvl="0" marL="0" rtl="0" algn="ctr">
              <a:spcBef>
                <a:spcPts val="0"/>
              </a:spcBef>
              <a:spcAft>
                <a:spcPts val="0"/>
              </a:spcAft>
              <a:buNone/>
            </a:pPr>
            <a:r>
              <a:rPr lang="en" sz="2400"/>
              <a:t>Angela Cui, Ferran Hermida-Rivera, Jack Toubes</a:t>
            </a:r>
            <a:endParaRPr sz="2400"/>
          </a:p>
        </p:txBody>
      </p:sp>
      <p:pic>
        <p:nvPicPr>
          <p:cNvPr id="56" name="Google Shape;56;p13" title="Untitled.jpg"/>
          <p:cNvPicPr preferRelativeResize="0"/>
          <p:nvPr/>
        </p:nvPicPr>
        <p:blipFill>
          <a:blip r:embed="rId3">
            <a:alphaModFix/>
          </a:blip>
          <a:stretch>
            <a:fillRect/>
          </a:stretch>
        </p:blipFill>
        <p:spPr>
          <a:xfrm>
            <a:off x="1582681" y="3738983"/>
            <a:ext cx="1319050" cy="1204251"/>
          </a:xfrm>
          <a:prstGeom prst="rect">
            <a:avLst/>
          </a:prstGeom>
          <a:noFill/>
          <a:ln>
            <a:noFill/>
          </a:ln>
        </p:spPr>
      </p:pic>
      <p:pic>
        <p:nvPicPr>
          <p:cNvPr id="57" name="Google Shape;57;p13"/>
          <p:cNvPicPr preferRelativeResize="0"/>
          <p:nvPr/>
        </p:nvPicPr>
        <p:blipFill>
          <a:blip r:embed="rId4">
            <a:alphaModFix/>
          </a:blip>
          <a:stretch>
            <a:fillRect/>
          </a:stretch>
        </p:blipFill>
        <p:spPr>
          <a:xfrm>
            <a:off x="3429005" y="3779125"/>
            <a:ext cx="2286000" cy="1123950"/>
          </a:xfrm>
          <a:prstGeom prst="rect">
            <a:avLst/>
          </a:prstGeom>
          <a:noFill/>
          <a:ln>
            <a:noFill/>
          </a:ln>
        </p:spPr>
      </p:pic>
      <p:pic>
        <p:nvPicPr>
          <p:cNvPr id="58" name="Google Shape;58;p13"/>
          <p:cNvPicPr preferRelativeResize="0"/>
          <p:nvPr/>
        </p:nvPicPr>
        <p:blipFill rotWithShape="1">
          <a:blip r:embed="rId5">
            <a:alphaModFix/>
          </a:blip>
          <a:srcRect b="0" l="0" r="84504" t="0"/>
          <a:stretch/>
        </p:blipFill>
        <p:spPr>
          <a:xfrm>
            <a:off x="6242275" y="3729856"/>
            <a:ext cx="1319049" cy="122249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4" name="Google Shape;64;p14"/>
          <p:cNvSpPr txBox="1"/>
          <p:nvPr>
            <p:ph type="title"/>
          </p:nvPr>
        </p:nvSpPr>
        <p:spPr>
          <a:xfrm>
            <a:off x="365755" y="259075"/>
            <a:ext cx="8520600" cy="67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Motivation</a:t>
            </a:r>
            <a:endParaRPr/>
          </a:p>
        </p:txBody>
      </p:sp>
      <p:sp>
        <p:nvSpPr>
          <p:cNvPr id="65" name="Google Shape;65;p14"/>
          <p:cNvSpPr txBox="1"/>
          <p:nvPr>
            <p:ph idx="1" type="body"/>
          </p:nvPr>
        </p:nvSpPr>
        <p:spPr>
          <a:xfrm>
            <a:off x="365750" y="936175"/>
            <a:ext cx="3881700" cy="4050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Hardware design takes place in many steps</a:t>
            </a:r>
            <a:endParaRPr>
              <a:solidFill>
                <a:schemeClr val="accent6"/>
              </a:solidFill>
            </a:endParaRPr>
          </a:p>
          <a:p>
            <a:pPr indent="-342900" lvl="0" marL="457200" rtl="0" algn="l">
              <a:spcBef>
                <a:spcPts val="0"/>
              </a:spcBef>
              <a:spcAft>
                <a:spcPts val="0"/>
              </a:spcAft>
              <a:buSzPts val="1800"/>
              <a:buChar char="●"/>
            </a:pPr>
            <a:r>
              <a:rPr lang="en"/>
              <a:t>Later steps get more precise power, performance, and area estimations, but are harder to iterate on.</a:t>
            </a:r>
            <a:endParaRPr/>
          </a:p>
          <a:p>
            <a:pPr indent="-342900" lvl="0" marL="457200" rtl="0" algn="l">
              <a:spcBef>
                <a:spcPts val="0"/>
              </a:spcBef>
              <a:spcAft>
                <a:spcPts val="0"/>
              </a:spcAft>
              <a:buSzPts val="1800"/>
              <a:buChar char="●"/>
            </a:pPr>
            <a:r>
              <a:rPr lang="en"/>
              <a:t>Accurately moving from step to step is slow, iterative, and error-prone.</a:t>
            </a:r>
            <a:endParaRPr/>
          </a:p>
          <a:p>
            <a:pPr indent="-342900" lvl="0" marL="457200" rtl="0" algn="l">
              <a:spcBef>
                <a:spcPts val="0"/>
              </a:spcBef>
              <a:spcAft>
                <a:spcPts val="0"/>
              </a:spcAft>
              <a:buSzPts val="1800"/>
              <a:buChar char="●"/>
            </a:pPr>
            <a:r>
              <a:rPr lang="en"/>
              <a:t>Lots of published work in architecture doesn’t go beyond software simulation</a:t>
            </a:r>
            <a:endParaRPr/>
          </a:p>
        </p:txBody>
      </p:sp>
      <p:pic>
        <p:nvPicPr>
          <p:cNvPr id="66" name="Google Shape;66;p14"/>
          <p:cNvPicPr preferRelativeResize="0"/>
          <p:nvPr/>
        </p:nvPicPr>
        <p:blipFill>
          <a:blip r:embed="rId3">
            <a:alphaModFix/>
          </a:blip>
          <a:stretch>
            <a:fillRect/>
          </a:stretch>
        </p:blipFill>
        <p:spPr>
          <a:xfrm>
            <a:off x="4385825" y="156775"/>
            <a:ext cx="4090399" cy="48299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2" name="Google Shape;72;p15"/>
          <p:cNvSpPr txBox="1"/>
          <p:nvPr>
            <p:ph type="title"/>
          </p:nvPr>
        </p:nvSpPr>
        <p:spPr>
          <a:xfrm>
            <a:off x="365755" y="259075"/>
            <a:ext cx="8520600" cy="67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Research Questions</a:t>
            </a:r>
            <a:endParaRPr/>
          </a:p>
        </p:txBody>
      </p:sp>
      <p:sp>
        <p:nvSpPr>
          <p:cNvPr id="73" name="Google Shape;73;p15"/>
          <p:cNvSpPr txBox="1"/>
          <p:nvPr>
            <p:ph idx="1" type="body"/>
          </p:nvPr>
        </p:nvSpPr>
        <p:spPr>
          <a:xfrm>
            <a:off x="365750" y="982975"/>
            <a:ext cx="8520600" cy="846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Can we use AI to move between these steps </a:t>
            </a:r>
            <a:r>
              <a:rPr lang="en"/>
              <a:t>faster</a:t>
            </a:r>
            <a:r>
              <a:rPr lang="en"/>
              <a:t>, automating a previously labor-intensive process?</a:t>
            </a:r>
            <a:endParaRPr sz="1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9" name="Google Shape;79;p16"/>
          <p:cNvSpPr txBox="1"/>
          <p:nvPr>
            <p:ph type="title"/>
          </p:nvPr>
        </p:nvSpPr>
        <p:spPr>
          <a:xfrm>
            <a:off x="365755" y="259075"/>
            <a:ext cx="8520600" cy="677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Research Questions</a:t>
            </a:r>
            <a:endParaRPr/>
          </a:p>
        </p:txBody>
      </p:sp>
      <p:sp>
        <p:nvSpPr>
          <p:cNvPr id="80" name="Google Shape;80;p16"/>
          <p:cNvSpPr txBox="1"/>
          <p:nvPr>
            <p:ph idx="1" type="body"/>
          </p:nvPr>
        </p:nvSpPr>
        <p:spPr>
          <a:xfrm>
            <a:off x="365750" y="982975"/>
            <a:ext cx="8520600" cy="3629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Can we use AI to move between these steps faster, automating a previously labor-intensive process?</a:t>
            </a:r>
            <a:endParaRPr/>
          </a:p>
          <a:p>
            <a:pPr indent="0" lvl="0" marL="0" rtl="0" algn="l">
              <a:spcBef>
                <a:spcPts val="1200"/>
              </a:spcBef>
              <a:spcAft>
                <a:spcPts val="0"/>
              </a:spcAft>
              <a:buNone/>
            </a:pPr>
            <a:r>
              <a:rPr b="1" lang="en"/>
              <a:t>CHIA</a:t>
            </a:r>
            <a:endParaRPr b="1"/>
          </a:p>
          <a:p>
            <a:pPr indent="0" lvl="0" marL="0" rtl="0" algn="l">
              <a:spcBef>
                <a:spcPts val="1200"/>
              </a:spcBef>
              <a:spcAft>
                <a:spcPts val="0"/>
              </a:spcAft>
              <a:buNone/>
            </a:pPr>
            <a:r>
              <a:rPr lang="en"/>
              <a:t>Two concrete goals tied to two concrete problems in the computer architecture community.</a:t>
            </a:r>
            <a:endParaRPr/>
          </a:p>
          <a:p>
            <a:pPr indent="-342900" lvl="0" marL="457200" rtl="0" algn="l">
              <a:spcBef>
                <a:spcPts val="1200"/>
              </a:spcBef>
              <a:spcAft>
                <a:spcPts val="0"/>
              </a:spcAft>
              <a:buSzPts val="1800"/>
              <a:buAutoNum type="arabicPeriod"/>
            </a:pPr>
            <a:r>
              <a:rPr lang="en"/>
              <a:t>Turn architectural ideas into real RTL -&gt; use them to improve the performance of a processor</a:t>
            </a:r>
            <a:endParaRPr/>
          </a:p>
          <a:p>
            <a:pPr indent="-342900" lvl="0" marL="457200" rtl="0" algn="l">
              <a:spcBef>
                <a:spcPts val="0"/>
              </a:spcBef>
              <a:spcAft>
                <a:spcPts val="0"/>
              </a:spcAft>
              <a:buSzPts val="1800"/>
              <a:buAutoNum type="arabicPeriod"/>
            </a:pPr>
            <a:r>
              <a:rPr lang="en"/>
              <a:t>Turn an existing processor into accurate simulator, important for fast development of effective new architectural ideas.</a:t>
            </a:r>
            <a:endParaRPr/>
          </a:p>
        </p:txBody>
      </p:sp>
      <p:pic>
        <p:nvPicPr>
          <p:cNvPr id="81" name="Google Shape;81;p16"/>
          <p:cNvPicPr preferRelativeResize="0"/>
          <p:nvPr/>
        </p:nvPicPr>
        <p:blipFill>
          <a:blip r:embed="rId3">
            <a:alphaModFix/>
          </a:blip>
          <a:stretch>
            <a:fillRect/>
          </a:stretch>
        </p:blipFill>
        <p:spPr>
          <a:xfrm>
            <a:off x="5989325" y="4054425"/>
            <a:ext cx="2638100" cy="608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p:nvPr/>
        </p:nvSpPr>
        <p:spPr>
          <a:xfrm>
            <a:off x="3032013" y="1519564"/>
            <a:ext cx="891300" cy="869700"/>
          </a:xfrm>
          <a:prstGeom prst="roundRect">
            <a:avLst>
              <a:gd fmla="val 0" name="adj"/>
            </a:avLst>
          </a:prstGeom>
          <a:solidFill>
            <a:schemeClr val="accent5"/>
          </a:solidFill>
          <a:ln cap="flat" cmpd="sng" w="19050">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rPr>
              <a:t>Gem5</a:t>
            </a:r>
            <a:endParaRPr sz="1200"/>
          </a:p>
        </p:txBody>
      </p:sp>
      <p:sp>
        <p:nvSpPr>
          <p:cNvPr id="87" name="Google Shape;8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Chia</a:t>
            </a:r>
            <a:endParaRPr/>
          </a:p>
        </p:txBody>
      </p:sp>
      <p:pic>
        <p:nvPicPr>
          <p:cNvPr id="88" name="Google Shape;88;p17"/>
          <p:cNvPicPr preferRelativeResize="0"/>
          <p:nvPr/>
        </p:nvPicPr>
        <p:blipFill>
          <a:blip r:embed="rId3">
            <a:alphaModFix/>
          </a:blip>
          <a:stretch>
            <a:fillRect/>
          </a:stretch>
        </p:blipFill>
        <p:spPr>
          <a:xfrm>
            <a:off x="4064653" y="1152475"/>
            <a:ext cx="4767647" cy="3416399"/>
          </a:xfrm>
          <a:prstGeom prst="rect">
            <a:avLst/>
          </a:prstGeom>
          <a:noFill/>
          <a:ln>
            <a:noFill/>
          </a:ln>
        </p:spPr>
      </p:pic>
      <p:sp>
        <p:nvSpPr>
          <p:cNvPr id="89" name="Google Shape;89;p17"/>
          <p:cNvSpPr/>
          <p:nvPr/>
        </p:nvSpPr>
        <p:spPr>
          <a:xfrm>
            <a:off x="4086300" y="4226750"/>
            <a:ext cx="1177800" cy="282900"/>
          </a:xfrm>
          <a:prstGeom prst="roundRect">
            <a:avLst>
              <a:gd fmla="val 16667" name="adj"/>
            </a:avLst>
          </a:prstGeom>
          <a:solidFill>
            <a:srgbClr val="6AA84F">
              <a:alpha val="85440"/>
            </a:srgbClr>
          </a:solidFill>
          <a:ln cap="flat" cmpd="sng" w="19050">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rPr>
              <a:t>CHIA NODE</a:t>
            </a:r>
            <a:endParaRPr/>
          </a:p>
        </p:txBody>
      </p:sp>
      <p:sp>
        <p:nvSpPr>
          <p:cNvPr id="90" name="Google Shape;90;p17"/>
          <p:cNvSpPr/>
          <p:nvPr/>
        </p:nvSpPr>
        <p:spPr>
          <a:xfrm>
            <a:off x="5351525" y="4226750"/>
            <a:ext cx="1346100" cy="282900"/>
          </a:xfrm>
          <a:prstGeom prst="roundRect">
            <a:avLst>
              <a:gd fmla="val 16667" name="adj"/>
            </a:avLst>
          </a:prstGeom>
          <a:solidFill>
            <a:srgbClr val="6AA84F">
              <a:alpha val="85440"/>
            </a:srgbClr>
          </a:solidFill>
          <a:ln cap="flat" cmpd="sng" w="19050">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rPr>
              <a:t>CHIA NODE</a:t>
            </a:r>
            <a:endParaRPr/>
          </a:p>
        </p:txBody>
      </p:sp>
      <p:sp>
        <p:nvSpPr>
          <p:cNvPr id="91" name="Google Shape;91;p17"/>
          <p:cNvSpPr/>
          <p:nvPr/>
        </p:nvSpPr>
        <p:spPr>
          <a:xfrm>
            <a:off x="7716025" y="4226750"/>
            <a:ext cx="1076700" cy="282900"/>
          </a:xfrm>
          <a:prstGeom prst="roundRect">
            <a:avLst>
              <a:gd fmla="val 16667" name="adj"/>
            </a:avLst>
          </a:prstGeom>
          <a:solidFill>
            <a:srgbClr val="6AA84F">
              <a:alpha val="85440"/>
            </a:srgbClr>
          </a:solidFill>
          <a:ln cap="flat" cmpd="sng" w="19050">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rPr>
              <a:t>CHIA NODE</a:t>
            </a:r>
            <a:endParaRPr sz="1200"/>
          </a:p>
        </p:txBody>
      </p:sp>
      <p:sp>
        <p:nvSpPr>
          <p:cNvPr id="92" name="Google Shape;92;p17"/>
          <p:cNvSpPr/>
          <p:nvPr/>
        </p:nvSpPr>
        <p:spPr>
          <a:xfrm>
            <a:off x="4226675" y="2134625"/>
            <a:ext cx="1405200" cy="2007300"/>
          </a:xfrm>
          <a:prstGeom prst="roundRect">
            <a:avLst>
              <a:gd fmla="val 16667" name="adj"/>
            </a:avLst>
          </a:prstGeom>
          <a:solidFill>
            <a:srgbClr val="6AA84F">
              <a:alpha val="85440"/>
            </a:srgbClr>
          </a:solidFill>
          <a:ln cap="flat" cmpd="sng" w="19050">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rPr>
              <a:t>CHIA NODE</a:t>
            </a:r>
            <a:endParaRPr sz="1200"/>
          </a:p>
        </p:txBody>
      </p:sp>
      <p:sp>
        <p:nvSpPr>
          <p:cNvPr id="93" name="Google Shape;93;p17"/>
          <p:cNvSpPr/>
          <p:nvPr/>
        </p:nvSpPr>
        <p:spPr>
          <a:xfrm>
            <a:off x="5631875" y="2134625"/>
            <a:ext cx="774900" cy="2007300"/>
          </a:xfrm>
          <a:prstGeom prst="roundRect">
            <a:avLst>
              <a:gd fmla="val 16667" name="adj"/>
            </a:avLst>
          </a:prstGeom>
          <a:solidFill>
            <a:srgbClr val="6AA84F">
              <a:alpha val="85440"/>
            </a:srgbClr>
          </a:solidFill>
          <a:ln cap="flat" cmpd="sng" w="19050">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rPr>
              <a:t>CHIA NODE</a:t>
            </a:r>
            <a:endParaRPr sz="1200"/>
          </a:p>
        </p:txBody>
      </p:sp>
      <p:sp>
        <p:nvSpPr>
          <p:cNvPr id="94" name="Google Shape;94;p17"/>
          <p:cNvSpPr/>
          <p:nvPr/>
        </p:nvSpPr>
        <p:spPr>
          <a:xfrm>
            <a:off x="7231625" y="2134625"/>
            <a:ext cx="1461900" cy="2007300"/>
          </a:xfrm>
          <a:prstGeom prst="roundRect">
            <a:avLst>
              <a:gd fmla="val 16667" name="adj"/>
            </a:avLst>
          </a:prstGeom>
          <a:solidFill>
            <a:srgbClr val="6AA84F">
              <a:alpha val="85440"/>
            </a:srgbClr>
          </a:solidFill>
          <a:ln cap="flat" cmpd="sng" w="19050">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rPr>
              <a:t>CHIA NODE</a:t>
            </a:r>
            <a:endParaRPr sz="1200"/>
          </a:p>
        </p:txBody>
      </p:sp>
      <p:sp>
        <p:nvSpPr>
          <p:cNvPr id="95" name="Google Shape;95;p17"/>
          <p:cNvSpPr/>
          <p:nvPr/>
        </p:nvSpPr>
        <p:spPr>
          <a:xfrm>
            <a:off x="4529950" y="1568100"/>
            <a:ext cx="3795600" cy="481800"/>
          </a:xfrm>
          <a:prstGeom prst="roundRect">
            <a:avLst>
              <a:gd fmla="val 16667" name="adj"/>
            </a:avLst>
          </a:prstGeom>
          <a:solidFill>
            <a:srgbClr val="6AA84F">
              <a:alpha val="85440"/>
            </a:srgbClr>
          </a:solidFill>
          <a:ln cap="flat" cmpd="sng" w="19050">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t>CHIA NODE</a:t>
            </a:r>
            <a:endParaRPr b="1" sz="1200"/>
          </a:p>
        </p:txBody>
      </p:sp>
      <p:sp>
        <p:nvSpPr>
          <p:cNvPr id="96" name="Google Shape;96;p17"/>
          <p:cNvSpPr/>
          <p:nvPr/>
        </p:nvSpPr>
        <p:spPr>
          <a:xfrm>
            <a:off x="3032013" y="1519489"/>
            <a:ext cx="891300" cy="869700"/>
          </a:xfrm>
          <a:prstGeom prst="roundRect">
            <a:avLst>
              <a:gd fmla="val 16667" name="adj"/>
            </a:avLst>
          </a:prstGeom>
          <a:solidFill>
            <a:srgbClr val="6AA84F">
              <a:alpha val="85440"/>
            </a:srgbClr>
          </a:solidFill>
          <a:ln cap="flat" cmpd="sng" w="19050">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rPr>
              <a:t>CHIA NODE</a:t>
            </a:r>
            <a:endParaRPr sz="1200"/>
          </a:p>
        </p:txBody>
      </p:sp>
      <p:sp>
        <p:nvSpPr>
          <p:cNvPr id="97" name="Google Shape;97;p17"/>
          <p:cNvSpPr/>
          <p:nvPr/>
        </p:nvSpPr>
        <p:spPr>
          <a:xfrm>
            <a:off x="3032013" y="2567889"/>
            <a:ext cx="891300" cy="869700"/>
          </a:xfrm>
          <a:prstGeom prst="roundRect">
            <a:avLst>
              <a:gd fmla="val 0" name="adj"/>
            </a:avLst>
          </a:prstGeom>
          <a:solidFill>
            <a:schemeClr val="accent5"/>
          </a:solidFill>
          <a:ln cap="flat" cmpd="sng" w="19050">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rPr>
              <a:t>RTL Timer</a:t>
            </a:r>
            <a:endParaRPr sz="1200"/>
          </a:p>
        </p:txBody>
      </p:sp>
      <p:sp>
        <p:nvSpPr>
          <p:cNvPr id="98" name="Google Shape;98;p17"/>
          <p:cNvSpPr/>
          <p:nvPr/>
        </p:nvSpPr>
        <p:spPr>
          <a:xfrm>
            <a:off x="3032013" y="2567814"/>
            <a:ext cx="891300" cy="869700"/>
          </a:xfrm>
          <a:prstGeom prst="roundRect">
            <a:avLst>
              <a:gd fmla="val 16667" name="adj"/>
            </a:avLst>
          </a:prstGeom>
          <a:solidFill>
            <a:srgbClr val="6AA84F">
              <a:alpha val="85440"/>
            </a:srgbClr>
          </a:solidFill>
          <a:ln cap="flat" cmpd="sng" w="19050">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rPr>
              <a:t>CHIA NODE</a:t>
            </a:r>
            <a:endParaRPr sz="1200"/>
          </a:p>
        </p:txBody>
      </p:sp>
      <p:sp>
        <p:nvSpPr>
          <p:cNvPr id="99" name="Google Shape;99;p17"/>
          <p:cNvSpPr/>
          <p:nvPr/>
        </p:nvSpPr>
        <p:spPr>
          <a:xfrm>
            <a:off x="3032013" y="3616214"/>
            <a:ext cx="891300" cy="869700"/>
          </a:xfrm>
          <a:prstGeom prst="roundRect">
            <a:avLst>
              <a:gd fmla="val 0" name="adj"/>
            </a:avLst>
          </a:prstGeom>
          <a:solidFill>
            <a:schemeClr val="accent5"/>
          </a:solidFill>
          <a:ln cap="flat" cmpd="sng" w="19050">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rPr>
              <a:t>Other External Tools</a:t>
            </a:r>
            <a:endParaRPr sz="1200"/>
          </a:p>
        </p:txBody>
      </p:sp>
      <p:sp>
        <p:nvSpPr>
          <p:cNvPr id="100" name="Google Shape;100;p17"/>
          <p:cNvSpPr/>
          <p:nvPr/>
        </p:nvSpPr>
        <p:spPr>
          <a:xfrm>
            <a:off x="3032013" y="3616214"/>
            <a:ext cx="891300" cy="869700"/>
          </a:xfrm>
          <a:prstGeom prst="roundRect">
            <a:avLst>
              <a:gd fmla="val 16667" name="adj"/>
            </a:avLst>
          </a:prstGeom>
          <a:solidFill>
            <a:srgbClr val="6AA84F">
              <a:alpha val="85440"/>
            </a:srgbClr>
          </a:solidFill>
          <a:ln cap="flat" cmpd="sng" w="19050">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rPr>
              <a:t>CHIA NODE</a:t>
            </a:r>
            <a:endParaRPr sz="1200"/>
          </a:p>
        </p:txBody>
      </p:sp>
      <p:pic>
        <p:nvPicPr>
          <p:cNvPr id="101" name="Google Shape;101;p17" title="Untitled.jpg"/>
          <p:cNvPicPr preferRelativeResize="0"/>
          <p:nvPr/>
        </p:nvPicPr>
        <p:blipFill>
          <a:blip r:embed="rId4">
            <a:alphaModFix/>
          </a:blip>
          <a:stretch>
            <a:fillRect/>
          </a:stretch>
        </p:blipFill>
        <p:spPr>
          <a:xfrm>
            <a:off x="7797900" y="0"/>
            <a:ext cx="1346101" cy="122894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MiracleGro</a:t>
            </a:r>
            <a:endParaRPr/>
          </a:p>
        </p:txBody>
      </p:sp>
      <p:sp>
        <p:nvSpPr>
          <p:cNvPr id="107" name="Google Shape;107;p18"/>
          <p:cNvSpPr txBox="1"/>
          <p:nvPr>
            <p:ph idx="1" type="body"/>
          </p:nvPr>
        </p:nvSpPr>
        <p:spPr>
          <a:xfrm>
            <a:off x="58422" y="1279114"/>
            <a:ext cx="3370500" cy="3562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Objective: Improve BOOM IPC</a:t>
            </a:r>
            <a:endParaRPr/>
          </a:p>
          <a:p>
            <a:pPr indent="0" lvl="0" marL="0" rtl="0" algn="l">
              <a:spcBef>
                <a:spcPts val="1200"/>
              </a:spcBef>
              <a:spcAft>
                <a:spcPts val="0"/>
              </a:spcAft>
              <a:buNone/>
            </a:pPr>
            <a:r>
              <a:rPr lang="en"/>
              <a:t>Chia flow which uses LLMs to</a:t>
            </a:r>
            <a:endParaRPr/>
          </a:p>
          <a:p>
            <a:pPr indent="-342900" lvl="0" marL="457200" rtl="0" algn="l">
              <a:spcBef>
                <a:spcPts val="1200"/>
              </a:spcBef>
              <a:spcAft>
                <a:spcPts val="0"/>
              </a:spcAft>
              <a:buSzPts val="1800"/>
              <a:buAutoNum type="arabicPeriod"/>
            </a:pPr>
            <a:r>
              <a:rPr lang="en"/>
              <a:t>Analyze bottlenecks in processor</a:t>
            </a:r>
            <a:endParaRPr/>
          </a:p>
          <a:p>
            <a:pPr indent="-342900" lvl="0" marL="457200" rtl="0" algn="l">
              <a:spcBef>
                <a:spcPts val="0"/>
              </a:spcBef>
              <a:spcAft>
                <a:spcPts val="0"/>
              </a:spcAft>
              <a:buSzPts val="1800"/>
              <a:buAutoNum type="arabicPeriod"/>
            </a:pPr>
            <a:r>
              <a:rPr lang="en"/>
              <a:t>Recommend improvements from technical reports, presentations, and literature</a:t>
            </a:r>
            <a:endParaRPr/>
          </a:p>
          <a:p>
            <a:pPr indent="-342900" lvl="0" marL="457200" rtl="0" algn="l">
              <a:spcBef>
                <a:spcPts val="0"/>
              </a:spcBef>
              <a:spcAft>
                <a:spcPts val="0"/>
              </a:spcAft>
              <a:buSzPts val="1800"/>
              <a:buAutoNum type="arabicPeriod"/>
            </a:pPr>
            <a:r>
              <a:rPr lang="en"/>
              <a:t>Implement improvements</a:t>
            </a:r>
            <a:endParaRPr/>
          </a:p>
        </p:txBody>
      </p:sp>
      <p:pic>
        <p:nvPicPr>
          <p:cNvPr id="108" name="Google Shape;108;p18"/>
          <p:cNvPicPr preferRelativeResize="0"/>
          <p:nvPr/>
        </p:nvPicPr>
        <p:blipFill rotWithShape="1">
          <a:blip r:embed="rId3">
            <a:alphaModFix/>
          </a:blip>
          <a:srcRect b="8742" l="1536" r="0" t="0"/>
          <a:stretch/>
        </p:blipFill>
        <p:spPr>
          <a:xfrm>
            <a:off x="3211499" y="173808"/>
            <a:ext cx="5961724" cy="44728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19"/>
          <p:cNvPicPr preferRelativeResize="0"/>
          <p:nvPr/>
        </p:nvPicPr>
        <p:blipFill>
          <a:blip r:embed="rId3">
            <a:alphaModFix/>
          </a:blip>
          <a:stretch>
            <a:fillRect/>
          </a:stretch>
        </p:blipFill>
        <p:spPr>
          <a:xfrm>
            <a:off x="3058438" y="0"/>
            <a:ext cx="3027135" cy="5143501"/>
          </a:xfrm>
          <a:prstGeom prst="rect">
            <a:avLst/>
          </a:prstGeom>
          <a:noFill/>
          <a:ln>
            <a:noFill/>
          </a:ln>
        </p:spPr>
      </p:pic>
      <p:sp>
        <p:nvSpPr>
          <p:cNvPr id="114" name="Google Shape;114;p19"/>
          <p:cNvSpPr/>
          <p:nvPr/>
        </p:nvSpPr>
        <p:spPr>
          <a:xfrm>
            <a:off x="4662900" y="930650"/>
            <a:ext cx="1604700" cy="1892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20" title="performance_improvement.png"/>
          <p:cNvPicPr preferRelativeResize="0"/>
          <p:nvPr/>
        </p:nvPicPr>
        <p:blipFill rotWithShape="1">
          <a:blip r:embed="rId3">
            <a:alphaModFix/>
          </a:blip>
          <a:srcRect b="20" l="0" r="0" t="20"/>
          <a:stretch/>
        </p:blipFill>
        <p:spPr>
          <a:xfrm>
            <a:off x="1637712" y="171888"/>
            <a:ext cx="5868582" cy="4799724"/>
          </a:xfrm>
          <a:prstGeom prst="rect">
            <a:avLst/>
          </a:prstGeom>
          <a:noFill/>
          <a:ln>
            <a:noFill/>
          </a:ln>
        </p:spPr>
      </p:pic>
      <p:sp>
        <p:nvSpPr>
          <p:cNvPr id="120" name="Google Shape;120;p20"/>
          <p:cNvSpPr/>
          <p:nvPr/>
        </p:nvSpPr>
        <p:spPr>
          <a:xfrm>
            <a:off x="5786200" y="398575"/>
            <a:ext cx="1604700" cy="4222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From Ideas to RTL</a:t>
            </a:r>
            <a:endParaRPr/>
          </a:p>
        </p:txBody>
      </p:sp>
      <p:sp>
        <p:nvSpPr>
          <p:cNvPr id="126" name="Google Shape;126;p21"/>
          <p:cNvSpPr txBox="1"/>
          <p:nvPr>
            <p:ph idx="1" type="body"/>
          </p:nvPr>
        </p:nvSpPr>
        <p:spPr>
          <a:xfrm>
            <a:off x="58422" y="1279114"/>
            <a:ext cx="3370500" cy="356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Verilator max exec. time:</a:t>
            </a:r>
            <a:endParaRPr/>
          </a:p>
          <a:p>
            <a:pPr indent="-342900" lvl="0" marL="457200" rtl="0" algn="l">
              <a:spcBef>
                <a:spcPts val="1200"/>
              </a:spcBef>
              <a:spcAft>
                <a:spcPts val="0"/>
              </a:spcAft>
              <a:buSzPts val="1800"/>
              <a:buChar char="-"/>
            </a:pPr>
            <a:r>
              <a:rPr lang="en"/>
              <a:t>4-wide: 4.78h</a:t>
            </a:r>
            <a:endParaRPr/>
          </a:p>
          <a:p>
            <a:pPr indent="-342900" lvl="0" marL="457200" rtl="0" algn="l">
              <a:spcBef>
                <a:spcPts val="0"/>
              </a:spcBef>
              <a:spcAft>
                <a:spcPts val="0"/>
              </a:spcAft>
              <a:buSzPts val="1800"/>
              <a:buChar char="-"/>
            </a:pPr>
            <a:r>
              <a:rPr lang="en"/>
              <a:t>6-wide: 6.9h</a:t>
            </a:r>
            <a:endParaRPr/>
          </a:p>
          <a:p>
            <a:pPr indent="-342900" lvl="0" marL="457200" rtl="0" algn="l">
              <a:spcBef>
                <a:spcPts val="0"/>
              </a:spcBef>
              <a:spcAft>
                <a:spcPts val="0"/>
              </a:spcAft>
              <a:buSzPts val="1800"/>
              <a:buChar char="-"/>
            </a:pPr>
            <a:r>
              <a:rPr lang="en"/>
              <a:t>8-wide: 12.62h</a:t>
            </a:r>
            <a:endParaRPr/>
          </a:p>
          <a:p>
            <a:pPr indent="0" lvl="0" marL="0" rtl="0" algn="l">
              <a:spcBef>
                <a:spcPts val="1200"/>
              </a:spcBef>
              <a:spcAft>
                <a:spcPts val="0"/>
              </a:spcAft>
              <a:buNone/>
            </a:pPr>
            <a:r>
              <a:rPr lang="en"/>
              <a:t>Verification/evaluation challenges on FireSim</a:t>
            </a:r>
            <a:endParaRPr/>
          </a:p>
          <a:p>
            <a:pPr indent="0" lvl="0" marL="0" rtl="0" algn="l">
              <a:spcBef>
                <a:spcPts val="1200"/>
              </a:spcBef>
              <a:spcAft>
                <a:spcPts val="1200"/>
              </a:spcAft>
              <a:buNone/>
            </a:pPr>
            <a:r>
              <a:rPr lang="en"/>
              <a:t>Instead, implement &amp; test new ideas on a smaller core</a:t>
            </a:r>
            <a:endParaRPr/>
          </a:p>
        </p:txBody>
      </p:sp>
      <p:pic>
        <p:nvPicPr>
          <p:cNvPr id="127" name="Google Shape;127;p21"/>
          <p:cNvPicPr preferRelativeResize="0"/>
          <p:nvPr/>
        </p:nvPicPr>
        <p:blipFill>
          <a:blip r:embed="rId3">
            <a:alphaModFix/>
          </a:blip>
          <a:stretch>
            <a:fillRect/>
          </a:stretch>
        </p:blipFill>
        <p:spPr>
          <a:xfrm>
            <a:off x="3428921" y="1279125"/>
            <a:ext cx="5735828" cy="3562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2"/>
          <p:cNvPicPr preferRelativeResize="0"/>
          <p:nvPr/>
        </p:nvPicPr>
        <p:blipFill>
          <a:blip r:embed="rId3">
            <a:alphaModFix/>
          </a:blip>
          <a:stretch>
            <a:fillRect/>
          </a:stretch>
        </p:blipFill>
        <p:spPr>
          <a:xfrm>
            <a:off x="3058438" y="0"/>
            <a:ext cx="3027135" cy="5143501"/>
          </a:xfrm>
          <a:prstGeom prst="rect">
            <a:avLst/>
          </a:prstGeom>
          <a:noFill/>
          <a:ln>
            <a:noFill/>
          </a:ln>
        </p:spPr>
      </p:pic>
      <p:sp>
        <p:nvSpPr>
          <p:cNvPr id="133" name="Google Shape;133;p22"/>
          <p:cNvSpPr/>
          <p:nvPr/>
        </p:nvSpPr>
        <p:spPr>
          <a:xfrm>
            <a:off x="4662900" y="930650"/>
            <a:ext cx="1604700" cy="1892100"/>
          </a:xfrm>
          <a:prstGeom prst="rect">
            <a:avLst/>
          </a:prstGeom>
          <a:noFill/>
          <a:ln cap="flat" cmpd="sng" w="28575">
            <a:solidFill>
              <a:srgbClr val="22222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23" title="performance_improvement.png"/>
          <p:cNvPicPr preferRelativeResize="0"/>
          <p:nvPr/>
        </p:nvPicPr>
        <p:blipFill rotWithShape="1">
          <a:blip r:embed="rId3">
            <a:alphaModFix/>
          </a:blip>
          <a:srcRect b="20" l="0" r="0" t="20"/>
          <a:stretch/>
        </p:blipFill>
        <p:spPr>
          <a:xfrm>
            <a:off x="1637712" y="171888"/>
            <a:ext cx="5868582" cy="4799724"/>
          </a:xfrm>
          <a:prstGeom prst="rect">
            <a:avLst/>
          </a:prstGeom>
          <a:noFill/>
          <a:ln>
            <a:noFill/>
          </a:ln>
        </p:spPr>
      </p:pic>
      <p:sp>
        <p:nvSpPr>
          <p:cNvPr id="139" name="Google Shape;139;p23"/>
          <p:cNvSpPr/>
          <p:nvPr/>
        </p:nvSpPr>
        <p:spPr>
          <a:xfrm>
            <a:off x="5786200" y="398575"/>
            <a:ext cx="1604700" cy="42228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3" name="Shape 143"/>
        <p:cNvGrpSpPr/>
        <p:nvPr/>
      </p:nvGrpSpPr>
      <p:grpSpPr>
        <a:xfrm>
          <a:off x="0" y="0"/>
          <a:ext cx="0" cy="0"/>
          <a:chOff x="0" y="0"/>
          <a:chExt cx="0" cy="0"/>
        </a:xfrm>
      </p:grpSpPr>
      <p:pic>
        <p:nvPicPr>
          <p:cNvPr id="144" name="Google Shape;144;p24" title="cumulative_optimizations.png"/>
          <p:cNvPicPr preferRelativeResize="0"/>
          <p:nvPr/>
        </p:nvPicPr>
        <p:blipFill rotWithShape="1">
          <a:blip r:embed="rId3">
            <a:alphaModFix/>
          </a:blip>
          <a:srcRect b="29138" l="0" r="0" t="0"/>
          <a:stretch/>
        </p:blipFill>
        <p:spPr>
          <a:xfrm>
            <a:off x="2214550" y="749325"/>
            <a:ext cx="4714876" cy="364484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8" name="Shape 148"/>
        <p:cNvGrpSpPr/>
        <p:nvPr/>
      </p:nvGrpSpPr>
      <p:grpSpPr>
        <a:xfrm>
          <a:off x="0" y="0"/>
          <a:ext cx="0" cy="0"/>
          <a:chOff x="0" y="0"/>
          <a:chExt cx="0" cy="0"/>
        </a:xfrm>
      </p:grpSpPr>
      <p:pic>
        <p:nvPicPr>
          <p:cNvPr id="149" name="Google Shape;149;p25"/>
          <p:cNvPicPr preferRelativeResize="0"/>
          <p:nvPr/>
        </p:nvPicPr>
        <p:blipFill>
          <a:blip r:embed="rId3">
            <a:alphaModFix/>
          </a:blip>
          <a:stretch>
            <a:fillRect/>
          </a:stretch>
        </p:blipFill>
        <p:spPr>
          <a:xfrm>
            <a:off x="0" y="717075"/>
            <a:ext cx="2532583" cy="3709339"/>
          </a:xfrm>
          <a:prstGeom prst="rect">
            <a:avLst/>
          </a:prstGeom>
          <a:noFill/>
          <a:ln>
            <a:noFill/>
          </a:ln>
        </p:spPr>
      </p:pic>
      <p:pic>
        <p:nvPicPr>
          <p:cNvPr id="150" name="Google Shape;150;p25"/>
          <p:cNvPicPr preferRelativeResize="0"/>
          <p:nvPr/>
        </p:nvPicPr>
        <p:blipFill>
          <a:blip r:embed="rId4">
            <a:alphaModFix/>
          </a:blip>
          <a:stretch>
            <a:fillRect/>
          </a:stretch>
        </p:blipFill>
        <p:spPr>
          <a:xfrm>
            <a:off x="3324539" y="717075"/>
            <a:ext cx="2494911" cy="3709338"/>
          </a:xfrm>
          <a:prstGeom prst="rect">
            <a:avLst/>
          </a:prstGeom>
          <a:noFill/>
          <a:ln>
            <a:noFill/>
          </a:ln>
        </p:spPr>
      </p:pic>
      <p:pic>
        <p:nvPicPr>
          <p:cNvPr id="151" name="Google Shape;151;p25"/>
          <p:cNvPicPr preferRelativeResize="0"/>
          <p:nvPr/>
        </p:nvPicPr>
        <p:blipFill>
          <a:blip r:embed="rId5">
            <a:alphaModFix/>
          </a:blip>
          <a:stretch>
            <a:fillRect/>
          </a:stretch>
        </p:blipFill>
        <p:spPr>
          <a:xfrm>
            <a:off x="6337816" y="717075"/>
            <a:ext cx="2806184" cy="3709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5" name="Shape 155"/>
        <p:cNvGrpSpPr/>
        <p:nvPr/>
      </p:nvGrpSpPr>
      <p:grpSpPr>
        <a:xfrm>
          <a:off x="0" y="0"/>
          <a:ext cx="0" cy="0"/>
          <a:chOff x="0" y="0"/>
          <a:chExt cx="0" cy="0"/>
        </a:xfrm>
      </p:grpSpPr>
      <p:sp>
        <p:nvSpPr>
          <p:cNvPr id="156" name="Google Shape;15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7" name="Google Shape;157;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8" name="Google Shape;158;p26"/>
          <p:cNvPicPr preferRelativeResize="0"/>
          <p:nvPr/>
        </p:nvPicPr>
        <p:blipFill>
          <a:blip r:embed="rId3">
            <a:alphaModFix/>
          </a:blip>
          <a:stretch>
            <a:fillRect/>
          </a:stretch>
        </p:blipFill>
        <p:spPr>
          <a:xfrm>
            <a:off x="1341194" y="0"/>
            <a:ext cx="6461612" cy="51435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2" name="Shape 162"/>
        <p:cNvGrpSpPr/>
        <p:nvPr/>
      </p:nvGrpSpPr>
      <p:grpSpPr>
        <a:xfrm>
          <a:off x="0" y="0"/>
          <a:ext cx="0" cy="0"/>
          <a:chOff x="0" y="0"/>
          <a:chExt cx="0" cy="0"/>
        </a:xfrm>
      </p:grpSpPr>
      <p:sp>
        <p:nvSpPr>
          <p:cNvPr id="163" name="Google Shape;163;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From Ideas to RTL</a:t>
            </a:r>
            <a:endParaRPr/>
          </a:p>
        </p:txBody>
      </p:sp>
      <p:pic>
        <p:nvPicPr>
          <p:cNvPr id="164" name="Google Shape;164;p27"/>
          <p:cNvPicPr preferRelativeResize="0"/>
          <p:nvPr/>
        </p:nvPicPr>
        <p:blipFill>
          <a:blip r:embed="rId3">
            <a:alphaModFix/>
          </a:blip>
          <a:stretch>
            <a:fillRect/>
          </a:stretch>
        </p:blipFill>
        <p:spPr>
          <a:xfrm>
            <a:off x="3627974" y="-25500"/>
            <a:ext cx="4242151" cy="5194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8" name="Shape 168"/>
        <p:cNvGrpSpPr/>
        <p:nvPr/>
      </p:nvGrpSpPr>
      <p:grpSpPr>
        <a:xfrm>
          <a:off x="0" y="0"/>
          <a:ext cx="0" cy="0"/>
          <a:chOff x="0" y="0"/>
          <a:chExt cx="0" cy="0"/>
        </a:xfrm>
      </p:grpSpPr>
      <p:sp>
        <p:nvSpPr>
          <p:cNvPr id="169" name="Google Shape;16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From Ideas to RTL: Results</a:t>
            </a:r>
            <a:endParaRPr/>
          </a:p>
        </p:txBody>
      </p:sp>
      <p:pic>
        <p:nvPicPr>
          <p:cNvPr id="170" name="Google Shape;170;p28" title="embench_progress.png"/>
          <p:cNvPicPr preferRelativeResize="0"/>
          <p:nvPr/>
        </p:nvPicPr>
        <p:blipFill>
          <a:blip r:embed="rId3">
            <a:alphaModFix/>
          </a:blip>
          <a:stretch>
            <a:fillRect/>
          </a:stretch>
        </p:blipFill>
        <p:spPr>
          <a:xfrm>
            <a:off x="1450063" y="1017725"/>
            <a:ext cx="6243876" cy="39733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From RTL to SW Sim</a:t>
            </a:r>
            <a:endParaRPr/>
          </a:p>
        </p:txBody>
      </p:sp>
      <p:sp>
        <p:nvSpPr>
          <p:cNvPr id="176" name="Google Shape;176;p29"/>
          <p:cNvSpPr txBox="1"/>
          <p:nvPr>
            <p:ph idx="1" type="body"/>
          </p:nvPr>
        </p:nvSpPr>
        <p:spPr>
          <a:xfrm>
            <a:off x="311700" y="1123250"/>
            <a:ext cx="3370500" cy="356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Chia flow which uses LLMs to</a:t>
            </a:r>
            <a:endParaRPr/>
          </a:p>
          <a:p>
            <a:pPr indent="-342900" lvl="0" marL="457200" rtl="0" algn="l">
              <a:spcBef>
                <a:spcPts val="1200"/>
              </a:spcBef>
              <a:spcAft>
                <a:spcPts val="0"/>
              </a:spcAft>
              <a:buSzPts val="1800"/>
              <a:buAutoNum type="arabicPeriod"/>
            </a:pPr>
            <a:r>
              <a:rPr lang="en"/>
              <a:t>Analyze execution traces of benchmarks</a:t>
            </a:r>
            <a:endParaRPr/>
          </a:p>
          <a:p>
            <a:pPr indent="-342900" lvl="0" marL="457200" rtl="0" algn="l">
              <a:spcBef>
                <a:spcPts val="0"/>
              </a:spcBef>
              <a:spcAft>
                <a:spcPts val="0"/>
              </a:spcAft>
              <a:buSzPts val="1800"/>
              <a:buAutoNum type="arabicPeriod"/>
            </a:pPr>
            <a:r>
              <a:rPr lang="en"/>
              <a:t>Isolate misaligned structures </a:t>
            </a:r>
            <a:r>
              <a:rPr lang="en"/>
              <a:t>between</a:t>
            </a:r>
            <a:r>
              <a:rPr lang="en"/>
              <a:t> processor and simulator</a:t>
            </a:r>
            <a:endParaRPr/>
          </a:p>
          <a:p>
            <a:pPr indent="-342900" lvl="0" marL="457200" rtl="0" algn="l">
              <a:spcBef>
                <a:spcPts val="0"/>
              </a:spcBef>
              <a:spcAft>
                <a:spcPts val="0"/>
              </a:spcAft>
              <a:buSzPts val="1800"/>
              <a:buAutoNum type="arabicPeriod"/>
            </a:pPr>
            <a:r>
              <a:rPr lang="en"/>
              <a:t>Edit the simulator to improve alignment</a:t>
            </a:r>
            <a:endParaRPr/>
          </a:p>
          <a:p>
            <a:pPr indent="-342900" lvl="0" marL="457200" rtl="0" algn="l">
              <a:spcBef>
                <a:spcPts val="0"/>
              </a:spcBef>
              <a:spcAft>
                <a:spcPts val="0"/>
              </a:spcAft>
              <a:buSzPts val="1800"/>
              <a:buAutoNum type="arabicPeriod"/>
            </a:pPr>
            <a:r>
              <a:rPr lang="en"/>
              <a:t>Debug mistaken edits</a:t>
            </a:r>
            <a:endParaRPr/>
          </a:p>
        </p:txBody>
      </p:sp>
      <p:pic>
        <p:nvPicPr>
          <p:cNvPr id="177" name="Google Shape;177;p29"/>
          <p:cNvPicPr preferRelativeResize="0"/>
          <p:nvPr/>
        </p:nvPicPr>
        <p:blipFill>
          <a:blip r:embed="rId3">
            <a:alphaModFix/>
          </a:blip>
          <a:stretch>
            <a:fillRect/>
          </a:stretch>
        </p:blipFill>
        <p:spPr>
          <a:xfrm>
            <a:off x="3876600" y="0"/>
            <a:ext cx="5050852" cy="51435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30"/>
          <p:cNvPicPr preferRelativeResize="0"/>
          <p:nvPr/>
        </p:nvPicPr>
        <p:blipFill>
          <a:blip r:embed="rId3">
            <a:alphaModFix/>
          </a:blip>
          <a:stretch>
            <a:fillRect/>
          </a:stretch>
        </p:blipFill>
        <p:spPr>
          <a:xfrm>
            <a:off x="4093150" y="0"/>
            <a:ext cx="5050852" cy="5143501"/>
          </a:xfrm>
          <a:prstGeom prst="rect">
            <a:avLst/>
          </a:prstGeom>
          <a:noFill/>
          <a:ln>
            <a:noFill/>
          </a:ln>
        </p:spPr>
      </p:pic>
      <p:sp>
        <p:nvSpPr>
          <p:cNvPr id="183" name="Google Shape;183;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Rapid Flow Development</a:t>
            </a:r>
            <a:endParaRPr/>
          </a:p>
        </p:txBody>
      </p:sp>
      <p:sp>
        <p:nvSpPr>
          <p:cNvPr id="184" name="Google Shape;184;p30"/>
          <p:cNvSpPr txBox="1"/>
          <p:nvPr>
            <p:ph idx="1" type="body"/>
          </p:nvPr>
        </p:nvSpPr>
        <p:spPr>
          <a:xfrm>
            <a:off x="311700" y="1123250"/>
            <a:ext cx="3260100" cy="3562500"/>
          </a:xfrm>
          <a:prstGeom prst="rect">
            <a:avLst/>
          </a:prstGeom>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None/>
            </a:pPr>
            <a:r>
              <a:rPr lang="en" sz="1600">
                <a:solidFill>
                  <a:srgbClr val="007AFF"/>
                </a:solidFill>
              </a:rPr>
              <a:t>Chia makes it easy for us to iterate on this flow by inserting/changing nodes.</a:t>
            </a:r>
            <a:endParaRPr sz="1600">
              <a:solidFill>
                <a:srgbClr val="007AFF"/>
              </a:solidFill>
            </a:endParaRPr>
          </a:p>
          <a:p>
            <a:pPr indent="0" lvl="0" marL="0" rtl="0" algn="l">
              <a:lnSpc>
                <a:spcPct val="115000"/>
              </a:lnSpc>
              <a:spcBef>
                <a:spcPts val="0"/>
              </a:spcBef>
              <a:spcAft>
                <a:spcPts val="0"/>
              </a:spcAft>
              <a:buNone/>
            </a:pPr>
            <a:r>
              <a:t/>
            </a:r>
            <a:endParaRPr sz="1600">
              <a:solidFill>
                <a:srgbClr val="222222"/>
              </a:solidFill>
            </a:endParaRPr>
          </a:p>
          <a:p>
            <a:pPr indent="0" lvl="0" marL="0" rtl="0" algn="l">
              <a:lnSpc>
                <a:spcPct val="115000"/>
              </a:lnSpc>
              <a:spcBef>
                <a:spcPts val="0"/>
              </a:spcBef>
              <a:spcAft>
                <a:spcPts val="0"/>
              </a:spcAft>
              <a:buNone/>
            </a:pPr>
            <a:r>
              <a:rPr lang="en" sz="1600">
                <a:solidFill>
                  <a:srgbClr val="222222"/>
                </a:solidFill>
              </a:rPr>
              <a:t>LLM struggles to identify misalignment with only performance counters -&gt; added pipeline traces</a:t>
            </a:r>
            <a:endParaRPr sz="1600">
              <a:solidFill>
                <a:srgbClr val="222222"/>
              </a:solidFill>
            </a:endParaRPr>
          </a:p>
          <a:p>
            <a:pPr indent="0" lvl="0" marL="0" rtl="0" algn="l">
              <a:lnSpc>
                <a:spcPct val="115000"/>
              </a:lnSpc>
              <a:spcBef>
                <a:spcPts val="0"/>
              </a:spcBef>
              <a:spcAft>
                <a:spcPts val="0"/>
              </a:spcAft>
              <a:buNone/>
            </a:pPr>
            <a:r>
              <a:t/>
            </a:r>
            <a:endParaRPr sz="2000">
              <a:solidFill>
                <a:srgbClr val="222222"/>
              </a:solidFill>
            </a:endParaRPr>
          </a:p>
          <a:p>
            <a:pPr indent="0" lvl="0" marL="0" rtl="0" algn="l">
              <a:lnSpc>
                <a:spcPct val="115000"/>
              </a:lnSpc>
              <a:spcBef>
                <a:spcPts val="0"/>
              </a:spcBef>
              <a:spcAft>
                <a:spcPts val="0"/>
              </a:spcAft>
              <a:buNone/>
            </a:pPr>
            <a:r>
              <a:rPr lang="en" sz="1600">
                <a:solidFill>
                  <a:srgbClr val="222222"/>
                </a:solidFill>
              </a:rPr>
              <a:t>LLM struggles to return valid diffs -&gt; have it make changes agentically</a:t>
            </a:r>
            <a:endParaRPr sz="1600">
              <a:solidFill>
                <a:srgbClr val="222222"/>
              </a:solidFill>
            </a:endParaRPr>
          </a:p>
          <a:p>
            <a:pPr indent="0" lvl="0" marL="0" rtl="0" algn="l">
              <a:lnSpc>
                <a:spcPct val="115000"/>
              </a:lnSpc>
              <a:spcBef>
                <a:spcPts val="0"/>
              </a:spcBef>
              <a:spcAft>
                <a:spcPts val="0"/>
              </a:spcAft>
              <a:buNone/>
            </a:pPr>
            <a:r>
              <a:t/>
            </a:r>
            <a:endParaRPr sz="2000">
              <a:solidFill>
                <a:srgbClr val="222222"/>
              </a:solidFill>
            </a:endParaRPr>
          </a:p>
          <a:p>
            <a:pPr indent="0" lvl="0" marL="0" rtl="0" algn="l">
              <a:lnSpc>
                <a:spcPct val="115000"/>
              </a:lnSpc>
              <a:spcBef>
                <a:spcPts val="0"/>
              </a:spcBef>
              <a:spcAft>
                <a:spcPts val="0"/>
              </a:spcAft>
              <a:buNone/>
            </a:pPr>
            <a:r>
              <a:rPr lang="en" sz="1600">
                <a:solidFill>
                  <a:srgbClr val="222222"/>
                </a:solidFill>
              </a:rPr>
              <a:t>LLM cannot get thorough alignment with only configuration files -&gt; let edit source</a:t>
            </a:r>
            <a:endParaRPr sz="1600">
              <a:solidFill>
                <a:srgbClr val="222222"/>
              </a:solidFill>
            </a:endParaRPr>
          </a:p>
          <a:p>
            <a:pPr indent="0" lvl="0" marL="0" rtl="0" algn="l">
              <a:spcBef>
                <a:spcPts val="0"/>
              </a:spcBef>
              <a:spcAft>
                <a:spcPts val="1200"/>
              </a:spcAft>
              <a:buNone/>
            </a:pPr>
            <a:r>
              <a:t/>
            </a:r>
            <a:endParaRPr/>
          </a:p>
        </p:txBody>
      </p:sp>
      <p:sp>
        <p:nvSpPr>
          <p:cNvPr id="185" name="Google Shape;185;p30"/>
          <p:cNvSpPr/>
          <p:nvPr/>
        </p:nvSpPr>
        <p:spPr>
          <a:xfrm rot="1983">
            <a:off x="2800837" y="2175435"/>
            <a:ext cx="4161601" cy="108300"/>
          </a:xfrm>
          <a:prstGeom prst="right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 name="Google Shape;186;p30"/>
          <p:cNvSpPr/>
          <p:nvPr/>
        </p:nvSpPr>
        <p:spPr>
          <a:xfrm rot="-2553335">
            <a:off x="2978049" y="2324703"/>
            <a:ext cx="1895003" cy="107643"/>
          </a:xfrm>
          <a:prstGeom prst="right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30"/>
          <p:cNvSpPr/>
          <p:nvPr/>
        </p:nvSpPr>
        <p:spPr>
          <a:xfrm rot="-124293">
            <a:off x="3529382" y="3795701"/>
            <a:ext cx="3120539" cy="96967"/>
          </a:xfrm>
          <a:prstGeom prst="rightArrow">
            <a:avLst>
              <a:gd fmla="val 50000" name="adj1"/>
              <a:gd fmla="val 50000" name="adj2"/>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1" name="Shape 191"/>
        <p:cNvGrpSpPr/>
        <p:nvPr/>
      </p:nvGrpSpPr>
      <p:grpSpPr>
        <a:xfrm>
          <a:off x="0" y="0"/>
          <a:ext cx="0" cy="0"/>
          <a:chOff x="0" y="0"/>
          <a:chExt cx="0" cy="0"/>
        </a:xfrm>
      </p:grpSpPr>
      <p:sp>
        <p:nvSpPr>
          <p:cNvPr id="192" name="Google Shape;192;p31"/>
          <p:cNvSpPr txBox="1"/>
          <p:nvPr>
            <p:ph type="title"/>
          </p:nvPr>
        </p:nvSpPr>
        <p:spPr>
          <a:xfrm>
            <a:off x="6712500" y="3178700"/>
            <a:ext cx="2136300" cy="158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From RTL to Software Simulation</a:t>
            </a:r>
            <a:endParaRPr/>
          </a:p>
        </p:txBody>
      </p:sp>
      <p:pic>
        <p:nvPicPr>
          <p:cNvPr id="193" name="Google Shape;193;p31"/>
          <p:cNvPicPr preferRelativeResize="0"/>
          <p:nvPr/>
        </p:nvPicPr>
        <p:blipFill>
          <a:blip r:embed="rId3">
            <a:alphaModFix/>
          </a:blip>
          <a:stretch>
            <a:fillRect/>
          </a:stretch>
        </p:blipFill>
        <p:spPr>
          <a:xfrm>
            <a:off x="449400" y="0"/>
            <a:ext cx="5050852" cy="51435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From RTL to Software Simulation: Results (1)</a:t>
            </a:r>
            <a:endParaRPr/>
          </a:p>
        </p:txBody>
      </p:sp>
      <p:pic>
        <p:nvPicPr>
          <p:cNvPr id="199" name="Google Shape;199;p32"/>
          <p:cNvPicPr preferRelativeResize="0"/>
          <p:nvPr/>
        </p:nvPicPr>
        <p:blipFill>
          <a:blip r:embed="rId3">
            <a:alphaModFix/>
          </a:blip>
          <a:stretch>
            <a:fillRect/>
          </a:stretch>
        </p:blipFill>
        <p:spPr>
          <a:xfrm>
            <a:off x="751025" y="1017725"/>
            <a:ext cx="7641949" cy="3820974"/>
          </a:xfrm>
          <a:prstGeom prst="rect">
            <a:avLst/>
          </a:prstGeom>
          <a:noFill/>
          <a:ln>
            <a:noFill/>
          </a:ln>
        </p:spPr>
      </p:pic>
      <p:sp>
        <p:nvSpPr>
          <p:cNvPr id="200" name="Google Shape;200;p32"/>
          <p:cNvSpPr/>
          <p:nvPr/>
        </p:nvSpPr>
        <p:spPr>
          <a:xfrm>
            <a:off x="4422575" y="1274300"/>
            <a:ext cx="4079700" cy="3307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From RTL to Software Simulation: Results (1)</a:t>
            </a:r>
            <a:endParaRPr/>
          </a:p>
        </p:txBody>
      </p:sp>
      <p:pic>
        <p:nvPicPr>
          <p:cNvPr id="206" name="Google Shape;206;p33"/>
          <p:cNvPicPr preferRelativeResize="0"/>
          <p:nvPr/>
        </p:nvPicPr>
        <p:blipFill>
          <a:blip r:embed="rId3">
            <a:alphaModFix/>
          </a:blip>
          <a:stretch>
            <a:fillRect/>
          </a:stretch>
        </p:blipFill>
        <p:spPr>
          <a:xfrm>
            <a:off x="751025" y="1017725"/>
            <a:ext cx="7641949" cy="3820974"/>
          </a:xfrm>
          <a:prstGeom prst="rect">
            <a:avLst/>
          </a:prstGeom>
          <a:noFill/>
          <a:ln>
            <a:noFill/>
          </a:ln>
        </p:spPr>
      </p:pic>
      <p:sp>
        <p:nvSpPr>
          <p:cNvPr id="207" name="Google Shape;207;p33"/>
          <p:cNvSpPr/>
          <p:nvPr/>
        </p:nvSpPr>
        <p:spPr>
          <a:xfrm>
            <a:off x="5551475" y="1274300"/>
            <a:ext cx="2950800" cy="3307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4"/>
          <p:cNvSpPr txBox="1"/>
          <p:nvPr>
            <p:ph type="title"/>
          </p:nvPr>
        </p:nvSpPr>
        <p:spPr>
          <a:xfrm>
            <a:off x="311700" y="445025"/>
            <a:ext cx="3324300" cy="1009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Breaking the Plateau:</a:t>
            </a:r>
            <a:endParaRPr/>
          </a:p>
          <a:p>
            <a:pPr indent="0" lvl="0" marL="0" rtl="0" algn="l">
              <a:spcBef>
                <a:spcPts val="0"/>
              </a:spcBef>
              <a:spcAft>
                <a:spcPts val="0"/>
              </a:spcAft>
              <a:buNone/>
            </a:pPr>
            <a:r>
              <a:rPr lang="en"/>
              <a:t>Enabling Experiments</a:t>
            </a:r>
            <a:endParaRPr/>
          </a:p>
        </p:txBody>
      </p:sp>
      <p:pic>
        <p:nvPicPr>
          <p:cNvPr id="213" name="Google Shape;213;p34"/>
          <p:cNvPicPr preferRelativeResize="0"/>
          <p:nvPr/>
        </p:nvPicPr>
        <p:blipFill>
          <a:blip r:embed="rId3">
            <a:alphaModFix/>
          </a:blip>
          <a:stretch>
            <a:fillRect/>
          </a:stretch>
        </p:blipFill>
        <p:spPr>
          <a:xfrm>
            <a:off x="3876600" y="0"/>
            <a:ext cx="5050852" cy="5143501"/>
          </a:xfrm>
          <a:prstGeom prst="rect">
            <a:avLst/>
          </a:prstGeom>
          <a:noFill/>
          <a:ln>
            <a:noFill/>
          </a:ln>
        </p:spPr>
      </p:pic>
      <p:sp>
        <p:nvSpPr>
          <p:cNvPr id="214" name="Google Shape;214;p34"/>
          <p:cNvSpPr/>
          <p:nvPr/>
        </p:nvSpPr>
        <p:spPr>
          <a:xfrm>
            <a:off x="4147225" y="2489975"/>
            <a:ext cx="1170900" cy="10095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34"/>
          <p:cNvSpPr txBox="1"/>
          <p:nvPr>
            <p:ph idx="1" type="body"/>
          </p:nvPr>
        </p:nvSpPr>
        <p:spPr>
          <a:xfrm>
            <a:off x="311700" y="1512000"/>
            <a:ext cx="3260100" cy="3254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600">
                <a:solidFill>
                  <a:srgbClr val="007AFF"/>
                </a:solidFill>
              </a:rPr>
              <a:t>Allow the LLM to run experiments on it’s own =&gt;</a:t>
            </a:r>
            <a:endParaRPr sz="1600">
              <a:solidFill>
                <a:srgbClr val="222222"/>
              </a:solidFill>
            </a:endParaRPr>
          </a:p>
          <a:p>
            <a:pPr indent="0" lvl="0" marL="0" rtl="0" algn="l">
              <a:spcBef>
                <a:spcPts val="0"/>
              </a:spcBef>
              <a:spcAft>
                <a:spcPts val="1200"/>
              </a:spcAft>
              <a:buNone/>
            </a:pPr>
            <a:r>
              <a:rPr lang="en"/>
              <a:t>Longer iterations, better progress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From RTL to Software Simulation: Results (2)</a:t>
            </a:r>
            <a:endParaRPr/>
          </a:p>
        </p:txBody>
      </p:sp>
      <p:pic>
        <p:nvPicPr>
          <p:cNvPr id="221" name="Google Shape;221;p35"/>
          <p:cNvPicPr preferRelativeResize="0"/>
          <p:nvPr/>
        </p:nvPicPr>
        <p:blipFill>
          <a:blip r:embed="rId3">
            <a:alphaModFix/>
          </a:blip>
          <a:stretch>
            <a:fillRect/>
          </a:stretch>
        </p:blipFill>
        <p:spPr>
          <a:xfrm>
            <a:off x="751025" y="1017725"/>
            <a:ext cx="7641949" cy="382097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p36"/>
          <p:cNvPicPr preferRelativeResize="0"/>
          <p:nvPr/>
        </p:nvPicPr>
        <p:blipFill>
          <a:blip r:embed="rId3">
            <a:alphaModFix/>
          </a:blip>
          <a:stretch>
            <a:fillRect/>
          </a:stretch>
        </p:blipFill>
        <p:spPr>
          <a:xfrm>
            <a:off x="576000" y="0"/>
            <a:ext cx="7926170" cy="5143499"/>
          </a:xfrm>
          <a:prstGeom prst="rect">
            <a:avLst/>
          </a:prstGeom>
          <a:noFill/>
          <a:ln>
            <a:noFill/>
          </a:ln>
        </p:spPr>
      </p:pic>
      <p:sp>
        <p:nvSpPr>
          <p:cNvPr id="227" name="Google Shape;227;p36"/>
          <p:cNvSpPr txBox="1"/>
          <p:nvPr>
            <p:ph type="title"/>
          </p:nvPr>
        </p:nvSpPr>
        <p:spPr>
          <a:xfrm>
            <a:off x="37350" y="3517700"/>
            <a:ext cx="2136300" cy="158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Alignment Iteration Tree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Steps</a:t>
            </a:r>
            <a:endParaRPr/>
          </a:p>
        </p:txBody>
      </p:sp>
      <p:sp>
        <p:nvSpPr>
          <p:cNvPr id="233" name="Google Shape;233;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Continue Chia build-out</a:t>
            </a:r>
            <a:endParaRPr/>
          </a:p>
          <a:p>
            <a:pPr indent="-317500" lvl="1" marL="914400" rtl="0" algn="l">
              <a:spcBef>
                <a:spcPts val="0"/>
              </a:spcBef>
              <a:spcAft>
                <a:spcPts val="0"/>
              </a:spcAft>
              <a:buSzPts val="1400"/>
              <a:buAutoNum type="alphaLcPeriod"/>
            </a:pPr>
            <a:r>
              <a:rPr lang="en"/>
              <a:t>Improve human/LLM usability of Chia</a:t>
            </a:r>
            <a:endParaRPr/>
          </a:p>
          <a:p>
            <a:pPr indent="-317500" lvl="1" marL="914400" rtl="0" algn="l">
              <a:spcBef>
                <a:spcPts val="0"/>
              </a:spcBef>
              <a:spcAft>
                <a:spcPts val="0"/>
              </a:spcAft>
              <a:buSzPts val="1400"/>
              <a:buAutoNum type="alphaLcPeriod"/>
            </a:pPr>
            <a:r>
              <a:rPr lang="en"/>
              <a:t>More </a:t>
            </a:r>
            <a:r>
              <a:rPr lang="en"/>
              <a:t>integration</a:t>
            </a:r>
            <a:r>
              <a:rPr lang="en"/>
              <a:t> of external tools</a:t>
            </a:r>
            <a:endParaRPr/>
          </a:p>
          <a:p>
            <a:pPr indent="-342900" lvl="0" marL="457200" rtl="0" algn="l">
              <a:spcBef>
                <a:spcPts val="0"/>
              </a:spcBef>
              <a:spcAft>
                <a:spcPts val="0"/>
              </a:spcAft>
              <a:buSzPts val="1800"/>
              <a:buAutoNum type="arabicPeriod"/>
            </a:pPr>
            <a:r>
              <a:rPr lang="en"/>
              <a:t>Gem5 alignment</a:t>
            </a:r>
            <a:endParaRPr/>
          </a:p>
          <a:p>
            <a:pPr indent="-317500" lvl="1" marL="914400" rtl="0" algn="l">
              <a:spcBef>
                <a:spcPts val="0"/>
              </a:spcBef>
              <a:spcAft>
                <a:spcPts val="0"/>
              </a:spcAft>
              <a:buSzPts val="1400"/>
              <a:buAutoNum type="alphaLcPeriod"/>
            </a:pPr>
            <a:r>
              <a:rPr lang="en"/>
              <a:t>Expand suite of benchmarks</a:t>
            </a:r>
            <a:endParaRPr/>
          </a:p>
          <a:p>
            <a:pPr indent="-317500" lvl="1" marL="914400" rtl="0" algn="l">
              <a:spcBef>
                <a:spcPts val="0"/>
              </a:spcBef>
              <a:spcAft>
                <a:spcPts val="0"/>
              </a:spcAft>
              <a:buSzPts val="1400"/>
              <a:buAutoNum type="alphaLcPeriod"/>
            </a:pPr>
            <a:r>
              <a:rPr lang="en"/>
              <a:t>Explore many BOOM variants</a:t>
            </a:r>
            <a:endParaRPr/>
          </a:p>
          <a:p>
            <a:pPr indent="-342900" lvl="0" marL="457200" rtl="0" algn="l">
              <a:spcBef>
                <a:spcPts val="0"/>
              </a:spcBef>
              <a:spcAft>
                <a:spcPts val="0"/>
              </a:spcAft>
              <a:buSzPts val="1800"/>
              <a:buAutoNum type="arabicPeriod"/>
            </a:pPr>
            <a:r>
              <a:rPr lang="en"/>
              <a:t>MegaBoom DSE</a:t>
            </a:r>
            <a:endParaRPr/>
          </a:p>
          <a:p>
            <a:pPr indent="-317500" lvl="1" marL="914400" rtl="0" algn="l">
              <a:spcBef>
                <a:spcPts val="0"/>
              </a:spcBef>
              <a:spcAft>
                <a:spcPts val="0"/>
              </a:spcAft>
              <a:buSzPts val="1400"/>
              <a:buAutoNum type="alphaLcPeriod"/>
            </a:pPr>
            <a:r>
              <a:rPr lang="en"/>
              <a:t>Keep evaluating performance improvements</a:t>
            </a:r>
            <a:endParaRPr/>
          </a:p>
          <a:p>
            <a:pPr indent="-317500" lvl="1" marL="914400" rtl="0" algn="l">
              <a:spcBef>
                <a:spcPts val="0"/>
              </a:spcBef>
              <a:spcAft>
                <a:spcPts val="0"/>
              </a:spcAft>
              <a:buSzPts val="1400"/>
              <a:buAutoNum type="alphaLcPeriod"/>
            </a:pPr>
            <a:r>
              <a:rPr lang="en"/>
              <a:t>Bake-in area and power information when deciding future optimizations</a:t>
            </a:r>
            <a:endParaRPr/>
          </a:p>
          <a:p>
            <a:pPr indent="-317500" lvl="1" marL="914400" rtl="0" algn="l">
              <a:spcBef>
                <a:spcPts val="0"/>
              </a:spcBef>
              <a:spcAft>
                <a:spcPts val="0"/>
              </a:spcAft>
              <a:buSzPts val="1400"/>
              <a:buAutoNum type="alphaLcPeriod"/>
            </a:pPr>
            <a:r>
              <a:rPr lang="en"/>
              <a:t>Explore new flows to improve performance and get better DSE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Thank you!</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2" name="Shape 242"/>
        <p:cNvGrpSpPr/>
        <p:nvPr/>
      </p:nvGrpSpPr>
      <p:grpSpPr>
        <a:xfrm>
          <a:off x="0" y="0"/>
          <a:ext cx="0" cy="0"/>
          <a:chOff x="0" y="0"/>
          <a:chExt cx="0" cy="0"/>
        </a:xfrm>
      </p:grpSpPr>
      <p:pic>
        <p:nvPicPr>
          <p:cNvPr descr="Beautify this slide" id="243" name="Google Shape;243;p39"/>
          <p:cNvPicPr preferRelativeResize="0"/>
          <p:nvPr/>
        </p:nvPicPr>
        <p:blipFill>
          <a:blip r:embed="rId3">
            <a:alphaModFix/>
          </a:blip>
          <a:stretch>
            <a:fillRect/>
          </a:stretch>
        </p:blipFill>
        <p:spPr>
          <a:xfrm>
            <a:off x="-33338" y="0"/>
            <a:ext cx="9210675" cy="5143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7" name="Shape 247"/>
        <p:cNvGrpSpPr/>
        <p:nvPr/>
      </p:nvGrpSpPr>
      <p:grpSpPr>
        <a:xfrm>
          <a:off x="0" y="0"/>
          <a:ext cx="0" cy="0"/>
          <a:chOff x="0" y="0"/>
          <a:chExt cx="0" cy="0"/>
        </a:xfrm>
      </p:grpSpPr>
      <p:sp>
        <p:nvSpPr>
          <p:cNvPr id="248" name="Google Shape;248;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Chia Progress</a:t>
            </a:r>
            <a:endParaRPr/>
          </a:p>
        </p:txBody>
      </p:sp>
      <p:sp>
        <p:nvSpPr>
          <p:cNvPr id="249" name="Google Shape;249;p40"/>
          <p:cNvSpPr txBox="1"/>
          <p:nvPr>
            <p:ph idx="1" type="body"/>
          </p:nvPr>
        </p:nvSpPr>
        <p:spPr>
          <a:xfrm>
            <a:off x="1221375" y="1152475"/>
            <a:ext cx="2587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Developed </a:t>
            </a:r>
            <a:r>
              <a:rPr lang="en"/>
              <a:t>Support</a:t>
            </a:r>
            <a:r>
              <a:rPr lang="en"/>
              <a:t> for:</a:t>
            </a:r>
            <a:endParaRPr/>
          </a:p>
          <a:p>
            <a:pPr indent="-342900" lvl="0" marL="457200" rtl="0" algn="l">
              <a:spcBef>
                <a:spcPts val="1200"/>
              </a:spcBef>
              <a:spcAft>
                <a:spcPts val="0"/>
              </a:spcAft>
              <a:buSzPts val="1800"/>
              <a:buChar char="●"/>
            </a:pPr>
            <a:r>
              <a:rPr lang="en"/>
              <a:t>Chisel Build</a:t>
            </a:r>
            <a:endParaRPr/>
          </a:p>
          <a:p>
            <a:pPr indent="-342900" lvl="0" marL="457200" rtl="0" algn="l">
              <a:spcBef>
                <a:spcPts val="0"/>
              </a:spcBef>
              <a:spcAft>
                <a:spcPts val="0"/>
              </a:spcAft>
              <a:buSzPts val="1800"/>
              <a:buChar char="●"/>
            </a:pPr>
            <a:r>
              <a:rPr lang="en"/>
              <a:t>Verilator</a:t>
            </a:r>
            <a:endParaRPr/>
          </a:p>
          <a:p>
            <a:pPr indent="-342900" lvl="0" marL="457200" rtl="0" algn="l">
              <a:spcBef>
                <a:spcPts val="0"/>
              </a:spcBef>
              <a:spcAft>
                <a:spcPts val="0"/>
              </a:spcAft>
              <a:buSzPts val="1800"/>
              <a:buChar char="●"/>
            </a:pPr>
            <a:r>
              <a:rPr lang="en"/>
              <a:t>LLM Calls</a:t>
            </a:r>
            <a:endParaRPr/>
          </a:p>
          <a:p>
            <a:pPr indent="-342900" lvl="0" marL="457200" rtl="0" algn="l">
              <a:spcBef>
                <a:spcPts val="0"/>
              </a:spcBef>
              <a:spcAft>
                <a:spcPts val="0"/>
              </a:spcAft>
              <a:buSzPts val="1800"/>
              <a:buChar char="●"/>
            </a:pPr>
            <a:r>
              <a:rPr lang="en"/>
              <a:t>Hammer-VLSI</a:t>
            </a:r>
            <a:endParaRPr/>
          </a:p>
          <a:p>
            <a:pPr indent="-342900" lvl="0" marL="457200" rtl="0" algn="l">
              <a:spcBef>
                <a:spcPts val="0"/>
              </a:spcBef>
              <a:spcAft>
                <a:spcPts val="0"/>
              </a:spcAft>
              <a:buSzPts val="1800"/>
              <a:buChar char="●"/>
            </a:pPr>
            <a:r>
              <a:rPr lang="en"/>
              <a:t>Cluster bringup</a:t>
            </a:r>
            <a:endParaRPr/>
          </a:p>
          <a:p>
            <a:pPr indent="-342900" lvl="0" marL="457200" rtl="0" algn="l">
              <a:spcBef>
                <a:spcPts val="0"/>
              </a:spcBef>
              <a:spcAft>
                <a:spcPts val="0"/>
              </a:spcAft>
              <a:buSzPts val="1800"/>
              <a:buChar char="●"/>
            </a:pPr>
            <a:r>
              <a:rPr lang="en"/>
              <a:t>Flow Tracing</a:t>
            </a:r>
            <a:endParaRPr/>
          </a:p>
          <a:p>
            <a:pPr indent="-342900" lvl="0" marL="457200" rtl="0" algn="l">
              <a:spcBef>
                <a:spcPts val="0"/>
              </a:spcBef>
              <a:spcAft>
                <a:spcPts val="0"/>
              </a:spcAft>
              <a:buSzPts val="1800"/>
              <a:buChar char="●"/>
            </a:pPr>
            <a:r>
              <a:rPr lang="en"/>
              <a:t>Flow Visualization</a:t>
            </a:r>
            <a:endParaRPr/>
          </a:p>
          <a:p>
            <a:pPr indent="-342900" lvl="0" marL="457200" rtl="0" algn="l">
              <a:spcBef>
                <a:spcPts val="0"/>
              </a:spcBef>
              <a:spcAft>
                <a:spcPts val="0"/>
              </a:spcAft>
              <a:buSzPts val="1800"/>
              <a:buChar char="●"/>
            </a:pPr>
            <a:r>
              <a:rPr lang="en"/>
              <a:t>o</a:t>
            </a:r>
            <a:r>
              <a:rPr lang="en"/>
              <a:t>thers </a:t>
            </a:r>
            <a:endParaRPr/>
          </a:p>
        </p:txBody>
      </p:sp>
      <p:sp>
        <p:nvSpPr>
          <p:cNvPr id="250" name="Google Shape;250;p40"/>
          <p:cNvSpPr txBox="1"/>
          <p:nvPr>
            <p:ph idx="1" type="body"/>
          </p:nvPr>
        </p:nvSpPr>
        <p:spPr>
          <a:xfrm>
            <a:off x="5420550" y="1152475"/>
            <a:ext cx="2587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Progress</a:t>
            </a:r>
            <a:endParaRPr/>
          </a:p>
          <a:p>
            <a:pPr indent="-342900" lvl="0" marL="457200" rtl="0" algn="l">
              <a:spcBef>
                <a:spcPts val="1200"/>
              </a:spcBef>
              <a:spcAft>
                <a:spcPts val="0"/>
              </a:spcAft>
              <a:buSzPts val="1800"/>
              <a:buChar char="●"/>
            </a:pPr>
            <a:r>
              <a:rPr lang="en"/>
              <a:t>FireSim run</a:t>
            </a:r>
            <a:endParaRPr/>
          </a:p>
          <a:p>
            <a:pPr indent="-342900" lvl="0" marL="457200" rtl="0" algn="l">
              <a:spcBef>
                <a:spcPts val="0"/>
              </a:spcBef>
              <a:spcAft>
                <a:spcPts val="0"/>
              </a:spcAft>
              <a:buSzPts val="1800"/>
              <a:buChar char="●"/>
            </a:pPr>
            <a:r>
              <a:rPr lang="en"/>
              <a:t>FireSim Bitstream build</a:t>
            </a:r>
            <a:endParaRPr/>
          </a:p>
          <a:p>
            <a:pPr indent="-342900" lvl="0" marL="457200" rtl="0" algn="l">
              <a:spcBef>
                <a:spcPts val="0"/>
              </a:spcBef>
              <a:spcAft>
                <a:spcPts val="0"/>
              </a:spcAft>
              <a:buSzPts val="1800"/>
              <a:buChar char="●"/>
            </a:pPr>
            <a:r>
              <a:rPr lang="en"/>
              <a:t>Chisel Unit Testing</a:t>
            </a:r>
            <a:endParaRPr/>
          </a:p>
          <a:p>
            <a:pPr indent="-342900" lvl="0" marL="457200" rtl="0" algn="l">
              <a:spcBef>
                <a:spcPts val="0"/>
              </a:spcBef>
              <a:spcAft>
                <a:spcPts val="0"/>
              </a:spcAft>
              <a:buSzPts val="1800"/>
              <a:buChar char="●"/>
            </a:pPr>
            <a:r>
              <a:rPr lang="en"/>
              <a:t>Formal Verif. Tools</a:t>
            </a:r>
            <a:endParaRPr/>
          </a:p>
          <a:p>
            <a:pPr indent="-342900" lvl="0" marL="457200" rtl="0" algn="l">
              <a:spcBef>
                <a:spcPts val="0"/>
              </a:spcBef>
              <a:spcAft>
                <a:spcPts val="0"/>
              </a:spcAft>
              <a:buSzPts val="1800"/>
              <a:buChar char="●"/>
            </a:pPr>
            <a:r>
              <a:rPr lang="en"/>
              <a:t>others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4" name="Shape 254"/>
        <p:cNvGrpSpPr/>
        <p:nvPr/>
      </p:nvGrpSpPr>
      <p:grpSpPr>
        <a:xfrm>
          <a:off x="0" y="0"/>
          <a:ext cx="0" cy="0"/>
          <a:chOff x="0" y="0"/>
          <a:chExt cx="0" cy="0"/>
        </a:xfrm>
      </p:grpSpPr>
      <p:sp>
        <p:nvSpPr>
          <p:cNvPr id="255" name="Google Shape;255;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Current built loops</a:t>
            </a:r>
            <a:endParaRPr/>
          </a:p>
        </p:txBody>
      </p:sp>
      <p:pic>
        <p:nvPicPr>
          <p:cNvPr id="256" name="Google Shape;256;p41"/>
          <p:cNvPicPr preferRelativeResize="0"/>
          <p:nvPr/>
        </p:nvPicPr>
        <p:blipFill rotWithShape="1">
          <a:blip r:embed="rId3">
            <a:alphaModFix/>
          </a:blip>
          <a:srcRect b="0" l="0" r="1235" t="0"/>
          <a:stretch/>
        </p:blipFill>
        <p:spPr>
          <a:xfrm>
            <a:off x="813500" y="999700"/>
            <a:ext cx="2543376" cy="395247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0" name="Shape 260"/>
        <p:cNvGrpSpPr/>
        <p:nvPr/>
      </p:nvGrpSpPr>
      <p:grpSpPr>
        <a:xfrm>
          <a:off x="0" y="0"/>
          <a:ext cx="0" cy="0"/>
          <a:chOff x="0" y="0"/>
          <a:chExt cx="0" cy="0"/>
        </a:xfrm>
      </p:grpSpPr>
      <p:sp>
        <p:nvSpPr>
          <p:cNvPr id="261" name="Google Shape;261;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Current built loops</a:t>
            </a:r>
            <a:endParaRPr/>
          </a:p>
        </p:txBody>
      </p:sp>
      <p:pic>
        <p:nvPicPr>
          <p:cNvPr id="262" name="Google Shape;262;p42"/>
          <p:cNvPicPr preferRelativeResize="0"/>
          <p:nvPr/>
        </p:nvPicPr>
        <p:blipFill rotWithShape="1">
          <a:blip r:embed="rId3">
            <a:alphaModFix/>
          </a:blip>
          <a:srcRect b="0" l="0" r="0" t="794"/>
          <a:stretch/>
        </p:blipFill>
        <p:spPr>
          <a:xfrm>
            <a:off x="4437475" y="1095700"/>
            <a:ext cx="3955125" cy="3790723"/>
          </a:xfrm>
          <a:prstGeom prst="rect">
            <a:avLst/>
          </a:prstGeom>
          <a:noFill/>
          <a:ln>
            <a:noFill/>
          </a:ln>
        </p:spPr>
      </p:pic>
      <p:pic>
        <p:nvPicPr>
          <p:cNvPr id="263" name="Google Shape;263;p42"/>
          <p:cNvPicPr preferRelativeResize="0"/>
          <p:nvPr/>
        </p:nvPicPr>
        <p:blipFill rotWithShape="1">
          <a:blip r:embed="rId4">
            <a:alphaModFix/>
          </a:blip>
          <a:srcRect b="0" l="0" r="1235" t="0"/>
          <a:stretch/>
        </p:blipFill>
        <p:spPr>
          <a:xfrm>
            <a:off x="813500" y="999700"/>
            <a:ext cx="2543376" cy="395247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7" name="Shape 267"/>
        <p:cNvGrpSpPr/>
        <p:nvPr/>
      </p:nvGrpSpPr>
      <p:grpSpPr>
        <a:xfrm>
          <a:off x="0" y="0"/>
          <a:ext cx="0" cy="0"/>
          <a:chOff x="0" y="0"/>
          <a:chExt cx="0" cy="0"/>
        </a:xfrm>
      </p:grpSpPr>
      <p:sp>
        <p:nvSpPr>
          <p:cNvPr id="268" name="Google Shape;268;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Current built loops</a:t>
            </a:r>
            <a:endParaRPr/>
          </a:p>
        </p:txBody>
      </p:sp>
      <p:sp>
        <p:nvSpPr>
          <p:cNvPr id="269" name="Google Shape;269;p43"/>
          <p:cNvSpPr txBox="1"/>
          <p:nvPr>
            <p:ph idx="1" type="body"/>
          </p:nvPr>
        </p:nvSpPr>
        <p:spPr>
          <a:xfrm>
            <a:off x="200411" y="1152475"/>
            <a:ext cx="37221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Current most complex loop</a:t>
            </a:r>
            <a:endParaRPr/>
          </a:p>
          <a:p>
            <a:pPr indent="-342900" lvl="0" marL="457200" rtl="0" algn="l">
              <a:spcBef>
                <a:spcPts val="0"/>
              </a:spcBef>
              <a:spcAft>
                <a:spcPts val="0"/>
              </a:spcAft>
              <a:buSzPts val="1800"/>
              <a:buChar char="●"/>
            </a:pPr>
            <a:r>
              <a:rPr lang="en"/>
              <a:t>The one we are using to optimize BOOM</a:t>
            </a:r>
            <a:endParaRPr/>
          </a:p>
          <a:p>
            <a:pPr indent="-342900" lvl="0" marL="457200" rtl="0" algn="l">
              <a:spcBef>
                <a:spcPts val="0"/>
              </a:spcBef>
              <a:spcAft>
                <a:spcPts val="0"/>
              </a:spcAft>
              <a:buSzPts val="1800"/>
              <a:buChar char="●"/>
            </a:pPr>
            <a:r>
              <a:rPr lang="en"/>
              <a:t>M LLM pipelines, each one generating N opts.</a:t>
            </a:r>
            <a:endParaRPr/>
          </a:p>
          <a:p>
            <a:pPr indent="-342900" lvl="0" marL="457200" rtl="0" algn="l">
              <a:spcBef>
                <a:spcPts val="0"/>
              </a:spcBef>
              <a:spcAft>
                <a:spcPts val="0"/>
              </a:spcAft>
              <a:buSzPts val="1800"/>
              <a:buChar char="●"/>
            </a:pPr>
            <a:r>
              <a:rPr lang="en"/>
              <a:t>L backend clusters, each one used to implement, test and debug one optimization</a:t>
            </a:r>
            <a:endParaRPr/>
          </a:p>
        </p:txBody>
      </p:sp>
      <p:pic>
        <p:nvPicPr>
          <p:cNvPr id="270" name="Google Shape;270;p43"/>
          <p:cNvPicPr preferRelativeResize="0"/>
          <p:nvPr/>
        </p:nvPicPr>
        <p:blipFill>
          <a:blip r:embed="rId3">
            <a:alphaModFix/>
          </a:blip>
          <a:stretch>
            <a:fillRect/>
          </a:stretch>
        </p:blipFill>
        <p:spPr>
          <a:xfrm>
            <a:off x="3528263" y="333350"/>
            <a:ext cx="5615736" cy="454607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4" name="Shape 274"/>
        <p:cNvGrpSpPr/>
        <p:nvPr/>
      </p:nvGrpSpPr>
      <p:grpSpPr>
        <a:xfrm>
          <a:off x="0" y="0"/>
          <a:ext cx="0" cy="0"/>
          <a:chOff x="0" y="0"/>
          <a:chExt cx="0" cy="0"/>
        </a:xfrm>
      </p:grpSpPr>
      <p:sp>
        <p:nvSpPr>
          <p:cNvPr id="275" name="Google Shape;275;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BOOM Flow Progress</a:t>
            </a:r>
            <a:endParaRPr/>
          </a:p>
        </p:txBody>
      </p:sp>
      <p:sp>
        <p:nvSpPr>
          <p:cNvPr id="276" name="Google Shape;276;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Let’s look at some results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0" name="Shape 280"/>
        <p:cNvGrpSpPr/>
        <p:nvPr/>
      </p:nvGrpSpPr>
      <p:grpSpPr>
        <a:xfrm>
          <a:off x="0" y="0"/>
          <a:ext cx="0" cy="0"/>
          <a:chOff x="0" y="0"/>
          <a:chExt cx="0" cy="0"/>
        </a:xfrm>
      </p:grpSpPr>
      <p:sp>
        <p:nvSpPr>
          <p:cNvPr id="281" name="Google Shape;281;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Discussion Agenda</a:t>
            </a:r>
            <a:endParaRPr/>
          </a:p>
        </p:txBody>
      </p:sp>
      <p:sp>
        <p:nvSpPr>
          <p:cNvPr id="282" name="Google Shape;282;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Representative workloads</a:t>
            </a:r>
            <a:endParaRPr/>
          </a:p>
          <a:p>
            <a:pPr indent="-317500" lvl="1" marL="914400" rtl="0" algn="l">
              <a:spcBef>
                <a:spcPts val="0"/>
              </a:spcBef>
              <a:spcAft>
                <a:spcPts val="0"/>
              </a:spcAft>
              <a:buSzPts val="1400"/>
              <a:buChar char="○"/>
            </a:pPr>
            <a:r>
              <a:rPr lang="en"/>
              <a:t>Spec vs. ‘distilled’ spec</a:t>
            </a:r>
            <a:endParaRPr/>
          </a:p>
          <a:p>
            <a:pPr indent="-317500" lvl="1" marL="914400" rtl="0" algn="l">
              <a:spcBef>
                <a:spcPts val="0"/>
              </a:spcBef>
              <a:spcAft>
                <a:spcPts val="0"/>
              </a:spcAft>
              <a:buSzPts val="1400"/>
              <a:buChar char="○"/>
            </a:pPr>
            <a:r>
              <a:rPr lang="en"/>
              <a:t>FireSim </a:t>
            </a:r>
            <a:r>
              <a:rPr lang="en"/>
              <a:t>vs. Verilator</a:t>
            </a:r>
            <a:endParaRPr/>
          </a:p>
          <a:p>
            <a:pPr indent="-342900" lvl="0" marL="457200" rtl="0" algn="l">
              <a:spcBef>
                <a:spcPts val="0"/>
              </a:spcBef>
              <a:spcAft>
                <a:spcPts val="0"/>
              </a:spcAft>
              <a:buSzPts val="1800"/>
              <a:buChar char="●"/>
            </a:pPr>
            <a:r>
              <a:rPr lang="en"/>
              <a:t>Prompt engineering to get </a:t>
            </a:r>
            <a:r>
              <a:rPr lang="en"/>
              <a:t>closer to our goal</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
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506.13905" TargetMode="External"/><Relationship Id="rId3" Type="http://schemas.openxmlformats.org/officeDocument/2006/relationships/hyperlink" Target="https://ieeexplore.ieee.org/stamp/stamp.jsp?tp=&amp;arnumber=11132940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search.cs.wisc.edu/vertical/wiki/index.php/microbench/microbench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e767660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8e767660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1a9e32f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1a9e32f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33828d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33828d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7b5f1a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7b5f1a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3be6b0c6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3be6b0c6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https://arxiv.org/pdf/2506.13905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https://ieeexplore.ieee.org/stamp/stamp.jsp?tp=&amp;arnumber=11132940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640bef97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640bef9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lab is uniquely placed to tackle this research question because we already have the building blocks for agile hardware design in place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</a:t>
            </a:r>
            <a:r>
              <a:rPr lang="en"/>
              <a:t>quickly</a:t>
            </a:r>
            <a:r>
              <a:rPr lang="en"/>
              <a:t> give LLM agent high-fidelity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arbitrary dataflows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 over heterogeneous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tolerant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4741ca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94741c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abstract flows as graphs where nodes are specific tasks and edges represent data flow and dependencies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can easily custom-build graphs for design task at hand.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connect them with well-defined input and output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framework would also have built-in sanity checking (like type checking on graph edges) rather than writing random scripts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Reiterate that “make” on a single machine is not going to cut it for any of this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94741ca8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94741ca8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d3be6b0c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d3be6b0c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3be6b0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d3be6b0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course, evaluation is a core part of this project: specifically Functional correctness and performance correctness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Microbench: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https://research.cs.wisc.edu/vertical/wiki/index.php/microbench/microbench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33828d5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d33828d5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</a:t>
            </a:r>
            <a:r>
              <a:rPr lang="en"/>
              <a:t>flow</a:t>
            </a:r>
            <a:r>
              <a:rPr lang="en"/>
              <a:t> with gem5 and BOOM -&gt; we want to apply the translation flow that we have developed in 1 to implement optimizations we find in 2 in the BOOM core. Hopefully, the </a:t>
            </a:r>
            <a:r>
              <a:rPr lang="en"/>
              <a:t>finally</a:t>
            </a:r>
            <a:r>
              <a:rPr lang="en"/>
              <a:t> implementation will be at least as good as the RTL we have from 2.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463040"/>
            <a:ext cx="85206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1700" y="4587025"/>
            <a:ext cx="38802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65750" y="990600"/>
            <a:ext cx="4257000" cy="3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ou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311700" y="2317190"/>
            <a:ext cx="85206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 on left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4622800" y="259075"/>
            <a:ext cx="42636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and description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0775" y="1469575"/>
            <a:ext cx="35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4" name="Google Shape;44;p11"/>
          <p:cNvSpPr txBox="1"/>
          <p:nvPr>
            <p:ph idx="3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5" name="Google Shape;45;p11"/>
          <p:cNvSpPr txBox="1"/>
          <p:nvPr>
            <p:ph idx="4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6" name="Google Shape;46;p11"/>
          <p:cNvSpPr txBox="1"/>
          <p:nvPr>
            <p:ph idx="5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7" name="Google Shape;47;p11"/>
          <p:cNvSpPr txBox="1"/>
          <p:nvPr>
            <p:ph idx="6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8" name="Google Shape;48;p11"/>
          <p:cNvSpPr txBox="1"/>
          <p:nvPr>
            <p:ph idx="7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9" name="Google Shape;49;p11"/>
          <p:cNvSpPr txBox="1"/>
          <p:nvPr>
            <p:ph idx="8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85902" y="258750"/>
            <a:ext cx="4314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620775" y="258750"/>
            <a:ext cx="3508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9pPr>
          </a:lstStyle>
          <a:p/>
        </p:txBody>
      </p:sp>
      <p:sp>
        <p:nvSpPr>
          <p:cNvPr id="52" name="Google Shape;52;p11"/>
          <p:cNvSpPr/>
          <p:nvPr>
            <p:ph idx="9" type="pic"/>
          </p:nvPr>
        </p:nvSpPr>
        <p:spPr>
          <a:xfrm>
            <a:off x="6796700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1"/>
          <p:cNvSpPr/>
          <p:nvPr>
            <p:ph idx="13" type="pic"/>
          </p:nvPr>
        </p:nvSpPr>
        <p:spPr>
          <a:xfrm>
            <a:off x="4434825" y="2753975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1"/>
          <p:cNvSpPr/>
          <p:nvPr>
            <p:ph idx="14" type="pic"/>
          </p:nvPr>
        </p:nvSpPr>
        <p:spPr>
          <a:xfrm>
            <a:off x="4434825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ctrTitle"/>
          </p:nvPr>
        </p:nvSpPr>
        <p:spPr>
          <a:xfrm>
            <a:off x="320050" y="1828800"/>
            <a:ext cx="85206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AI Driven RTL Derivation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60" name="Google Shape;60;p12"/>
          <p:cNvSpPr txBox="1"/>
          <p:nvPr>
            <p:ph idx="1" type="subTitle"/>
          </p:nvPr>
        </p:nvSpPr>
        <p:spPr>
          <a:xfrm>
            <a:off x="311700" y="146304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CS 294-265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1" name="Google Shape;61;p12"/>
          <p:cNvSpPr txBox="1"/>
          <p:nvPr>
            <p:ph idx="2" type="subTitle"/>
          </p:nvPr>
        </p:nvSpPr>
        <p:spPr>
          <a:xfrm>
            <a:off x="311700" y="4325075"/>
            <a:ext cx="38802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Angela Cui, Ferran Hermida-Rivera, Jack Toubes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2026-2–9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365750" y="936175"/>
            <a:ext cx="3881700" cy="40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Hardware design takes place in many steps</a:t>
            </a:r>
            <a:endParaRPr>
              <a:solidFill>
                <a:schemeClr val="accent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Later steps get more precise power, performance, and area estimations, but are harder to iterate on.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Accurately moving from step to step is slow, iterative, and error-prone.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Lots of published work in architecture doesn’t go beyond software simulation</a:t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825" y="156775"/>
            <a:ext cx="4090399" cy="48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65750" y="982975"/>
            <a:ext cx="85206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we use AI to move between these steps </a:t>
            </a:r>
            <a:r>
              <a:rPr lang="en"/>
              <a:t>faster</a:t>
            </a:r>
            <a:r>
              <a:rPr lang="en"/>
              <a:t>, automating a previously labor-intensive process?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65750" y="982975"/>
            <a:ext cx="8520600" cy="29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use AI to move between these steps faster</a:t>
            </a:r>
            <a:r>
              <a:rPr lang="en"/>
              <a:t>, automating a previously labor-intensive process?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Sub-questions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How do we design an agentic loop to perform digital circuit design?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representation best enables AI to reason about digital circuits?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Can</a:t>
            </a:r>
            <a:r>
              <a:rPr lang="en" sz="1700"/>
              <a:t> we bridge the gap between architects and people working on simulators?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SOTA AI for RTL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65750" y="3611700"/>
            <a:ext cx="85206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we develop an agentic flow that reasons over the </a:t>
            </a:r>
            <a:r>
              <a:rPr b="1" lang="en"/>
              <a:t>entire </a:t>
            </a:r>
            <a:r>
              <a:rPr lang="en"/>
              <a:t>spec to RTL design process with ASIC QoR feedback? 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00" y="1579273"/>
            <a:ext cx="5021500" cy="150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1023727"/>
            <a:ext cx="2610826" cy="2082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6"/>
          <p:cNvSpPr txBox="1"/>
          <p:nvPr/>
        </p:nvSpPr>
        <p:spPr>
          <a:xfrm>
            <a:off x="365750" y="3105775"/>
            <a:ext cx="30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Niu et al. DAC 2025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810800" y="3082775"/>
            <a:ext cx="43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Yu et al. ICLAD 2025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CHIA: CHipyard Intelligent Agents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65750" y="1017150"/>
            <a:ext cx="2752500" cy="29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for </a:t>
            </a:r>
            <a:r>
              <a:rPr lang="en"/>
              <a:t>constructing</a:t>
            </a:r>
            <a:r>
              <a:rPr lang="en"/>
              <a:t> arbitrary agentic flows for hardware design.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active development in Slice lab</a:t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3686425" y="4142725"/>
            <a:ext cx="4742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Simple Example Chia Flow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225" y="928100"/>
            <a:ext cx="5629082" cy="328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700" y="0"/>
            <a:ext cx="890301" cy="89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strawman graph abstraction for describing arbitrary HW/SW co-design flows</a:t>
            </a:r>
            <a:endParaRPr sz="1900"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922025"/>
            <a:ext cx="3987900" cy="3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Concrete node types: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Chisel elaboration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SW simulators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HW-accel simulators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FIRRTL passes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SW stack build / co-opt for target design (bare metal, zephyr, linux, etc.)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CAD tools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Verification tools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LLM API calls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Local model calls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Proprietary data filters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Evolutionary algorithm primitives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Humans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Subgraph node (composition/CHIA “libraries”)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Databases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…</a:t>
            </a:r>
            <a:endParaRPr sz="1200"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4299499" y="922028"/>
            <a:ext cx="4476600" cy="37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Abstract node types: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Simulators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RTL gen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ASIC Syn, par, etc.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LLM Calls (e.g., w/ a caching layer)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…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Edges: Describe data flow, dependencies, parallel fork/join between nodes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Many open questions: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Is logging a feature of a node or edge?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How cleanly can we define APIs on these?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E.g., how do we expose the code that an LLM may want to modify?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actually going to do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65750" y="982975"/>
            <a:ext cx="8520600" cy="3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CHIA to perform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Alignment: how well does gem5 align with BOOM?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Implementation of RTL from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Natural language descriptions of hardware (of </a:t>
            </a:r>
            <a:r>
              <a:rPr lang="en" sz="1800"/>
              <a:t>varying </a:t>
            </a:r>
            <a:r>
              <a:rPr lang="en" sz="1800"/>
              <a:t>detail)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Software simulator (gem5) implementations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Targets for RTL derivation: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Suite of uarch publications + open-sourced gem5 implementation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E.g. </a:t>
            </a:r>
            <a:r>
              <a:rPr lang="en" sz="1800"/>
              <a:t>Hawkeye (cache replacement policy)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Target metrics: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Functional correctness with unit tests and/or formal verification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ASIC flow QoR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65750" y="982975"/>
            <a:ext cx="85206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Ray: distributed framework for AI applications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Gem5: an event-driven computer-system architecture simulator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Chipyard: an integrated SoC design, simulation and implementation framework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Chisel: a scala-based hardware description language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Verilator: cycle-accurate hardware simulator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FireSim: a FPGA-accelerated full-system hardware simulation platform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SledgeHammer: an agile physical design framework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 &amp; Evaluators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65750" y="982975"/>
            <a:ext cx="8520600" cy="3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rgbClr val="9900FF"/>
                </a:solidFill>
              </a:rPr>
              <a:t>Functional</a:t>
            </a:r>
            <a:r>
              <a:rPr lang="en"/>
              <a:t> correctness: Do the outputs of this block align with the spec?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Unit testing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Formal verification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Various benchmarks (ubenchs, coremark/mbench, spec)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rgbClr val="9900FF"/>
                </a:solidFill>
              </a:rPr>
              <a:t>Performance</a:t>
            </a:r>
            <a:r>
              <a:rPr lang="en"/>
              <a:t> correctness: Does the PPA (performance, power, area) of this block align with the spec?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More open ended…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Could compare with existing RTL implementations for a given spec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Commercial gate-level synthesis for detailed power and area analysis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Benchmarks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65750" y="982975"/>
            <a:ext cx="8520600" cy="3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Develop </a:t>
            </a:r>
            <a:r>
              <a:rPr lang="en">
                <a:solidFill>
                  <a:schemeClr val="accent6"/>
                </a:solidFill>
              </a:rPr>
              <a:t>AI flow loop</a:t>
            </a:r>
            <a:r>
              <a:rPr lang="en"/>
              <a:t> in CHIA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Develop CHIA nodes for </a:t>
            </a:r>
            <a:r>
              <a:rPr lang="en"/>
              <a:t>necessary</a:t>
            </a:r>
            <a:r>
              <a:rPr lang="en"/>
              <a:t> infrastructure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P</a:t>
            </a:r>
            <a:r>
              <a:rPr lang="en"/>
              <a:t>rompts and evaluators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Find </a:t>
            </a:r>
            <a:r>
              <a:rPr lang="en">
                <a:solidFill>
                  <a:schemeClr val="accent6"/>
                </a:solidFill>
              </a:rPr>
              <a:t>suitable examples</a:t>
            </a:r>
            <a:r>
              <a:rPr lang="en"/>
              <a:t> with natural language descriptions (e.g. research papers), software simulator descriptions, and RTL implementations.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>
                <a:solidFill>
                  <a:schemeClr val="accent6"/>
                </a:solidFill>
              </a:rPr>
              <a:t>Run flow</a:t>
            </a:r>
            <a:r>
              <a:rPr lang="en"/>
              <a:t> with gem5 and BOOM, evaluate QoR and correctness, iterate on flow (prompts, evaluators, model, parameters, etc)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certainty Sharp">
  <a:themeElements>
    <a:clrScheme name="Simple Light">
      <a:dk1>
        <a:srgbClr val="222222"/>
      </a:dk1>
      <a:lt1>
        <a:srgbClr val="FFFFFF"/>
      </a:lt1>
      <a:dk2>
        <a:srgbClr val="666666"/>
      </a:dk2>
      <a:lt2>
        <a:srgbClr val="EEEEEE"/>
      </a:lt2>
      <a:accent1>
        <a:srgbClr val="FF3B30"/>
      </a:accent1>
      <a:accent2>
        <a:srgbClr val="FF9500"/>
      </a:accent2>
      <a:accent3>
        <a:srgbClr val="FFCC00"/>
      </a:accent3>
      <a:accent4>
        <a:srgbClr val="26C759"/>
      </a:accent4>
      <a:accent5>
        <a:srgbClr val="007AFF"/>
      </a:accent5>
      <a:accent6>
        <a:srgbClr val="AF52DE"/>
      </a:accent6>
      <a:hlink>
        <a:srgbClr val="03A9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
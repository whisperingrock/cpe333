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3" roundtripDataSignature="AMtx7mjMNJVb1P2zb0Ze4qqhlq79kpG3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customschemas.google.com/relationships/presentationmetadata" Target="metadata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10-year vision paper (NSF workshop, 30+ authors)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Over the past 20 years, peak server hardware FLOPS has been scaling at 3.0x/2yrs, outpacing the growth of DRAM and interconnect bandwidth, which have only scaled at 1.6 and 1.4 times every 2 years, respectively.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energy-aware, self-optimizing, and architecturally adaptive systems.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memory-centric architectures, dense 3D integration, and computein-memory technologies promise to reduce the energy and latency penalties of data movement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AI-in-the-loop hardware design, generative EDA tools, and cross-layer optimization frameworks will enable systems that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learn, adapt, and co-evolve with the algorithms they support.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instead of flops / model size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" name="Google Shape;3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ddfb2d686d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g3ddfb2d686d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" name="Google Shape;44;g3ddfb2d686d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" name="Google Shape;5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" name="Google Shape;6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" name="Google Shape;7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The energy cost of moving data across memory hierarchies and interconnects now far exceeds that of arithmetic operations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memory-centric 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• Thermal and Power Delivery Constraints (Table 1: Cooling and Power Delivery)◦ Dense 3D stacks exacerbate heat dissipation challenges.◦ Power and thermal limits now directly cap AI performance, scalability, and reliability.◦ Thermal variability introduces reliability and lifetime concerns.</a:t>
            </a:r>
            <a:endParaRPr/>
          </a:p>
        </p:txBody>
      </p:sp>
      <p:sp>
        <p:nvSpPr>
          <p:cNvPr id="82" name="Google Shape;8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Photonic interconnects for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chip-to-chip, on-chip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dfcdfe7a6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g3ddfcdfe7a6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First, accuracy improves steadily over time even as model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sizes vary, indicating efficiency gains driven by algorithmic and architectural advances beyond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brute-force scaling. Second, within a fixed time window, higher accuracy generally correlates with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larger model size, reflecting prevailing scaling laws of contemporary foundation models. Third, for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 fixed model size range, accuracy increases over time, highlighting progress in training methods,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data curation, and model design.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no longer focusing on scaling size to get better accuracy, improving all three dimensions</a:t>
            </a:r>
            <a:endParaRPr/>
          </a:p>
        </p:txBody>
      </p:sp>
      <p:sp>
        <p:nvSpPr>
          <p:cNvPr id="118" name="Google Shape;118;g3ddfcdfe7a6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dfcdfe7a6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3ddfcdfe7a6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g3ddfcdfe7a6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Looking forward, similar breakthroughs are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expected from advances in modular architectures, long-term memory systems, sparsity-aware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learning, causal and physics-informed representations, and agentic decomposition of tasks. These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algorithmic shifts can dramatically reduce computation, memory traffic, and communication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requirements, thereby reshaping hardware design targets rather than merely adapting to them.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Training workloads prioritize throughput, statistical efficiency, peak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accuracy, and amortized energy cost over long time horizons, whereas inference (physical ai systems) demands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millisecond-scale latency, deterministic response, and extreme energy efficiency under tight power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budgets.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Agentic AI systems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increasingly act as orchestrators, selecting models, kernels, hardware resources, and execution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strategies dynamically under real-world constraints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new metrics: memory traffic and data locality instead of FLOPs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Human-like abstraction and alternative model architectures, including ensembles of small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models, can lead to significant efficiency improvements. New learning algorithms are required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to exploit deep memory hierarchies, tiered storage, and persistent memory, shifting optimization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targets from FLOPs to memory traffic and data locality.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overprovisioning?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Furthermore, cross-layer AI+HW co-design will be essential for scaling AI into the physical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world, where systems must operate under strict real-time, safety, energy, and reliability constraints.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Unlike purely digital workloads, physical AI applications tightly couple perception, decision-making,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and control with hardware execution, making end-to-end co-design across models, runtimes, and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platforms a prerequisite rather than an optimization.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primarily enhance individual productivity, not P&amp;L performance.</a:t>
            </a:r>
            <a:endParaRPr/>
          </a:p>
        </p:txBody>
      </p:sp>
      <p:sp>
        <p:nvSpPr>
          <p:cNvPr id="176" name="Google Shape;176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0" name="Google Shape;230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0" name="Google Shape;240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" name="Google Shape;250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" name="Google Shape;260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1"/>
          <p:cNvCxnSpPr/>
          <p:nvPr/>
        </p:nvCxnSpPr>
        <p:spPr>
          <a:xfrm>
            <a:off x="0" y="18288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AI+HW 2035: Shaping the Next Decade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731520" y="228600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Chen, Cong, Mirhoseini, Kozyrakis, Mitra et al.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31520" y="265176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arXiv:2603.05225 (March 2026)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31520" y="329184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Presented by Angela Cui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B0B0B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Google Shape;27;p2"/>
          <p:cNvCxnSpPr/>
          <p:nvPr/>
        </p:nvCxnSpPr>
        <p:spPr>
          <a:xfrm>
            <a:off x="0" y="18288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" name="Google Shape;28;p2"/>
          <p:cNvSpPr/>
          <p:nvPr/>
        </p:nvSpPr>
        <p:spPr>
          <a:xfrm>
            <a:off x="457200" y="232263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Motivation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640080" y="1005840"/>
            <a:ext cx="786384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scaling is becoming unsustainable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Training a single frontier model consumes millions of kilowatt-hours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“memory wall”: energy spent moving data now exceeds energy spent computing, but existing infra is still compute-centric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Hardware and software development are siloed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Algorithms designed for yesterday’s hardware; chips optimized for today’s workloads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Looking forward: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Rethink scaling: brute force -&gt; energy-aware, self-optimizing adaptive systems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Measure success by intelligence / joule, trustworthiness, and adaptability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B0B0B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5"/>
          <p:cNvCxnSpPr/>
          <p:nvPr/>
        </p:nvCxnSpPr>
        <p:spPr>
          <a:xfrm>
            <a:off x="0" y="18288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" name="Google Shape;37;p5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Features of Each Abstraction Layer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640075" y="4521941"/>
            <a:ext cx="78639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Key point: </a:t>
            </a:r>
            <a:r>
              <a:rPr b="0" i="0" lang="en-US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these layers form a tightly coupled feedback loop — application needs drive hardware and algorithms, which in turn enable new applications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B0B0B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" name="Google Shape;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3825" y="897518"/>
            <a:ext cx="6736394" cy="3348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Google Shape;46;g3ddfb2d686d_0_12"/>
          <p:cNvCxnSpPr/>
          <p:nvPr/>
        </p:nvCxnSpPr>
        <p:spPr>
          <a:xfrm>
            <a:off x="0" y="18288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" name="Google Shape;47;g3ddfb2d686d_0_12"/>
          <p:cNvSpPr/>
          <p:nvPr/>
        </p:nvSpPr>
        <p:spPr>
          <a:xfrm>
            <a:off x="457200" y="22860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Features of Each Abstraction Layer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g3ddfb2d686d_0_12"/>
          <p:cNvSpPr/>
          <p:nvPr/>
        </p:nvSpPr>
        <p:spPr>
          <a:xfrm>
            <a:off x="640080" y="1005840"/>
            <a:ext cx="7863900" cy="39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Hardware Technologies (foundation layer):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Memory-centric architectures, dense 3D integration, compute-in-memory, photonic interconnects, AI-optimized topologies, quantum–classical integration, AI-driven EDA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Algorithms &amp; Paradigms (middle layer):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AI must become hardware-aware; hardware must become AI-adaptive. Embedding AI into the design loop itself. Hardware-aware training (low-precision, sparsity, modularity). Differentiable simulators, neural architecture search, RL-based hardware tuning → self-evolving computing stacks. New learning paradigms: physics-informed AI, latent world models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Applications &amp; Societal Impact (bottom layer):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AI must serve human needs while remaining computationally sustainable. Training a single frontier model could consume energy comparable to entire nations. Domain-specific AI (science, engineering, physical modeling) can drastically reduce compute by embedding physics priors. Edge–cloud hybrid architectures for low-latency reasoning + large-scale training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Key point: </a:t>
            </a:r>
            <a:r>
              <a:rPr b="0" i="0" lang="en-US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these layers form a tightly coupled feedback loop — application needs drive hardware and algorithms, which in turn enable new applications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g3ddfb2d686d_0_12"/>
          <p:cNvSpPr/>
          <p:nvPr/>
        </p:nvSpPr>
        <p:spPr>
          <a:xfrm>
            <a:off x="8412480" y="475488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B0B0B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Google Shape;55;p6"/>
          <p:cNvCxnSpPr/>
          <p:nvPr/>
        </p:nvCxnSpPr>
        <p:spPr>
          <a:xfrm>
            <a:off x="0" y="18288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" name="Google Shape;56;p6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1000x Efficiency Target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How do you get three orders of magnitude improvement?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640080" y="1554480"/>
            <a:ext cx="78638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10x  </a:t>
            </a:r>
            <a:r>
              <a:rPr b="0" i="0" lang="en-US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from algorithms &amp; model optimization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        Sparsity, pruning, quantization, state-space models, hardware-aware training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20x  </a:t>
            </a:r>
            <a:r>
              <a:rPr b="0" i="0" lang="en-US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from silicon &amp; hardware advances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        3D integration, CIM, photonic interconnects, domain-specific accelerators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5x  </a:t>
            </a:r>
            <a:r>
              <a:rPr b="0" i="0" lang="en-US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from system-level efficiency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        Fleet optimization, cross-layer scheduling, edge-cloud orchestration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 × 20 × 5 = 1000x improvement in intelligence per joule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B0B0B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7"/>
          <p:cNvCxnSpPr/>
          <p:nvPr/>
        </p:nvCxnSpPr>
        <p:spPr>
          <a:xfrm>
            <a:off x="0" y="18288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Google Shape;67;p7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Insight: The Memory Wall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7"/>
          <p:cNvSpPr/>
          <p:nvPr/>
        </p:nvSpPr>
        <p:spPr>
          <a:xfrm>
            <a:off x="640080" y="1005840"/>
            <a:ext cx="786384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movement is the real bottleneck, not compute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Energy cost of a DRAM access is ~200x the cost of a floating-point multiply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Off-chip memory access dominates energy and latency in both training and inference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Conventional caches poorly match AI access patterns (attention, embedding tables)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Proposed solutions: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Compute-in-memory: process data where it lives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3D integration: stack logic, memory, and interconnect vertically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Photonic interconnects: distance-independent, high-bandwidth communication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B0B0B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8"/>
          <p:cNvCxnSpPr/>
          <p:nvPr/>
        </p:nvCxnSpPr>
        <p:spPr>
          <a:xfrm>
            <a:off x="0" y="18288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p8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Insight: From Silos to Co-Design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8"/>
          <p:cNvSpPr/>
          <p:nvPr/>
        </p:nvSpPr>
        <p:spPr>
          <a:xfrm>
            <a:off x="640080" y="1005840"/>
            <a:ext cx="786384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Today (fragmented):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Algorithms designed for yesterday’s hardware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Hardware optimized for today’s workloads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Software stacks tuned for previous-gen chips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Result: 5–20% real cluster utilization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Vision (co-designed):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AI-in-the-loop hardware design (generative EDA)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Hardware-aware model training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Self-optimizing, reconfigurable architectures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Cross-layer optimization from materials to applications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8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B0B0B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Google Shape;84;p9"/>
          <p:cNvCxnSpPr/>
          <p:nvPr/>
        </p:nvCxnSpPr>
        <p:spPr>
          <a:xfrm>
            <a:off x="0" y="18288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" name="Google Shape;85;p9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Hardware: Key Insights &amp; Challenges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9"/>
          <p:cNvSpPr/>
          <p:nvPr/>
        </p:nvSpPr>
        <p:spPr>
          <a:xfrm>
            <a:off x="640080" y="1005840"/>
            <a:ext cx="786384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insights: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System-level constraints (power, cooling, data movement) now outweigh chip-level compute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Data movement is the primary bottleneck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Connectivity is as critical as computation (bandwidth, latency, topology)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Hardware must become adaptive and reconfigurable, not fixed-function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AI must help design hardware — closed feedback loop via AI-driven EDA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challenges: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Memory wall: off-chip access dominates energy; caches poorly match AI access patterns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Connectivity scaling limits: need to codesign network topology with AI dataflow patterns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Thermal and power delivery constraints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Design complexity explosion: large design space; simulators and evaluation tools lag behind real-world systems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9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B0B0B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Google Shape;93;p10"/>
          <p:cNvCxnSpPr/>
          <p:nvPr/>
        </p:nvCxnSpPr>
        <p:spPr>
          <a:xfrm>
            <a:off x="0" y="18288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1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Hardware: Key Questions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0"/>
          <p:cNvSpPr/>
          <p:nvPr/>
        </p:nvSpPr>
        <p:spPr>
          <a:xfrm>
            <a:off x="640080" y="1005840"/>
            <a:ext cx="786384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Q1: Is hardware still the dominant driver, or have algorithms overtaken it?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None/>
            </a:pPr>
            <a:r>
              <a:rPr b="0" i="0" lang="en-US" sz="13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Neither alone is sufficient. Sustained progress requires continuous co-evolution.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Q2: Can specialization and generality coexist?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None/>
            </a:pPr>
            <a:r>
              <a:rPr b="0" i="0" lang="en-US" sz="13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Yes, through hierarchical/modular design (chiplets + analog/photonic components composed via programmable interfaces, compiler support) and algorithmic modularity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Q3: How much approximation can AI systems tolerate?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None/>
            </a:pPr>
            <a:r>
              <a:rPr b="0" i="0" lang="en-US" sz="13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More than traditional computing assumes. AI workloads are inherently statistical and can tolerate noise, reduced precision, and approximate computation.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Q4: Can hardware design cycles match AI innovation speed?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None/>
            </a:pPr>
            <a:r>
              <a:rPr b="0" i="0" lang="en-US" sz="13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Not with traditional workflows. AI-in-the-loop EDA and reusable chiplet ecosystems can shorten cycles.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Q5: How should success be measured?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None/>
            </a:pPr>
            <a:r>
              <a:rPr b="0" i="0" lang="en-US" sz="13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Intelligence per joule, end-to-end latency, scalability — not peak FLOPs.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0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B0B0B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2" name="Google Shape;102;p11"/>
          <p:cNvCxnSpPr/>
          <p:nvPr/>
        </p:nvCxnSpPr>
        <p:spPr>
          <a:xfrm>
            <a:off x="0" y="18288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1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Hardware: Trends &amp; Obstacles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1"/>
          <p:cNvSpPr/>
          <p:nvPr/>
        </p:nvSpPr>
        <p:spPr>
          <a:xfrm>
            <a:off x="640080" y="1005840"/>
            <a:ext cx="786384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Near-term trends (2–5 years):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Domain-specific accelerators with native quantization/sparsity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HBM with tighter coupling to compute; 3D chiplet-based architectures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Hardware-aware compilers and auto-tuners; edge/on-device AI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Long-term trends (6–10 years):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Photonic interconnects, compute-in-memory, analog computing at scale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Dense 3D heterogeneous integration; quantum-classical hybrid systems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New materials beyond CMOS; ultra-scalable distributed AI systems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Obstacles: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Noise/drift/calibration in analog and photonic systems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Yield and reliability in dense 3D integration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Silent data corruption (SDC) at advanced nodes; fragmented software ecosystems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1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B0B0B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1" name="Google Shape;111;p12"/>
          <p:cNvCxnSpPr/>
          <p:nvPr/>
        </p:nvCxnSpPr>
        <p:spPr>
          <a:xfrm>
            <a:off x="0" y="18288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12"/>
          <p:cNvSpPr/>
          <p:nvPr/>
        </p:nvSpPr>
        <p:spPr>
          <a:xfrm>
            <a:off x="457200" y="22860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Hardware: What Success Looks Like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2"/>
          <p:cNvSpPr/>
          <p:nvPr/>
        </p:nvSpPr>
        <p:spPr>
          <a:xfrm>
            <a:off x="640080" y="1005840"/>
            <a:ext cx="786384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Seamless interoperability across heterogeneous components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New accelerators integrate without redesigning the entire software stack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movement minimized by design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Connectivity scales transparently; hardware adapts as algorithms evolve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Analog, digital, photonic, and quantum components coexist in unified systems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Hardware platforms can be re-specialized through software and compilation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New AI models deployed without redesigning silicon — closing the HW–AI speed gap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Systems deliver dramatically higher intelligence per joule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B0B0B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g3ddfcdfe7a6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097825"/>
            <a:ext cx="8839204" cy="294784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g3ddfcdfe7a6_0_1"/>
          <p:cNvSpPr/>
          <p:nvPr/>
        </p:nvSpPr>
        <p:spPr>
          <a:xfrm>
            <a:off x="640075" y="4045667"/>
            <a:ext cx="78639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Intelligence efficiency is the new metric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g3ddfcdfe7a6_0_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6825" y="152400"/>
            <a:ext cx="5690362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3" name="Google Shape;133;p13"/>
          <p:cNvCxnSpPr/>
          <p:nvPr/>
        </p:nvCxnSpPr>
        <p:spPr>
          <a:xfrm>
            <a:off x="0" y="18288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" name="Google Shape;134;p13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Algorithms: Key Insights &amp; Challenges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3"/>
          <p:cNvSpPr/>
          <p:nvPr/>
        </p:nvSpPr>
        <p:spPr>
          <a:xfrm>
            <a:off x="640080" y="1005840"/>
            <a:ext cx="786384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insights: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Algorithmic innovation has historically matched or exceeded hardware gains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Training and inference have fundamentally different system requirements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Agentic AI systems increasingly act as orchestrators across heterogeneous hardware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challenges: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Siloed HW development and model design, evaluated by narrow metrics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Brute-force attention + retrieval dominance, inefficient at scale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Energy, memory, and interconnect walls persist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Low utilization gap: real clusters run at only 5–20% utilization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Gigawatt-scale fleet optimization needed, not just per-node gains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B0B0B0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2" name="Google Shape;142;p14"/>
          <p:cNvCxnSpPr/>
          <p:nvPr/>
        </p:nvCxnSpPr>
        <p:spPr>
          <a:xfrm>
            <a:off x="0" y="18288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" name="Google Shape;143;p14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Algorithms: Key Questions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4"/>
          <p:cNvSpPr/>
          <p:nvPr/>
        </p:nvSpPr>
        <p:spPr>
          <a:xfrm>
            <a:off x="640080" y="1005840"/>
            <a:ext cx="786384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Q1: What is the bottleneck for scalable AI+HW?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Energy, memory wall, interconnect fabric, underutilized infrastructure, and lack of abstractions.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Q2: Can 10–100x smaller models be equally capable?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Yes, via pruning, quantization, domain-specific distillation, and multi-agent systems where small models selectively invoke larger ones.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Q3: Is attention all we need?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No. Convolutions, SSMs (Mamba), diffusion models all matter. LLM inference is largely memory-bound, not compute-bound. Hardware should boost memory utilization, not just FLOPs.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Q4: What is the ideal hardware architecture?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Heterogeneous, massively parallel, memory-centric systems with 3D stacked memory, optical links, reconfigurable fabrics, and targeted quantum computing.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B0B0B0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1" name="Google Shape;151;p15"/>
          <p:cNvCxnSpPr/>
          <p:nvPr/>
        </p:nvCxnSpPr>
        <p:spPr>
          <a:xfrm>
            <a:off x="0" y="18288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2" name="Google Shape;152;p15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Algorithms: Trends &amp; Obstacles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5"/>
          <p:cNvSpPr/>
          <p:nvPr/>
        </p:nvSpPr>
        <p:spPr>
          <a:xfrm>
            <a:off x="640080" y="1005840"/>
            <a:ext cx="786384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 trends: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Converged heterogeneous stacks: classical + AI-specific + reconfigurable + quantum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Compute–memory convergence: CIM, 3D stacking, memory-centric dataflow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Small–big model symbiosis: large teachers, compact small language models on edge via distillation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Self-optimizing pipelines: models synthesize kernels, schedule themselves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Decentralized agent-centric AI across edge devices, robots, and digital twins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Obstacles: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Chicken-and-egg problem across fragmented tech stack layers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Heterogeneity introduces software burden; brand inertia (“everything is a GPU”)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Legal/IP barriers for distillation</a:t>
            </a:r>
            <a:endParaRPr b="0" i="0" sz="14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Quantum noise and integration complexity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5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B0B0B0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0" name="Google Shape;160;p16"/>
          <p:cNvCxnSpPr/>
          <p:nvPr/>
        </p:nvCxnSpPr>
        <p:spPr>
          <a:xfrm>
            <a:off x="0" y="18288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" name="Google Shape;161;p16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Algorithms: What Success Looks Like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640080" y="1005840"/>
            <a:ext cx="786384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Systems that reliably execute complex tasks from human intent (HAI realized)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Reproducible, multi-metric evaluation: quality, latency, energy, cost, utilization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&gt;100x end-to-end energy efficiency and ≥60% sustained cluster utilization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From compute–memory integration and closed-loop fleet optimization at GW scale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Fully interoperable heterogeneous systems with optical global links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CPUs + GPUs + reconfigurable fabrics + ASICs + quantum; memory-centric by default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Mature ecosystem of domain-tuned SLMs distilled from open teachers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Self-improving AI-for-chips pipelines: ≥3x faster silicon design cycles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B0B0B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9" name="Google Shape;169;p17"/>
          <p:cNvCxnSpPr/>
          <p:nvPr/>
        </p:nvCxnSpPr>
        <p:spPr>
          <a:xfrm>
            <a:off x="0" y="18288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" name="Google Shape;170;p17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Applications: Key Insights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640080" y="1005840"/>
            <a:ext cx="786384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AI+HW co-design enables fundamentally new classes of applications: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Agentic AI, autonomous discovery, real-time physical-world interaction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Productivity: smarter design tools, optimized supply chains, resilient manufacturing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Education: AI-powered personalized learning on energy-efficient hardware at scale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Science &amp; health: climate modeling, drug discovery, precision medicine, wearable health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Security: cybersecurity, critical infrastructure protection, national security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Physical AI is the critical test case: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Systems must operate under strict real-time, safety, energy, and reliability constraints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End-to-end co-design across models, runtimes, and platforms becomes a prerequisite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B0B0B0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8" name="Google Shape;178;p18"/>
          <p:cNvCxnSpPr/>
          <p:nvPr/>
        </p:nvCxnSpPr>
        <p:spPr>
          <a:xfrm>
            <a:off x="0" y="18288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18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Applications: Key Questions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640080" y="1005840"/>
            <a:ext cx="786384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Q1: What is the biggest barrier to real-world AI deployment?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Only ~5% of piloted AI technologies achieve sustained financial returns. Barriers: limited continual learning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Q2: What is the most urgent infrastructure challenge?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The impending power crisis. Datacenter demand is rising by tens of GW while U.S. generation lags. China holds a 2x power advantage.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Q3: How can we bridge the academia–industry gap?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University–cloud partnerships, industry-sponsored sustained research programs, and academic incentives that reward practical systems-level contributions.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Q5: Is the 1000x efficiency improvement realistic?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100x in 5 years (high confidence), 1000x in 6–10 years (moderate confidence). Path: 10x algorithms × 20x silicon × 5x systems.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B0B0B0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7" name="Google Shape;187;p19"/>
          <p:cNvCxnSpPr/>
          <p:nvPr/>
        </p:nvCxnSpPr>
        <p:spPr>
          <a:xfrm>
            <a:off x="0" y="18288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8" name="Google Shape;188;p19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Applications: Trends, Obstacles &amp; Success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640080" y="1005840"/>
            <a:ext cx="786384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Trends: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Power crisis timeline: U.S. shortages predicted within 5 years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Cloud-to-edge shift: frontier models → smaller specialized models (&lt;20B) on edge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AI-driven business models in autonomous vehicles, robotics, agentic AI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Obstacles: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Infrastructure bottlenecks, fragmented ecosystem, misaligned academic/industry incentives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Overemphasis on frontier models over efficient edge-centric models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Talent gaps, validation challenges, Moore’s Law ending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Success in 10 years: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Power crisis resolved via diversified energy (SMRs, renewables)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1000x efficiency → redistribution of AI from cloud to edge (robots, AR/VR, vehicles)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Thriving cross-sector ecosystem; equitable access via open tools and small capable models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CC0000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Flourishing AI-driven economy exceeding the Internet’s post-1998 transformation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B0B0B0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6" name="Google Shape;196;p20"/>
          <p:cNvCxnSpPr/>
          <p:nvPr/>
        </p:nvCxnSpPr>
        <p:spPr>
          <a:xfrm>
            <a:off x="0" y="18288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7" name="Google Shape;197;p2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Related Work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640080" y="1005840"/>
            <a:ext cx="786384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FlashAttention (Dao et al., NeurIPS 2022)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IO-aware exact attention that minimizes memory reads/writes via tiling and recomputation. Proves the paper’s thesis: algorithmic innovation driven by hardware awareness yields 2–4x speedups without approximation.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AI for Chip Placement (Mirhoseini et al., Nature 2021)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Used RL to generate chip floor plans rivaling human experts. Embodies the “AI must help design hardware” closed feedback loop the paper calls essential.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Intelligence per Watt (Saad-Falcon et al., 2025)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Proposes concrete metrics for measuring intelligence efficiency—directly operationalizing the shift from FLOPs to “intelligence per joule” as the north-star metric.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B0B0B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5" name="Google Shape;205;p21"/>
          <p:cNvCxnSpPr/>
          <p:nvPr/>
        </p:nvCxnSpPr>
        <p:spPr>
          <a:xfrm>
            <a:off x="0" y="18288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6" name="Google Shape;206;p2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Surprised Me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640080" y="1005840"/>
            <a:ext cx="786384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real bottleneck isn’t compute — it’s plumbing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We celebrate FLOP counts and parameter scaling, but data movement, memory access, and interconnect energy dwarf arithmetic costs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The most impactful innovations may look less like clever algorithms and more like clever wiring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utilization scandal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We’re spending billions on GPU clusters that run at 5–20% utilization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That’s not a hardware problem — it’s a systems design failure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geopolitical dimension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China generates 2x the electricity of the U.S. If efficiency is equal, raw power becomes a strategic moat — reframes efficiency research as national security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B0B0B0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4" name="Google Shape;214;p22"/>
          <p:cNvCxnSpPr/>
          <p:nvPr/>
        </p:nvCxnSpPr>
        <p:spPr>
          <a:xfrm>
            <a:off x="0" y="18288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5" name="Google Shape;215;p2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640080" y="1005840"/>
            <a:ext cx="786384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Strengths noted: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Cross-layer co-design framework is the core contribution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Table 1 is a genuinely useful taxonomy (maps technology layers to challenges)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Candid about obstacles and failure modes (misaligned incentives, legal barriers, etc.)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Criticisms: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1000x target lacks quantitative justification — why 20x from silicon vs. 10x?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Repetitive structure (same co-design points recycled across sections)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Some claims feel speculative (e.g., quantum co-processors by 2035)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One reviewer flagged AI-generated executive summary as a mistake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Roadmap is U.S.-centric (NAIRR, NSF funding)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B0B0B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3" name="Google Shape;223;p23"/>
          <p:cNvCxnSpPr/>
          <p:nvPr/>
        </p:nvCxnSpPr>
        <p:spPr>
          <a:xfrm>
            <a:off x="0" y="18288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" name="Google Shape;224;p23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Questions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3"/>
          <p:cNvSpPr/>
          <p:nvPr/>
        </p:nvSpPr>
        <p:spPr>
          <a:xfrm>
            <a:off x="640080" y="1005840"/>
            <a:ext cx="786384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the 1000x target realistic?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Will efficiency actually win over raw capability?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None/>
            </a:pPr>
            <a:r>
              <a:rPr b="0" i="0" lang="en-US" sz="13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Market incentives still reward bigger models. Can intelligence per joule become a real benchmark?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 hardware design cycles ever match AI innovation speed?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Specialization vs. generality: which wins?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Who actually benefits from this roadmap?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None/>
            </a:pPr>
            <a:r>
              <a:rPr b="0" i="0" lang="en-US" sz="13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Advanced hardware is concentrated in a few companies. Can this future remain open?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B0B0B0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2" name="Google Shape;232;p24"/>
          <p:cNvCxnSpPr/>
          <p:nvPr/>
        </p:nvCxnSpPr>
        <p:spPr>
          <a:xfrm>
            <a:off x="0" y="18288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3" name="Google Shape;233;p24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Discussion Question 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4"/>
          <p:cNvSpPr/>
          <p:nvPr/>
        </p:nvSpPr>
        <p:spPr>
          <a:xfrm>
            <a:off x="640080" y="109728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efficiency is so important, why does the market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keep rewarding scale?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4"/>
          <p:cNvSpPr/>
          <p:nvPr/>
        </p:nvSpPr>
        <p:spPr>
          <a:xfrm>
            <a:off x="640080" y="2011680"/>
            <a:ext cx="78638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GPT-4, Gemini, Claude all competed on capability, not efficiency. Who leads the paradigm shift?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Frontier labs have financial incentives to scale. Efficiency matters more for deployment than for benchmarks.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Counter: the cloud-to-edge shift may force efficiency. Autonomous vehicles, robots, and phones can’t plug into datacenter power.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Does this require government intervention (energy caps, procurement standards) or will the market self-correct?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B0B0B0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2" name="Google Shape;242;p25"/>
          <p:cNvCxnSpPr/>
          <p:nvPr/>
        </p:nvCxnSpPr>
        <p:spPr>
          <a:xfrm>
            <a:off x="0" y="18288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3" name="Google Shape;243;p25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Discussion Question 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5"/>
          <p:cNvSpPr/>
          <p:nvPr/>
        </p:nvSpPr>
        <p:spPr>
          <a:xfrm>
            <a:off x="640080" y="109728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cross-layer co-design actually achievable,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 is it a coordination fantasy?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5"/>
          <p:cNvSpPr/>
          <p:nvPr/>
        </p:nvSpPr>
        <p:spPr>
          <a:xfrm>
            <a:off x="640080" y="2011680"/>
            <a:ext cx="78638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case for: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Apple M-series proves vertical integration works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NVIDIA’s CUDA ecosystem shows software-hardware coupling creates moats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FlashAttention shows algorithm-hardware awareness yields big wins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case against: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Academic incentives reward siloed publications, not cross-layer work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HW takes years; AI moves monthly. Temporal mismatch persists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30 authors produced a vision paper, not a prototype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History: VLIW / Itanium showed co-design can fail spectacularly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B0B0B0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2" name="Google Shape;252;p26"/>
          <p:cNvCxnSpPr/>
          <p:nvPr/>
        </p:nvCxnSpPr>
        <p:spPr>
          <a:xfrm>
            <a:off x="0" y="18288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3" name="Google Shape;253;p26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Discussion Question 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6"/>
          <p:cNvSpPr/>
          <p:nvPr/>
        </p:nvSpPr>
        <p:spPr>
          <a:xfrm>
            <a:off x="640080" y="1097280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Who gets left behind in the AI+HW future?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6"/>
          <p:cNvSpPr/>
          <p:nvPr/>
        </p:nvSpPr>
        <p:spPr>
          <a:xfrm>
            <a:off x="640080" y="1691640"/>
            <a:ext cx="78638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hardware access gap: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Advanced fabrication is concentrated in 2–3 companies. Can researchers at smaller institutions do meaningful AI+HW work without access to real silicon?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Global power asymmetry: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The roadmap is U.S.-centric. Countries with power advantages but limited semiconductor access face different trade-offs.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small model promise: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The paper envisions democratization through efficient edge models. But who trains the teacher models? Does distillation concentrate power further?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If you had $10B for AI+HW research, where would you put it?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6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B0B0B0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2" name="Google Shape;262;p27"/>
          <p:cNvCxnSpPr/>
          <p:nvPr/>
        </p:nvCxnSpPr>
        <p:spPr>
          <a:xfrm>
            <a:off x="0" y="18288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3" name="Google Shape;263;p27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Takeaway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7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1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next decade of AI progress will be determined not by who builds the biggest model, but by who builds the smartest system.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7"/>
          <p:cNvSpPr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This means rethinking every layer of the computing stack — from materials to algorithms — as a single, co-evolving ecosystem.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Efficiency, trustworthiness, and adaptability become first-class design goals.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7"/>
          <p:cNvSpPr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Thank you! Questions?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7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B0B0B0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2026-04-08T03:45:51Z</dcterms:created>
  <dc:creator>Angela Cui</dc:creator>
</cp:coreProperties>
</file>
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8e767660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8e767660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f3c496a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f3c496a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d766ed2c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d766ed2c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d766ed2c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d766ed2c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766ed2c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766ed2c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d766ed2c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d766ed2c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d766ed2c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d766ed2c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d766ed2c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d766ed2c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d766ed2c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d766ed2c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d766ed2c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d766ed2c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d766ed2c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d766ed2c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766ed2c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d766ed2c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d766ed2c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d766ed2c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f1f41a1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f1f41a1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f1f41a1e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f1f41a1e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f1f41a1e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f1f41a1e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f1f41a1e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f1f41a1e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1463040"/>
            <a:ext cx="8520600" cy="5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11700" y="4587025"/>
            <a:ext cx="3880200" cy="3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20050" y="1828800"/>
            <a:ext cx="85206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Source Sans Pro"/>
              <a:buNone/>
              <a:defRPr b="1" sz="48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65750" y="990600"/>
            <a:ext cx="4257000" cy="3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ou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311700" y="2317190"/>
            <a:ext cx="85206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800"/>
              <a:buNone/>
              <a:defRPr sz="2800">
                <a:solidFill>
                  <a:srgbClr val="999999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gram on left">
  <p:cSld name="TITLE_ONL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8"/>
          <p:cNvSpPr txBox="1"/>
          <p:nvPr>
            <p:ph type="title"/>
          </p:nvPr>
        </p:nvSpPr>
        <p:spPr>
          <a:xfrm>
            <a:off x="4622800" y="259075"/>
            <a:ext cx="4263600" cy="12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and description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0775" y="1469575"/>
            <a:ext cx="350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subTitle"/>
          </p:nvPr>
        </p:nvSpPr>
        <p:spPr>
          <a:xfrm rot="-5400000">
            <a:off x="-106275" y="46121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4" name="Google Shape;44;p11"/>
          <p:cNvSpPr txBox="1"/>
          <p:nvPr>
            <p:ph idx="3" type="subTitle"/>
          </p:nvPr>
        </p:nvSpPr>
        <p:spPr>
          <a:xfrm rot="-5400000">
            <a:off x="-106275" y="38846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5" name="Google Shape;45;p11"/>
          <p:cNvSpPr txBox="1"/>
          <p:nvPr>
            <p:ph idx="4" type="subTitle"/>
          </p:nvPr>
        </p:nvSpPr>
        <p:spPr>
          <a:xfrm rot="-5400000">
            <a:off x="-106275" y="31571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6" name="Google Shape;46;p11"/>
          <p:cNvSpPr txBox="1"/>
          <p:nvPr>
            <p:ph idx="5" type="subTitle"/>
          </p:nvPr>
        </p:nvSpPr>
        <p:spPr>
          <a:xfrm rot="-5400000">
            <a:off x="-106275" y="242970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7" name="Google Shape;47;p11"/>
          <p:cNvSpPr txBox="1"/>
          <p:nvPr>
            <p:ph idx="6" type="subTitle"/>
          </p:nvPr>
        </p:nvSpPr>
        <p:spPr>
          <a:xfrm rot="-5400000">
            <a:off x="-106275" y="170222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8" name="Google Shape;48;p11"/>
          <p:cNvSpPr txBox="1"/>
          <p:nvPr>
            <p:ph idx="7" type="subTitle"/>
          </p:nvPr>
        </p:nvSpPr>
        <p:spPr>
          <a:xfrm rot="-5400000">
            <a:off x="-106275" y="974750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9" name="Google Shape;49;p11"/>
          <p:cNvSpPr txBox="1"/>
          <p:nvPr>
            <p:ph idx="8" type="subTitle"/>
          </p:nvPr>
        </p:nvSpPr>
        <p:spPr>
          <a:xfrm rot="-5400000">
            <a:off x="-106275" y="247275"/>
            <a:ext cx="749400" cy="2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None/>
              <a:defRPr b="1" sz="65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85902" y="258750"/>
            <a:ext cx="4314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620775" y="258750"/>
            <a:ext cx="3508200" cy="10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Poppins"/>
              <a:buNone/>
              <a:defRPr sz="3700"/>
            </a:lvl9pPr>
          </a:lstStyle>
          <a:p/>
        </p:txBody>
      </p:sp>
      <p:sp>
        <p:nvSpPr>
          <p:cNvPr id="52" name="Google Shape;52;p11"/>
          <p:cNvSpPr/>
          <p:nvPr>
            <p:ph idx="9" type="pic"/>
          </p:nvPr>
        </p:nvSpPr>
        <p:spPr>
          <a:xfrm>
            <a:off x="6796700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1"/>
          <p:cNvSpPr/>
          <p:nvPr>
            <p:ph idx="13" type="pic"/>
          </p:nvPr>
        </p:nvSpPr>
        <p:spPr>
          <a:xfrm>
            <a:off x="4434825" y="2753975"/>
            <a:ext cx="4709100" cy="238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1"/>
          <p:cNvSpPr/>
          <p:nvPr>
            <p:ph idx="14" type="pic"/>
          </p:nvPr>
        </p:nvSpPr>
        <p:spPr>
          <a:xfrm>
            <a:off x="4434825" y="0"/>
            <a:ext cx="2347200" cy="273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5750" y="982975"/>
            <a:ext cx="85206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55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55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55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55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55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55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55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55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4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365755" y="259075"/>
            <a:ext cx="8520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b="1" sz="32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ctrTitle"/>
          </p:nvPr>
        </p:nvSpPr>
        <p:spPr>
          <a:xfrm>
            <a:off x="320050" y="1828800"/>
            <a:ext cx="8520600" cy="23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Roofline:</a:t>
            </a:r>
            <a:r>
              <a:rPr lang="en" sz="2600"/>
              <a:t> An Insightful Visual Performance Model for Floating-Point Programs and Multicore Architectures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6"/>
                </a:solidFill>
              </a:rPr>
              <a:t>CS 252A Paper Discussion</a:t>
            </a:r>
            <a:br>
              <a:rPr lang="en" sz="2700">
                <a:solidFill>
                  <a:schemeClr val="accent6"/>
                </a:solidFill>
              </a:rPr>
            </a:br>
            <a:endParaRPr sz="27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/>
              <a:t>Jack Toubes</a:t>
            </a:r>
            <a:endParaRPr b="0" sz="2700"/>
          </a:p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00" y="525250"/>
            <a:ext cx="52387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229550" y="1275250"/>
            <a:ext cx="37323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It’s 2008, the multicore era is in full swing and architectures are on track to be more varied than ever before.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4" name="Google Shape;74;p14" title="Screenshot 2026-03-05 at 5.37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850" y="146325"/>
            <a:ext cx="4361241" cy="48508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229550" y="3000025"/>
            <a:ext cx="37323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-&gt; “An easy-to-understand model</a:t>
            </a:r>
            <a:endParaRPr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that offers performance guidelines could be especially valuable.”</a:t>
            </a:r>
            <a:endParaRPr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525" y="936175"/>
            <a:ext cx="3902525" cy="39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229550" y="1275250"/>
            <a:ext cx="3732300" cy="16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It’s 2008, memory bandwidth isn’t scaling like it used to; Paper predicts memory </a:t>
            </a: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bandwidth will be bottleneck for foreseeable future.</a:t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29550" y="3000025"/>
            <a:ext cx="3732300" cy="13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-&gt; Model should prioritize the impact of memory bandwidth</a:t>
            </a:r>
            <a:endParaRPr sz="20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65750" y="982975"/>
            <a:ext cx="8520600" cy="8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 architectural performance model that is </a:t>
            </a:r>
            <a:r>
              <a:rPr lang="en">
                <a:solidFill>
                  <a:schemeClr val="accent6"/>
                </a:solidFill>
              </a:rPr>
              <a:t>easy to understand </a:t>
            </a:r>
            <a:r>
              <a:rPr lang="en"/>
              <a:t>and which emphasizes the</a:t>
            </a:r>
            <a:r>
              <a:rPr lang="en">
                <a:solidFill>
                  <a:schemeClr val="accent6"/>
                </a:solidFill>
              </a:rPr>
              <a:t> importance of memory bandwidth.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</a:t>
            </a:r>
            <a:endParaRPr/>
          </a:p>
        </p:txBody>
      </p:sp>
      <p:pic>
        <p:nvPicPr>
          <p:cNvPr id="98" name="Google Shape;98;p17" title="Screenshot 2026-03-05 at 5.43.30 PM.png"/>
          <p:cNvPicPr preferRelativeResize="0"/>
          <p:nvPr/>
        </p:nvPicPr>
        <p:blipFill rotWithShape="1">
          <a:blip r:embed="rId3">
            <a:alphaModFix/>
          </a:blip>
          <a:srcRect b="0" l="0" r="49870" t="0"/>
          <a:stretch/>
        </p:blipFill>
        <p:spPr>
          <a:xfrm>
            <a:off x="5240273" y="16750"/>
            <a:ext cx="3860475" cy="51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29550" y="936175"/>
            <a:ext cx="4830300" cy="3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Start with performance on the Y axis (that’s what we want to model). </a:t>
            </a:r>
            <a:r>
              <a:rPr lang="en" sz="19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GFlops / S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Put Flops per main memory access (</a:t>
            </a:r>
            <a:r>
              <a:rPr b="1"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a given program</a:t>
            </a: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)</a:t>
            </a:r>
            <a:r>
              <a:rPr b="1"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 the x axis. </a:t>
            </a:r>
            <a:r>
              <a:rPr lang="en" sz="19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Flops / Byte</a:t>
            </a:r>
            <a:endParaRPr sz="19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 get two lines to represent the architecture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Peak FPU utilization </a:t>
            </a: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(no memory bottleneck)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Peak memory-performance </a:t>
            </a: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(no FPU bottleneck)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Example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06" name="Google Shape;106;p18" title="Screenshot 2026-03-05 at 5.43.30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7375" y="842225"/>
            <a:ext cx="6246625" cy="414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229550" y="1559350"/>
            <a:ext cx="2761800" cy="29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put two processors with the same memory bandwidth but different core counts and microarches on the plot on the right.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9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Ceilings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14" name="Google Shape;114;p19" title="Screenshot 2026-03-05 at 5.53.08 PM.png"/>
          <p:cNvPicPr preferRelativeResize="0"/>
          <p:nvPr/>
        </p:nvPicPr>
        <p:blipFill rotWithShape="1">
          <a:blip r:embed="rId3">
            <a:alphaModFix/>
          </a:blip>
          <a:srcRect b="0" l="0" r="34011" t="0"/>
          <a:stretch/>
        </p:blipFill>
        <p:spPr>
          <a:xfrm>
            <a:off x="2135700" y="936175"/>
            <a:ext cx="6750659" cy="40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229550" y="1274950"/>
            <a:ext cx="1807200" cy="3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FP perf. optimizations horizontal lines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Memory perf. Optimizations parallel to memory bandwidth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Ceilings -&gt; Rooms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22" name="Google Shape;122;p20" title="Screenshot 2026-03-05 at 5.53.08 PM.png"/>
          <p:cNvPicPr preferRelativeResize="0"/>
          <p:nvPr/>
        </p:nvPicPr>
        <p:blipFill rotWithShape="1">
          <a:blip r:embed="rId3">
            <a:alphaModFix/>
          </a:blip>
          <a:srcRect b="0" l="65915" r="0" t="0"/>
          <a:stretch/>
        </p:blipFill>
        <p:spPr>
          <a:xfrm>
            <a:off x="4922050" y="936175"/>
            <a:ext cx="3441198" cy="399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229550" y="1274950"/>
            <a:ext cx="3865200" cy="3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ceilings form rooms (they call them regions).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different regions define locations where benchmarks can live based on the optimizations that they implement.</a:t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Potentially confusing… let’s discuss this later!</a:t>
            </a:r>
            <a:endParaRPr sz="1900">
              <a:solidFill>
                <a:schemeClr val="accent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Example usage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30" name="Google Shape;130;p21" title="Screenshot 2026-03-05 at 6.00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00" y="1088575"/>
            <a:ext cx="7978806" cy="3658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Example usage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37" name="Google Shape;137;p22" title="Screenshot 2026-03-05 at 6.01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600" y="1099175"/>
            <a:ext cx="7978806" cy="3658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Roofline Model: </a:t>
            </a:r>
            <a:r>
              <a:rPr lang="en">
                <a:solidFill>
                  <a:schemeClr val="accent6"/>
                </a:solidFill>
              </a:rPr>
              <a:t>Guidance for Architects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65750" y="982975"/>
            <a:ext cx="8520600" cy="19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Low ridge point == easy to program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Compiling for SIMD is hard</a:t>
            </a:r>
            <a:br>
              <a:rPr lang="en"/>
            </a:b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Mature compilers are very important for leveraging </a:t>
            </a:r>
            <a:r>
              <a:rPr lang="en"/>
              <a:t>uArch </a:t>
            </a:r>
            <a:r>
              <a:rPr lang="en"/>
              <a:t>optimizations.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4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r>
              <a:rPr lang="en">
                <a:solidFill>
                  <a:schemeClr val="accent6"/>
                </a:solidFill>
              </a:rPr>
              <a:t>Arbitrary placement of ceilings?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51" name="Google Shape;151;p24" title="Screenshot 2026-03-05 at 5.53.08 PM.png"/>
          <p:cNvPicPr preferRelativeResize="0"/>
          <p:nvPr/>
        </p:nvPicPr>
        <p:blipFill rotWithShape="1">
          <a:blip r:embed="rId3">
            <a:alphaModFix/>
          </a:blip>
          <a:srcRect b="0" l="65915" r="0" t="0"/>
          <a:stretch/>
        </p:blipFill>
        <p:spPr>
          <a:xfrm>
            <a:off x="4922050" y="936175"/>
            <a:ext cx="3441198" cy="399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65750" y="1449800"/>
            <a:ext cx="4259400" cy="29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“W</a:t>
            </a:r>
            <a:r>
              <a:rPr lang="en"/>
              <a:t>e rank the ceilings from bottom to top: those most likely to be realized by a compiler or with</a:t>
            </a:r>
            <a:r>
              <a:rPr lang="en">
                <a:solidFill>
                  <a:schemeClr val="accent4"/>
                </a:solidFill>
              </a:rPr>
              <a:t> little effort</a:t>
            </a:r>
            <a:r>
              <a:rPr lang="en"/>
              <a:t> by a programmer are at the </a:t>
            </a:r>
            <a:r>
              <a:rPr lang="en">
                <a:solidFill>
                  <a:schemeClr val="accent4"/>
                </a:solidFill>
              </a:rPr>
              <a:t>bottom</a:t>
            </a:r>
            <a:r>
              <a:rPr lang="en"/>
              <a:t> and those that are </a:t>
            </a:r>
            <a:r>
              <a:rPr lang="en">
                <a:solidFill>
                  <a:schemeClr val="accent1"/>
                </a:solidFill>
              </a:rPr>
              <a:t>difficult</a:t>
            </a:r>
            <a:r>
              <a:rPr lang="en"/>
              <a:t> to be implemented by a programmer or inherently lacking in a kernel are at the </a:t>
            </a:r>
            <a:r>
              <a:rPr lang="en">
                <a:solidFill>
                  <a:schemeClr val="accent1"/>
                </a:solidFill>
              </a:rPr>
              <a:t>top</a:t>
            </a:r>
            <a:r>
              <a:rPr lang="en"/>
              <a:t>.”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5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r>
              <a:rPr lang="en">
                <a:solidFill>
                  <a:schemeClr val="accent6"/>
                </a:solidFill>
              </a:rPr>
              <a:t>Accounting</a:t>
            </a:r>
            <a:r>
              <a:rPr lang="en">
                <a:solidFill>
                  <a:schemeClr val="accent6"/>
                </a:solidFill>
              </a:rPr>
              <a:t> for Cache</a:t>
            </a:r>
            <a:r>
              <a:rPr lang="en">
                <a:solidFill>
                  <a:schemeClr val="accent6"/>
                </a:solidFill>
              </a:rPr>
              <a:t>?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59" name="Google Shape;159;p25" title="Screenshot 2026-03-05 at 5.53.08 PM.png"/>
          <p:cNvPicPr preferRelativeResize="0"/>
          <p:nvPr/>
        </p:nvPicPr>
        <p:blipFill rotWithShape="1">
          <a:blip r:embed="rId3">
            <a:alphaModFix/>
          </a:blip>
          <a:srcRect b="0" l="65915" r="0" t="0"/>
          <a:stretch/>
        </p:blipFill>
        <p:spPr>
          <a:xfrm>
            <a:off x="4922050" y="936175"/>
            <a:ext cx="3441198" cy="399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65750" y="1449800"/>
            <a:ext cx="4259400" cy="22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“The definition of operational intensity in this paper does indeed factor in caches: memory accesses are measured between the caches and memory, not between the processor and caches.”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6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r>
              <a:rPr lang="en">
                <a:solidFill>
                  <a:schemeClr val="accent6"/>
                </a:solidFill>
              </a:rPr>
              <a:t>Test of time</a:t>
            </a:r>
            <a:r>
              <a:rPr lang="en">
                <a:solidFill>
                  <a:schemeClr val="accent6"/>
                </a:solidFill>
              </a:rPr>
              <a:t>?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67" name="Google Shape;167;p26" title="Screenshot 2026-03-11 at 4.24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0600"/>
            <a:ext cx="8839200" cy="3324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r>
              <a:rPr lang="en">
                <a:solidFill>
                  <a:schemeClr val="accent6"/>
                </a:solidFill>
              </a:rPr>
              <a:t>Memory Bandwidth in GPUs</a:t>
            </a:r>
            <a:r>
              <a:rPr lang="en">
                <a:solidFill>
                  <a:schemeClr val="accent6"/>
                </a:solidFill>
              </a:rPr>
              <a:t>?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74" name="Google Shape;174;p27" title="Screenshot 2026-03-11 at 4.26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4513" y="978050"/>
            <a:ext cx="4514964" cy="39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283608" y="4587017"/>
            <a:ext cx="5487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8"/>
          <p:cNvSpPr txBox="1"/>
          <p:nvPr>
            <p:ph type="title"/>
          </p:nvPr>
        </p:nvSpPr>
        <p:spPr>
          <a:xfrm>
            <a:off x="365755" y="259075"/>
            <a:ext cx="85206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</a:t>
            </a:r>
            <a:r>
              <a:rPr lang="en">
                <a:solidFill>
                  <a:schemeClr val="accent6"/>
                </a:solidFill>
              </a:rPr>
              <a:t>Memory Bandwidth with HBM?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81" name="Google Shape;181;p28" title="Screenshot 2026-03-11 at 4.24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50" y="1035850"/>
            <a:ext cx="7978806" cy="355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certainty Sharp">
  <a:themeElements>
    <a:clrScheme name="Simple Light">
      <a:dk1>
        <a:srgbClr val="222222"/>
      </a:dk1>
      <a:lt1>
        <a:srgbClr val="FFFFFF"/>
      </a:lt1>
      <a:dk2>
        <a:srgbClr val="666666"/>
      </a:dk2>
      <a:lt2>
        <a:srgbClr val="EEEEEE"/>
      </a:lt2>
      <a:accent1>
        <a:srgbClr val="FF3B30"/>
      </a:accent1>
      <a:accent2>
        <a:srgbClr val="FF9500"/>
      </a:accent2>
      <a:accent3>
        <a:srgbClr val="FFCC00"/>
      </a:accent3>
      <a:accent4>
        <a:srgbClr val="26C759"/>
      </a:accent4>
      <a:accent5>
        <a:srgbClr val="007AFF"/>
      </a:accent5>
      <a:accent6>
        <a:srgbClr val="AF52DE"/>
      </a:accent6>
      <a:hlink>
        <a:srgbClr val="03A9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
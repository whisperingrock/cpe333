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z8YpjqXQJIA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z8YpjqXQJIA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z8YpjqXQJIA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z8YpjqXQJIA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z8YpjqXQJIA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jnaithani.github.io/docs/isca21_slides.pdf#page=1.00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jnaithani.github.io/docs/isca21_slides.pdf#page=1.00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jnaithani.github.io/docs/isca21_slides.pdf#page=1.00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jnaithani.github.io/docs/isca21_slides.pdf#page=1.00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66a612db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66a612db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71d07caf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71d07caf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66a612db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66a612db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Assuming 2 independent loads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a bigger instruction window we could overlap these 2 loads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https://www.youtube.com/watch?v=z8YpjqXQJIA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71d07caf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71d07caf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Checkpoint pc, arf, branch history reg and ras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Pseudo-retires instructions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https://www.youtube.com/watch?v=z8YpjqXQJIA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66a612db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66a612db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Checkpoint pc, arf, branch history reg and ras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Pseudo-retires instructions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https://www.youtube.com/watch?v=z8YpjqXQJIA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66a612db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66a612db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PC, RAT, RAS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https://www.youtube.com/watch?v=z8YpjqXQJIA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processor has sufficient unused resources in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 queue and physical register file to continue speculatively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executing instructions in runahead mode, eliminating the need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release processor state in the reorder buffer (ROB), issue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queue (IQ), and physical register file (PRF)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refer to the load instruction that causes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full-window stall as a stalling load, and to the backward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chain of instructions that leads to a stalling load as a stalling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slice.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66a612db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66a612db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66a612db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66a612db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66a612db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66a612db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66a612db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66a612db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66a612db5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66a612db5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PC, RAT, RAS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https://www.youtube.com/watch?v=z8YpjqXQJIA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processor has sufficient unused resources in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 queue and physical register file to continue speculatively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executing instructions in runahead mode, eliminating the need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release processor state in the reorder buffer (ROB), issue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 (IQ), and physical register file (PRF)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66a612db5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66a612db5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https://ajnaithani.github.io/docs/isca21_slides.pdf#page=1.00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Black arrows are data flow / show data dependencies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lot of instructions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71d07caf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71d07caf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https://ajnaithani.github.io/docs/isca21_slides.pdf#page=1.00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Instead, when we decode A[0], we can translate A[0] to the vectorized load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66a612db5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66a612db5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https://ajnaithani.github.io/docs/isca21_slides.pdf#page=1.00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 arrow is order of execution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vertical column has no data dependencies, can issue in parallel to overlap stalls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66a612db5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66a612db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https://ajnaithani.github.io/docs/isca21_slides.pdf#page=1.00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P copies of a scalar register: we over P operations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66a612db5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c66a612db5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66a612db5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66a612db5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66a612db5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c66a612db5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66a612db5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c66a612db5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four conditions is satisfied: (1) we encounter a dynamic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instance of the same striding load again; (2) we encounter,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issue, the terminator: the PC identified by the stride detector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(Section III-B) as the last dependent load in the sequence;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(3) all vector lanes have been marked as invalid; or (4)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time out (after 200 scalar-equivalent instructions have been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executed in vector-runahead mode), in case of traveling 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 unexpected code path.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66a612db5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66a612db5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66a612db5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c66a612db5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66a612db5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66a612db5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66a612db5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c66a612db5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(a) Accuracy: fraction of total prefetched cachelines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runahead mode that are later accessed in normal mode.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(b) Timeliness: fraction of total prefetched cachelines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runahead mode for which the data is present in the L1-D,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L2 and L3 caches during normal mode; ‘Off-chip’ represents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cachelines for which the data is still being transferred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from memory.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66a612db5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c66a612db5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71d07cafc_3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c71d07cafc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c66a612db5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c66a612db5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66a612db5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66a612db5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c71d07ca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c71d07ca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Runahead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1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A. Naithani, S. Ainsworth, T. M. Jones and L. Eeckhout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 ACM/IEEE 48th Annual International Symposium on Computer Architecture (ISCA)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 Angela Cui</a:t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 wall: m</a:t>
            </a:r>
            <a:r>
              <a:rPr lang="en"/>
              <a:t>odern workloads feature sparse, indirect memory accesses that are hard to predict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Indirect load instructions account for the majority of memory-access cycles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Cache-system level prefetchers are not good enough</a:t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6475" y="2571750"/>
            <a:ext cx="3551041" cy="199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Full-Window Stalls 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Re-order buffer (ROB)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purpose of the re-order buffer (ROB) is to ensure we modify architectural state in program order in out-of-order processors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ROB is a circular buffer that is enq in decode and deq in writeback </a:t>
            </a:r>
            <a:r>
              <a:rPr lang="en" u="sng"/>
              <a:t>in order</a:t>
            </a:r>
            <a:endParaRPr u="sng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Think of the ROB analogous to an ‘instruction pool’ that must be dequeued in program order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Last-level cache miss → ~100 cycles to access DRAM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the load reaches the head of the ROB and the frontend fills up the ROB, we get a </a:t>
            </a:r>
            <a:r>
              <a:rPr b="1" lang="en"/>
              <a:t>full-window stall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8562" y="2963000"/>
            <a:ext cx="3246863" cy="218050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/>
          <p:nvPr/>
        </p:nvSpPr>
        <p:spPr>
          <a:xfrm>
            <a:off x="3421275" y="3683958"/>
            <a:ext cx="384000" cy="419100"/>
          </a:xfrm>
          <a:prstGeom prst="rect">
            <a:avLst/>
          </a:prstGeom>
          <a:noFill/>
          <a:ln cap="flat" cmpd="sng" w="175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25" lIns="84025" spcFirstLastPara="1" rIns="84025" wrap="square" tIns="84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3">
                <a:solidFill>
                  <a:schemeClr val="lt1"/>
                </a:solidFill>
              </a:rPr>
              <a:t>Enq ROB</a:t>
            </a:r>
            <a:endParaRPr sz="643">
              <a:solidFill>
                <a:schemeClr val="lt1"/>
              </a:solidFill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5677339" y="3635471"/>
            <a:ext cx="384000" cy="419100"/>
          </a:xfrm>
          <a:prstGeom prst="rect">
            <a:avLst/>
          </a:prstGeom>
          <a:noFill/>
          <a:ln cap="flat" cmpd="sng" w="175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25" lIns="84025" spcFirstLastPara="1" rIns="84025" wrap="square" tIns="84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3">
                <a:solidFill>
                  <a:schemeClr val="lt1"/>
                </a:solidFill>
              </a:rPr>
              <a:t> Deq</a:t>
            </a:r>
            <a:r>
              <a:rPr lang="en" sz="643">
                <a:solidFill>
                  <a:schemeClr val="lt1"/>
                </a:solidFill>
              </a:rPr>
              <a:t> ROB</a:t>
            </a:r>
            <a:endParaRPr sz="1287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Runahead Execution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Initiate prefetch from the core instead of within the cache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to achieve the memory-level </a:t>
            </a:r>
            <a:r>
              <a:rPr lang="en"/>
              <a:t>parallelism of a large instruction window with a small window?</a:t>
            </a:r>
            <a:endParaRPr/>
          </a:p>
        </p:txBody>
      </p:sp>
      <p:pic>
        <p:nvPicPr>
          <p:cNvPr id="81" name="Google Shape;81;p16" title="IMG_97E5F887B13C-1.jpeg"/>
          <p:cNvPicPr preferRelativeResize="0"/>
          <p:nvPr/>
        </p:nvPicPr>
        <p:blipFill rotWithShape="1">
          <a:blip r:embed="rId3">
            <a:alphaModFix/>
          </a:blip>
          <a:srcRect b="52347" l="0" r="0" t="0"/>
          <a:stretch/>
        </p:blipFill>
        <p:spPr>
          <a:xfrm>
            <a:off x="1795325" y="2836902"/>
            <a:ext cx="5553352" cy="12536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Runahead Execution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full-window stall occurs: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Checkpoint architectural 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Enter </a:t>
            </a:r>
            <a:r>
              <a:rPr b="1" lang="en"/>
              <a:t>runahead mode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Runahead mode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Speculatively pre-execute instructions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Instructions are pseudo-retired and </a:t>
            </a:r>
            <a:r>
              <a:rPr b="1" lang="en"/>
              <a:t>do not modify architectural state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Instructions are issued </a:t>
            </a:r>
            <a:r>
              <a:rPr b="1" lang="en"/>
              <a:t>only to prefetch data into cache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Runahead mode ends when the original miss returns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Flush the pipeline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Restore architectural 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Resume normal execution</a:t>
            </a:r>
            <a:endParaRPr/>
          </a:p>
        </p:txBody>
      </p:sp>
      <p:pic>
        <p:nvPicPr>
          <p:cNvPr id="89" name="Google Shape;89;p17" title="IMG_E5C67B51E455-1.jpeg"/>
          <p:cNvPicPr preferRelativeResize="0"/>
          <p:nvPr/>
        </p:nvPicPr>
        <p:blipFill rotWithShape="1">
          <a:blip r:embed="rId3">
            <a:alphaModFix/>
          </a:blip>
          <a:srcRect b="27409" l="0" r="0" t="54667"/>
          <a:stretch/>
        </p:blipFill>
        <p:spPr>
          <a:xfrm>
            <a:off x="4905150" y="4049450"/>
            <a:ext cx="3927151" cy="10073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Runahead Execution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full-window stall occurs: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Checkpoint architectural 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Enter </a:t>
            </a:r>
            <a:r>
              <a:rPr b="1" lang="en"/>
              <a:t>runahead mode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Runahead mode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Speculatively pre-execute instructions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Instructions are pseudo-retired and </a:t>
            </a:r>
            <a:r>
              <a:rPr b="1" lang="en"/>
              <a:t>do not modify architectural state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Instructions are issued </a:t>
            </a:r>
            <a:r>
              <a:rPr b="1" lang="en"/>
              <a:t>only to prefetch data into cache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Runahead mode ends when the original miss returns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Flush the pipeline </a:t>
            </a:r>
            <a:r>
              <a:rPr b="1" lang="en">
                <a:solidFill>
                  <a:srgbClr val="FF0000"/>
                </a:solidFill>
              </a:rPr>
              <a:t>Re-filling the frontend &amp; ROB with 100s of entries is expensive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Restore architectural 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Resume normal execution</a:t>
            </a:r>
            <a:endParaRPr/>
          </a:p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8" name="Google Shape;98;p18" title="IMG_E5C67B51E455-1.jpeg"/>
          <p:cNvPicPr preferRelativeResize="0"/>
          <p:nvPr/>
        </p:nvPicPr>
        <p:blipFill rotWithShape="1">
          <a:blip r:embed="rId3">
            <a:alphaModFix/>
          </a:blip>
          <a:srcRect b="27409" l="0" r="0" t="54667"/>
          <a:stretch/>
        </p:blipFill>
        <p:spPr>
          <a:xfrm>
            <a:off x="4905150" y="4049450"/>
            <a:ext cx="3927151" cy="10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Precise Runahead Execution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full-window stall occurs: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Checkpoint architectural 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Enter </a:t>
            </a:r>
            <a:r>
              <a:rPr b="1" lang="en"/>
              <a:t>runahead mode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Runahead mode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trike="sngStrike"/>
              <a:t>Speculatively pre-execute instructions </a:t>
            </a:r>
            <a:r>
              <a:rPr lang="en">
                <a:solidFill>
                  <a:srgbClr val="0000FF"/>
                </a:solidFill>
              </a:rPr>
              <a:t>Only execute long-latency load instructions</a:t>
            </a:r>
            <a:r>
              <a:rPr lang="en">
                <a:solidFill>
                  <a:srgbClr val="0000FF"/>
                </a:solidFill>
              </a:rPr>
              <a:t> (stored in a stalling slice table)</a:t>
            </a:r>
            <a:endParaRPr>
              <a:solidFill>
                <a:srgbClr val="0000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lang="en">
                <a:solidFill>
                  <a:srgbClr val="0000FF"/>
                </a:solidFill>
              </a:rPr>
              <a:t>Use available issue queue and </a:t>
            </a:r>
            <a:r>
              <a:rPr lang="en">
                <a:solidFill>
                  <a:srgbClr val="0000FF"/>
                </a:solidFill>
              </a:rPr>
              <a:t>physical</a:t>
            </a:r>
            <a:r>
              <a:rPr lang="en">
                <a:solidFill>
                  <a:srgbClr val="0000FF"/>
                </a:solidFill>
              </a:rPr>
              <a:t> register file resources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Runahead mode ends when the original miss returns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trike="sngStrike"/>
              <a:t>Flush the pipeline </a:t>
            </a:r>
            <a:r>
              <a:rPr lang="en">
                <a:solidFill>
                  <a:srgbClr val="0000FF"/>
                </a:solidFill>
              </a:rPr>
              <a:t>Don’t need to flush ROB</a:t>
            </a:r>
            <a:endParaRPr strike="sngStrike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Restore architectural 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Resume normal execution</a:t>
            </a:r>
            <a:endParaRPr/>
          </a:p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4572000" y="1017725"/>
            <a:ext cx="3900300" cy="12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Key observation: Runahead does not modify architectural state.</a:t>
            </a:r>
            <a:endParaRPr b="1" sz="18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We don’t need to use the ROB.</a:t>
            </a:r>
            <a:endParaRPr b="1"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</a:t>
            </a:r>
            <a:r>
              <a:rPr lang="en"/>
              <a:t>Precise Runahead Execution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 does not prefetch indirect memory accesses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Assume A[0] triggers runahead: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 rotWithShape="1">
          <a:blip r:embed="rId3">
            <a:alphaModFix/>
          </a:blip>
          <a:srcRect b="0" l="14872" r="0" t="0"/>
          <a:stretch/>
        </p:blipFill>
        <p:spPr>
          <a:xfrm>
            <a:off x="2782852" y="2812325"/>
            <a:ext cx="357829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2925" y="3566600"/>
            <a:ext cx="4198150" cy="15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Precise Runahead Execution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processors have a stride prefetcher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Assume A[0] hits in cache, B[hash(A[0])] </a:t>
            </a:r>
            <a:r>
              <a:rPr lang="en"/>
              <a:t>triggers runahead</a:t>
            </a:r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 rotWithShape="1">
          <a:blip r:embed="rId3">
            <a:alphaModFix/>
          </a:blip>
          <a:srcRect b="0" l="14872" r="0" t="0"/>
          <a:stretch/>
        </p:blipFill>
        <p:spPr>
          <a:xfrm>
            <a:off x="2782852" y="2812325"/>
            <a:ext cx="357829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2925" y="3488396"/>
            <a:ext cx="4198149" cy="165510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Precise Runahead Execution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Cannot prefetch memory access patterns with arbitrary degree of indirection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Rate that PRE can issue speculative prefetches is limited by the frontend bandwidth</a:t>
            </a:r>
            <a:endParaRPr/>
          </a:p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Runahead Main Contributions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Vectorize scalar instructions to perform more prefetch instructions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Increase backend throughput without putting extra pressure on the frontend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Unroll and pipeline vector instructions to perform even more prefetch instructions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Stay in runahead mode until all dependent loads have been issued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Runahead</a:t>
            </a:r>
            <a:endParaRPr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full-window stall occurs: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Checkpoint architectural 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Enter </a:t>
            </a:r>
            <a:r>
              <a:rPr b="1" lang="en"/>
              <a:t>runahead mode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Runahead mode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trike="sngStrike"/>
              <a:t>Speculatively pre-execute instructions </a:t>
            </a:r>
            <a:r>
              <a:rPr lang="en">
                <a:solidFill>
                  <a:srgbClr val="0000FF"/>
                </a:solidFill>
              </a:rPr>
              <a:t>Only execute long-latency load instructions (stored in a stalling slice table)</a:t>
            </a:r>
            <a:endParaRPr>
              <a:solidFill>
                <a:srgbClr val="0000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Vectorize scalar instructions and apply pipelining/unrolling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lang="en">
                <a:solidFill>
                  <a:srgbClr val="0000FF"/>
                </a:solidFill>
              </a:rPr>
              <a:t>Use available issue queue and physical register file resources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trike="sngStrike"/>
              <a:t>Runahead mode ends when the original miss returns </a:t>
            </a:r>
            <a:r>
              <a:rPr lang="en">
                <a:solidFill>
                  <a:srgbClr val="FF0000"/>
                </a:solidFill>
              </a:rPr>
              <a:t>Leave runahead after all dependent loads have been issued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trike="sngStrike"/>
              <a:t>Flush the pipeline </a:t>
            </a:r>
            <a:r>
              <a:rPr lang="en">
                <a:solidFill>
                  <a:srgbClr val="0000FF"/>
                </a:solidFill>
              </a:rPr>
              <a:t>Don’t need to flush ROB</a:t>
            </a:r>
            <a:endParaRPr strike="sngStrike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Restore architectural 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Resume normal execution</a:t>
            </a:r>
            <a:endParaRPr/>
          </a:p>
        </p:txBody>
      </p:sp>
      <p:sp>
        <p:nvSpPr>
          <p:cNvPr id="145" name="Google Shape;14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Vectorizing scalar instructions</a:t>
            </a:r>
            <a:endParaRPr/>
          </a:p>
        </p:txBody>
      </p:sp>
      <p:pic>
        <p:nvPicPr>
          <p:cNvPr id="151" name="Google Shape;151;p25"/>
          <p:cNvPicPr preferRelativeResize="0"/>
          <p:nvPr/>
        </p:nvPicPr>
        <p:blipFill rotWithShape="1">
          <a:blip r:embed="rId3">
            <a:alphaModFix/>
          </a:blip>
          <a:srcRect b="0" l="14872" r="0" t="0"/>
          <a:stretch/>
        </p:blipFill>
        <p:spPr>
          <a:xfrm>
            <a:off x="5565702" y="2285400"/>
            <a:ext cx="357829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5"/>
          <p:cNvPicPr preferRelativeResize="0"/>
          <p:nvPr/>
        </p:nvPicPr>
        <p:blipFill rotWithShape="1">
          <a:blip r:embed="rId4">
            <a:alphaModFix/>
          </a:blip>
          <a:srcRect b="0" l="0" r="0" t="32746"/>
          <a:stretch/>
        </p:blipFill>
        <p:spPr>
          <a:xfrm>
            <a:off x="311700" y="2571749"/>
            <a:ext cx="3633200" cy="177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4" name="Google Shape;154;p25"/>
          <p:cNvCxnSpPr/>
          <p:nvPr/>
        </p:nvCxnSpPr>
        <p:spPr>
          <a:xfrm rot="10800000">
            <a:off x="193525" y="2549825"/>
            <a:ext cx="8700" cy="166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p25"/>
          <p:cNvSpPr txBox="1"/>
          <p:nvPr/>
        </p:nvSpPr>
        <p:spPr>
          <a:xfrm>
            <a:off x="0" y="2164925"/>
            <a:ext cx="145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Loop iterations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Vectorizing scalar instructions</a:t>
            </a:r>
            <a:endParaRPr/>
          </a:p>
        </p:txBody>
      </p:sp>
      <p:pic>
        <p:nvPicPr>
          <p:cNvPr id="161" name="Google Shape;161;p26"/>
          <p:cNvPicPr preferRelativeResize="0"/>
          <p:nvPr/>
        </p:nvPicPr>
        <p:blipFill rotWithShape="1">
          <a:blip r:embed="rId3">
            <a:alphaModFix/>
          </a:blip>
          <a:srcRect b="0" l="14872" r="0" t="0"/>
          <a:stretch/>
        </p:blipFill>
        <p:spPr>
          <a:xfrm>
            <a:off x="5565702" y="2285400"/>
            <a:ext cx="357829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525" y="3045475"/>
            <a:ext cx="2516650" cy="9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708371"/>
            <a:ext cx="3633200" cy="263657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Unroll Vector Instructions</a:t>
            </a:r>
            <a:endParaRPr/>
          </a:p>
        </p:txBody>
      </p:sp>
      <p:pic>
        <p:nvPicPr>
          <p:cNvPr id="170" name="Google Shape;170;p27"/>
          <p:cNvPicPr preferRelativeResize="0"/>
          <p:nvPr/>
        </p:nvPicPr>
        <p:blipFill rotWithShape="1">
          <a:blip r:embed="rId3">
            <a:alphaModFix/>
          </a:blip>
          <a:srcRect b="0" l="14872" r="0" t="0"/>
          <a:stretch/>
        </p:blipFill>
        <p:spPr>
          <a:xfrm>
            <a:off x="5363802" y="2140725"/>
            <a:ext cx="357829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6300" y="2713420"/>
            <a:ext cx="3066000" cy="11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3" name="Google Shape;17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025" y="1591675"/>
            <a:ext cx="5059005" cy="2252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ipeline Vector Instructions</a:t>
            </a:r>
            <a:endParaRPr/>
          </a:p>
        </p:txBody>
      </p:sp>
      <p:pic>
        <p:nvPicPr>
          <p:cNvPr id="179" name="Google Shape;179;p28"/>
          <p:cNvPicPr preferRelativeResize="0"/>
          <p:nvPr/>
        </p:nvPicPr>
        <p:blipFill rotWithShape="1">
          <a:blip r:embed="rId3">
            <a:alphaModFix/>
          </a:blip>
          <a:srcRect b="0" l="14872" r="0" t="0"/>
          <a:stretch/>
        </p:blipFill>
        <p:spPr>
          <a:xfrm>
            <a:off x="5207627" y="2197450"/>
            <a:ext cx="357829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8"/>
          <p:cNvPicPr preferRelativeResize="0"/>
          <p:nvPr/>
        </p:nvPicPr>
        <p:blipFill rotWithShape="1">
          <a:blip r:embed="rId4">
            <a:alphaModFix/>
          </a:blip>
          <a:srcRect b="0" l="9439" r="7614" t="0"/>
          <a:stretch/>
        </p:blipFill>
        <p:spPr>
          <a:xfrm>
            <a:off x="5733700" y="2770150"/>
            <a:ext cx="3148025" cy="121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2" name="Google Shape;18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8425" y="1575850"/>
            <a:ext cx="4902830" cy="2410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Microarchitecture overview</a:t>
            </a:r>
            <a:endParaRPr/>
          </a:p>
        </p:txBody>
      </p:sp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1.31 KB SRAM overhead (compared to 1.24KB overhead with PRE)</a:t>
            </a:r>
            <a:endParaRPr/>
          </a:p>
        </p:txBody>
      </p:sp>
      <p:pic>
        <p:nvPicPr>
          <p:cNvPr id="189" name="Google Shape;18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3184"/>
            <a:ext cx="8520599" cy="168004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Stride Detector</a:t>
            </a:r>
            <a:endParaRPr/>
          </a:p>
        </p:txBody>
      </p:sp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to determine ‘induction variables’ or stride for vectorized memory accesses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Stores ‘terminator’ PC which tells us when to terminate early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this instruction a strided load?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Yes: enter vector runahead mode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No: do </a:t>
            </a:r>
            <a:r>
              <a:rPr lang="en"/>
              <a:t>precise runahead</a:t>
            </a:r>
            <a:endParaRPr/>
          </a:p>
        </p:txBody>
      </p:sp>
      <p:sp>
        <p:nvSpPr>
          <p:cNvPr id="197" name="Google Shape;19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8" name="Google Shape;19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987" y="3271025"/>
            <a:ext cx="6582026" cy="129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Taint Vector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1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what operations depend on the vectorized loads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Vectorize bit: was the previous instruction to write to this register a vector instruction?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0: Scalar / 1: Vectorize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Invalid bit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0: Discard / 1: Don’t discard</a:t>
            </a:r>
            <a:endParaRPr/>
          </a:p>
        </p:txBody>
      </p:sp>
      <p:sp>
        <p:nvSpPr>
          <p:cNvPr id="205" name="Google Shape;20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6" name="Google Shape;2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987" y="3271025"/>
            <a:ext cx="6582026" cy="129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Vectorizing Instruction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2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Vectorizer</a:t>
            </a:r>
            <a:r>
              <a:rPr lang="en"/>
              <a:t> generates vectorized instructions via a microprogrammed routine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Scalar architectural registers and renamed to vector physical registers using the vector </a:t>
            </a:r>
            <a:r>
              <a:rPr b="1" lang="en"/>
              <a:t>Register Allocation Table (VRAT)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architectural register → P vector physical registers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Deallocate registers using the </a:t>
            </a:r>
            <a:r>
              <a:rPr b="1" lang="en"/>
              <a:t>Register Deallocation Queue (RDQ) </a:t>
            </a:r>
            <a:r>
              <a:rPr lang="en"/>
              <a:t>(similar to PRE)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Like a surrogate ROB </a:t>
            </a:r>
            <a:endParaRPr/>
          </a:p>
        </p:txBody>
      </p:sp>
      <p:pic>
        <p:nvPicPr>
          <p:cNvPr id="213" name="Google Shape;21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987" y="3271025"/>
            <a:ext cx="6582026" cy="129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Setup</a:t>
            </a:r>
            <a:endParaRPr/>
          </a:p>
        </p:txBody>
      </p:sp>
      <p:sp>
        <p:nvSpPr>
          <p:cNvPr id="220" name="Google Shape;22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Sniper: a cycle-level model for superscalar OoO processors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 latency bound benchmarks based on HPC, graph, and database workloads</a:t>
            </a:r>
            <a:endParaRPr/>
          </a:p>
        </p:txBody>
      </p:sp>
      <p:sp>
        <p:nvSpPr>
          <p:cNvPr id="221" name="Google Shape;22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2" name="Google Shape;22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0325" y="2296563"/>
            <a:ext cx="3943350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</a:t>
            </a:r>
            <a:endParaRPr/>
          </a:p>
        </p:txBody>
      </p:sp>
      <p:sp>
        <p:nvSpPr>
          <p:cNvPr id="228" name="Google Shape;22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9" name="Google Shape;22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8200" y="1469450"/>
            <a:ext cx="4187599" cy="278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4"/>
          <p:cNvSpPr/>
          <p:nvPr/>
        </p:nvSpPr>
        <p:spPr>
          <a:xfrm>
            <a:off x="6066700" y="3604850"/>
            <a:ext cx="404400" cy="228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4"/>
          <p:cNvSpPr/>
          <p:nvPr/>
        </p:nvSpPr>
        <p:spPr>
          <a:xfrm>
            <a:off x="2869225" y="3774850"/>
            <a:ext cx="404400" cy="228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Coverage</a:t>
            </a:r>
            <a:endParaRPr/>
          </a:p>
        </p:txBody>
      </p:sp>
      <p:sp>
        <p:nvSpPr>
          <p:cNvPr id="237" name="Google Shape;23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8" name="Google Shape;23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8011" y="1132275"/>
            <a:ext cx="4764277" cy="3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5"/>
          <p:cNvSpPr txBox="1"/>
          <p:nvPr/>
        </p:nvSpPr>
        <p:spPr>
          <a:xfrm>
            <a:off x="311700" y="2202300"/>
            <a:ext cx="506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Neither PRE / VR overfetches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VR has higher coverage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 and Timeliness</a:t>
            </a:r>
            <a:endParaRPr/>
          </a:p>
        </p:txBody>
      </p:sp>
      <p:sp>
        <p:nvSpPr>
          <p:cNvPr id="245" name="Google Shape;24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6" name="Google Shape;24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4302" y="1451602"/>
            <a:ext cx="5035400" cy="26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6"/>
          <p:cNvSpPr/>
          <p:nvPr/>
        </p:nvSpPr>
        <p:spPr>
          <a:xfrm>
            <a:off x="3213775" y="1725463"/>
            <a:ext cx="168900" cy="2083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6"/>
          <p:cNvSpPr txBox="1"/>
          <p:nvPr/>
        </p:nvSpPr>
        <p:spPr>
          <a:xfrm>
            <a:off x="2852250" y="1082300"/>
            <a:ext cx="343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</a:rPr>
              <a:t>GS-s21: Large dataset w/ complex control flow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249" name="Google Shape;249;p36"/>
          <p:cNvSpPr/>
          <p:nvPr/>
        </p:nvSpPr>
        <p:spPr>
          <a:xfrm>
            <a:off x="5533675" y="1690363"/>
            <a:ext cx="168900" cy="2083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255" name="Google Shape;255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memory wall: </a:t>
            </a:r>
            <a:endParaRPr/>
          </a:p>
        </p:txBody>
      </p:sp>
      <p:sp>
        <p:nvSpPr>
          <p:cNvPr id="256" name="Google Shape;25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7" name="Google Shape;25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713" y="1678976"/>
            <a:ext cx="7786573" cy="26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263" name="Google Shape;263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think that vector runahead could be implemented in modern processors? What are the relevant obstacles (security, microarchitecture feasibility, ...)?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struck me as an elegant software-transparent auto vectorizer. I wonder what codes would be better served through traditional SW vectorization vs. hardware vectorization?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Hypothetically microarchitecture papers could propose arbitrarily complex designs that are not actually feasible in silicon. Should we expect papers like vector runahead to evaluate silicon design?</a:t>
            </a:r>
            <a:endParaRPr/>
          </a:p>
        </p:txBody>
      </p:sp>
      <p:sp>
        <p:nvSpPr>
          <p:cNvPr id="264" name="Google Shape;26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270" name="Google Shape;27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Sensitivity Analysis</a:t>
            </a:r>
            <a:endParaRPr/>
          </a:p>
        </p:txBody>
      </p:sp>
      <p:sp>
        <p:nvSpPr>
          <p:cNvPr id="276" name="Google Shape;27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7" name="Google Shape;27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807" y="1017725"/>
            <a:ext cx="2788544" cy="180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2900" y="1017725"/>
            <a:ext cx="2398369" cy="157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5425" y="2826794"/>
            <a:ext cx="2489287" cy="180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6520" y="2814900"/>
            <a:ext cx="2811125" cy="180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Full-Window Stalls </a:t>
            </a:r>
            <a:endParaRPr/>
          </a:p>
        </p:txBody>
      </p:sp>
      <p:sp>
        <p:nvSpPr>
          <p:cNvPr id="286" name="Google Shape;286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Last-level cache miss → ~100 cycles to access DRAM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the load reaches the head of the re-order buffer (ROB) and the frontend fills up the ROB, we get a </a:t>
            </a:r>
            <a:r>
              <a:rPr b="1" lang="en"/>
              <a:t>full-window stall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8" name="Google Shape;288;p41"/>
          <p:cNvPicPr preferRelativeResize="0"/>
          <p:nvPr/>
        </p:nvPicPr>
        <p:blipFill rotWithShape="1">
          <a:blip r:embed="rId3">
            <a:alphaModFix/>
          </a:blip>
          <a:srcRect b="16037" l="0" r="0" t="0"/>
          <a:stretch/>
        </p:blipFill>
        <p:spPr>
          <a:xfrm>
            <a:off x="1935200" y="2767975"/>
            <a:ext cx="5273600" cy="167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1"/>
          <p:cNvSpPr txBox="1"/>
          <p:nvPr/>
        </p:nvSpPr>
        <p:spPr>
          <a:xfrm>
            <a:off x="0" y="4835700"/>
            <a:ext cx="52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Source: Christopher Batten, ECE 4750, Cornell University (© 2022)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90" name="Google Shape;290;p41"/>
          <p:cNvSpPr/>
          <p:nvPr/>
        </p:nvSpPr>
        <p:spPr>
          <a:xfrm>
            <a:off x="1806750" y="4264750"/>
            <a:ext cx="5530500" cy="174300"/>
          </a:xfrm>
          <a:prstGeom prst="rect">
            <a:avLst/>
          </a:prstGeom>
          <a:solidFill>
            <a:srgbClr val="FF0000">
              <a:alpha val="335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
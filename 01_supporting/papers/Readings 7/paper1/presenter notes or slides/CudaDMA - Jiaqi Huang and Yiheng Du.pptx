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aaf797d19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aaf797d19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aaf797d19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aaf797d19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aaf797d19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aaf797d19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aaf797d19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aaf797d19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aaf797d19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aaf797d19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aaf797d19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aaf797d19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aaf797d19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aaf797d19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aaf797d19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aaf797d19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aaf797d19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aaf797d19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aaf797d19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aaf797d19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aaf797d19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aaf797d19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aaf797d19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aaf797d19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aaf797d19_1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aaf797d19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aaf797d19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aaf797d19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aaf797d19_1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aaf797d19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aaf797d19_1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aaf797d19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aaf797d19_1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aaf797d19_1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aaf797d19_1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aaf797d19_1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aaf797d19_1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aaf797d19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aaf797d19_1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aaf797d19_1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aaf797d19_1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aaf797d19_1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aaf797d19_1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aaf797d19_1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aaf797d19_1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daaf797d19_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aaf797d19_1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aaf797d19_1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aaf797d19_1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aaf797d19_1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af20edf4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daf20edf4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af20edf43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daf20edf43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af20edf43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daf20edf43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af20edf43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daf20edf43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af20edf43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daf20edf43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af20edf43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daf20edf43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af20edf43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daf20edf43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aaf797d19_1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daaf797d19_1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CudaDMA</a:t>
            </a:r>
            <a:r>
              <a:rPr lang="en"/>
              <a:t>: </a:t>
            </a:r>
            <a:r>
              <a:rPr lang="en" sz="4078"/>
              <a:t>Optimizing GPU Memory Bandwidth via Warp Specialization</a:t>
            </a:r>
            <a:endParaRPr sz="4078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Jiaqi Huang and Yiheng Du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Overview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595"/>
              <a:t>Problem: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595"/>
              <a:t>GPU apps are increasingly memory-bandwidth limited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t/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595"/>
              <a:t>Key Idea: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595"/>
              <a:t>DMA warps move data (On chip and off-chip)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595"/>
              <a:t>Compute warps do computation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t/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595"/>
              <a:t>Benefits: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1595"/>
              <a:t>Better Memory Bandwidth Utilization </a:t>
            </a:r>
            <a:endParaRPr sz="1595"/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595"/>
              <a:t>with Memory Level </a:t>
            </a:r>
            <a:r>
              <a:rPr lang="en" sz="1595"/>
              <a:t>Parallelism</a:t>
            </a:r>
            <a:r>
              <a:rPr lang="en" sz="1595"/>
              <a:t> and efficient producer-consumer synchronization 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595"/>
              <a:t>Better programmability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t/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595"/>
              <a:t>Results: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595"/>
              <a:t>1.37x microbenchmark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1595"/>
              <a:t>1.15x–3.2x application kernels</a:t>
            </a:r>
            <a:endParaRPr sz="159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ackground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22526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Around 2011, GPU widely used in large-scale supercomputers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Programmers need to </a:t>
            </a:r>
            <a:r>
              <a:rPr lang="en"/>
              <a:t>achieve peak performance with algorithms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Balance between computational intensity and memory bandwidth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Each thread is responsible for both things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Well for the same shape of the data transferred with thread hierachy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Hardware level of decoupling existed (DMA Engine)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Solution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225250"/>
            <a:ext cx="311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oftware Level Solution: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CudaDMA, extensible API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Decouple the size and dimensionality of the data from those of computation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Better </a:t>
            </a:r>
            <a:r>
              <a:rPr lang="en"/>
              <a:t>Programmability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Better Performance </a:t>
            </a:r>
            <a:endParaRPr/>
          </a:p>
        </p:txBody>
      </p:sp>
      <p:pic>
        <p:nvPicPr>
          <p:cNvPr id="74" name="Google Shape;74;p16" title="d09aceea-c277-4bb0-b1bd-d53da71ba4f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0529" y="1041250"/>
            <a:ext cx="5438920" cy="306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1354624"/>
            <a:ext cx="9144002" cy="3631152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44050" y="28713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</a:rPr>
              <a:t>CUDA</a:t>
            </a:r>
            <a:r>
              <a:rPr lang="en"/>
              <a:t> is a general purpose programming language for programming GPUs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streaming multiprocessors (SMs) + cooperative thread arrays (CTAs)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Control divergen			ce within a warp hurts, </a:t>
            </a:r>
            <a:r>
              <a:rPr lang="en"/>
              <a:t>inter</a:t>
            </a:r>
            <a:r>
              <a:rPr lang="en"/>
              <a:t> warps does not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Synchronization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6550" y="1326025"/>
            <a:ext cx="6235749" cy="25884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25250"/>
            <a:ext cx="2372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ncourage first moves to on-chip memories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Computer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Write back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Lightweight</a:t>
            </a:r>
            <a:r>
              <a:rPr lang="en"/>
              <a:t> barrier to synchronize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hallenge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rogrammability: Tend to choose the CTA size and dimensions of the computation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data accessed is different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Hard to write code and maintain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E.g. Stencil Algorithm: CTA based on output, not data transferred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Low Compute-to-Memory Ratio: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Low reuse, Saturate BW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High Ratio: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High reuse, limited by IPC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Hardware level limitations</a:t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4875" y="389000"/>
            <a:ext cx="4357424" cy="350142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5363438" y="4066350"/>
            <a:ext cx="2580300" cy="16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Load/Store Loop, 3 First Step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2KB from DRAM, 14 SM, 28 CTAs,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675" y="718512"/>
            <a:ext cx="4612599" cy="37064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5426375" y="904350"/>
            <a:ext cx="364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75% of the 144 GB/s peak BW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(Pratical Limit 85%)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Limited by IPC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Balanced area: 0.14 B/FLOP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50% of peak BW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CUDA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 Bottleneck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Many long-latency memory accesses: A warp stalls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Coarse-grained synchronization: Warps need to wait for other warps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Data Access Patterns: Different data patterns lead to intra-warp divergence and bank conflicts in accessing shared memory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CUDA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98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emory</a:t>
            </a:r>
            <a:r>
              <a:rPr lang="en"/>
              <a:t> Bottleneck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Issuing multiple memory accesses simultaneously and allowing the memory system to handle them in parallel is referred to as Memory Level Parallelism (MLP).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Two factors impede MLP: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Instruction Issue: A warp is stalled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Data Access Patterns: Data pattern different from CTA prevent memory coalescing 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CUDA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98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and memory access is coupled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warp handles both things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Programmers write logic to coordinate two things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Bottlenecks are entangled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CUDADMA API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98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Warp sepecialization: Perform at warp level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DMA Warps + Compute Warps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CUDADMA API</a:t>
            </a:r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311700" y="1152475"/>
            <a:ext cx="898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Based </a:t>
            </a:r>
            <a:r>
              <a:rPr lang="en"/>
              <a:t>for a shared memory buffer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Provides synchronization methods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4899" y="1827200"/>
            <a:ext cx="4403301" cy="274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CUDADMA API</a:t>
            </a:r>
            <a:endParaRPr/>
          </a:p>
        </p:txBody>
      </p:sp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913" y="1450275"/>
            <a:ext cx="8562174" cy="32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CUDADMA API</a:t>
            </a:r>
            <a:endParaRPr/>
          </a:p>
        </p:txBody>
      </p:sp>
      <p:pic>
        <p:nvPicPr>
          <p:cNvPr id="150" name="Google Shape;15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3792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CUDADMA API</a:t>
            </a:r>
            <a:endParaRPr/>
          </a:p>
        </p:txBody>
      </p:sp>
      <p:pic>
        <p:nvPicPr>
          <p:cNvPr id="156" name="Google Shape;1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525" y="1122100"/>
            <a:ext cx="685838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ransfer Pattern</a:t>
            </a:r>
            <a:endParaRPr/>
          </a:p>
        </p:txBody>
      </p:sp>
      <p:sp>
        <p:nvSpPr>
          <p:cNvPr id="162" name="Google Shape;16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Programmers don’t need to care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Common patterns can be written by expert: Programmablity &amp; Performance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			Leaves synchronization but unspecified transfer patterns</a:t>
            </a:r>
            <a:endParaRPr/>
          </a:p>
        </p:txBody>
      </p:sp>
      <p:pic>
        <p:nvPicPr>
          <p:cNvPr id="163" name="Google Shape;16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529" y="2645717"/>
            <a:ext cx="1391098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Streaming Computation</a:t>
            </a:r>
            <a:endParaRPr/>
          </a:p>
        </p:txBody>
      </p:sp>
      <p:sp>
        <p:nvSpPr>
          <p:cNvPr id="169" name="Google Shape;16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Specialization has overhead (Coordination)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Can be amortized streaming computation that iteratively transferring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Multiple CTAs -&gt; single CTA iteratively to make it streaming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Performance Enhanced</a:t>
            </a:r>
            <a:endParaRPr/>
          </a:p>
        </p:txBody>
      </p:sp>
      <p:sp>
        <p:nvSpPr>
          <p:cNvPr id="175" name="Google Shape;17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Warp specialization (About conserve resources):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525" y="1816948"/>
            <a:ext cx="6964501" cy="289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Performance Enhanced</a:t>
            </a:r>
            <a:endParaRPr/>
          </a:p>
        </p:txBody>
      </p:sp>
      <p:sp>
        <p:nvSpPr>
          <p:cNvPr id="182" name="Google Shape;18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Warp specialization (About conserve resources):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250" y="1973500"/>
            <a:ext cx="7834825" cy="227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Performance Enhanced</a:t>
            </a:r>
            <a:endParaRPr/>
          </a:p>
        </p:txBody>
      </p:sp>
      <p:sp>
        <p:nvSpPr>
          <p:cNvPr id="189" name="Google Shape;18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Fine-Grained Synchronization (producer-consumer synchronization):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CUDA: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All threads within a CTA must be synchronized.</a:t>
            </a:r>
            <a:endParaRPr/>
          </a:p>
        </p:txBody>
      </p:sp>
      <p:pic>
        <p:nvPicPr>
          <p:cNvPr id="190" name="Google Shape;19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1470" y="1660195"/>
            <a:ext cx="2310900" cy="36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Performance Enhanced</a:t>
            </a:r>
            <a:endParaRPr/>
          </a:p>
        </p:txBody>
      </p:sp>
      <p:sp>
        <p:nvSpPr>
          <p:cNvPr id="196" name="Google Shape;19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Fine-Grained Synchronization (producer-consumer synchronization):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two named barriers associated with every cudaDMA object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575" y="2257975"/>
            <a:ext cx="6774851" cy="257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Performance Enhanced</a:t>
            </a:r>
            <a:endParaRPr/>
          </a:p>
        </p:txBody>
      </p:sp>
      <p:sp>
        <p:nvSpPr>
          <p:cNvPr id="203" name="Google Shape;20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Buffering Techniques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Single Buffering: Each transfer is assigned with a shared memory buffer/cudaDMA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 DMA warps fill the buffer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 compute warps use the buffer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 DMA warps fill it again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4: compute warps use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Can work with Multiple CTAs on a single SM</a:t>
            </a:r>
            <a:endParaRPr/>
          </a:p>
        </p:txBody>
      </p:sp>
      <p:pic>
        <p:nvPicPr>
          <p:cNvPr id="204" name="Google Shape;20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825" y="2248899"/>
            <a:ext cx="4683475" cy="154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Performance Enhanced</a:t>
            </a:r>
            <a:endParaRPr/>
          </a:p>
        </p:txBody>
      </p:sp>
      <p:sp>
        <p:nvSpPr>
          <p:cNvPr id="210" name="Google Shape;21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Buffering Techniques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Double Buffering: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 buffers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 CudaDMA objects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 sets of DMA warps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 set of compute warps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register resources are limited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DMA warps are wasted</a:t>
            </a:r>
            <a:endParaRPr/>
          </a:p>
        </p:txBody>
      </p:sp>
      <p:pic>
        <p:nvPicPr>
          <p:cNvPr id="211" name="Google Shape;21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7825" y="2326550"/>
            <a:ext cx="4688876" cy="148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Performance Enhanced</a:t>
            </a:r>
            <a:endParaRPr/>
          </a:p>
        </p:txBody>
      </p:sp>
      <p:sp>
        <p:nvSpPr>
          <p:cNvPr id="217" name="Google Shape;21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Buffering Techniques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Manual Double-Buffering: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 buffers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 CudaDMA objects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 set of DMA warps shared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 set of compute warps 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4725" y="2435075"/>
            <a:ext cx="4835077" cy="16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Synthetic micro-benchmark</a:t>
            </a:r>
            <a:endParaRPr/>
          </a:p>
        </p:txBody>
      </p:sp>
      <p:sp>
        <p:nvSpPr>
          <p:cNvPr id="224" name="Google Shape;22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9"/>
          <p:cNvSpPr txBox="1"/>
          <p:nvPr/>
        </p:nvSpPr>
        <p:spPr>
          <a:xfrm>
            <a:off x="447900" y="1843900"/>
            <a:ext cx="3000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Baseline: 16 total warps, transfers 4 bytes per thread on each loop iteration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226" name="Google Shape;226;p39" title="Screenshot 2026-04-29 at 4.04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2500" y="1152475"/>
            <a:ext cx="4469792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9" title="Screenshot 2026-04-29 at 4.05.2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7675" y="773025"/>
            <a:ext cx="1047250" cy="277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8" name="Google Shape;228;p39"/>
          <p:cNvCxnSpPr/>
          <p:nvPr/>
        </p:nvCxnSpPr>
        <p:spPr>
          <a:xfrm rot="10800000">
            <a:off x="7481425" y="1152475"/>
            <a:ext cx="15000" cy="359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9" name="Google Shape;229;p39"/>
          <p:cNvSpPr txBox="1"/>
          <p:nvPr/>
        </p:nvSpPr>
        <p:spPr>
          <a:xfrm>
            <a:off x="447900" y="24406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CudaDMA: +4 </a:t>
            </a:r>
            <a:r>
              <a:rPr i="1" lang="en" sz="1000">
                <a:solidFill>
                  <a:schemeClr val="dk2"/>
                </a:solidFill>
              </a:rPr>
              <a:t>additional</a:t>
            </a:r>
            <a:r>
              <a:rPr lang="en" sz="1000">
                <a:solidFill>
                  <a:schemeClr val="dk2"/>
                </a:solidFill>
              </a:rPr>
              <a:t> DMA wraps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30" name="Google Shape;230;p39"/>
          <p:cNvSpPr txBox="1"/>
          <p:nvPr/>
        </p:nvSpPr>
        <p:spPr>
          <a:xfrm>
            <a:off x="7008450" y="4750675"/>
            <a:ext cx="15618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Exploiting MLP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Synthetic micro-benchmark</a:t>
            </a:r>
            <a:endParaRPr/>
          </a:p>
        </p:txBody>
      </p:sp>
      <p:sp>
        <p:nvSpPr>
          <p:cNvPr id="236" name="Google Shape;236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0"/>
          <p:cNvSpPr txBox="1"/>
          <p:nvPr/>
        </p:nvSpPr>
        <p:spPr>
          <a:xfrm>
            <a:off x="447900" y="1843900"/>
            <a:ext cx="3000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Single-precision a*x+y (saxpy) kernel with a ﬁxed B/FLOP ratio of 6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238" name="Google Shape;238;p40" title="Screenshot 2026-04-29 at 4.11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7200" y="1152475"/>
            <a:ext cx="3705096" cy="3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40"/>
          <p:cNvSpPr txBox="1"/>
          <p:nvPr/>
        </p:nvSpPr>
        <p:spPr>
          <a:xfrm>
            <a:off x="1150975" y="2822675"/>
            <a:ext cx="2248200" cy="12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Saturating memory bandwidth at low warp counts:</a:t>
            </a:r>
            <a:br>
              <a:rPr lang="en" sz="1200">
                <a:solidFill>
                  <a:schemeClr val="dk2"/>
                </a:solidFill>
              </a:rPr>
            </a:b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1. expose more MLP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2. More register-eﬃcien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240" name="Google Shape;240;p40"/>
          <p:cNvCxnSpPr/>
          <p:nvPr/>
        </p:nvCxnSpPr>
        <p:spPr>
          <a:xfrm flipH="1" rot="10800000">
            <a:off x="3461850" y="2423400"/>
            <a:ext cx="2624400" cy="5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1" name="Google Shape;241;p40"/>
          <p:cNvSpPr/>
          <p:nvPr/>
        </p:nvSpPr>
        <p:spPr>
          <a:xfrm>
            <a:off x="7606875" y="2440600"/>
            <a:ext cx="128100" cy="1236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0"/>
          <p:cNvSpPr txBox="1"/>
          <p:nvPr/>
        </p:nvSpPr>
        <p:spPr>
          <a:xfrm>
            <a:off x="7511050" y="2571750"/>
            <a:ext cx="22482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</a:rPr>
              <a:t>Baseline</a:t>
            </a:r>
            <a:endParaRPr sz="1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Application kernels (SGEMV)</a:t>
            </a:r>
            <a:endParaRPr/>
          </a:p>
        </p:txBody>
      </p:sp>
      <p:sp>
        <p:nvSpPr>
          <p:cNvPr id="248" name="Google Shape;248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Single-precision GEneral Matrix-Vector multiplication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- small matrix size: MLP improves bandwidth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/>
              <a:t>- large matrix size: vector implementation is beneficial </a:t>
            </a:r>
            <a:br>
              <a:rPr lang="en" sz="1300"/>
            </a:br>
            <a:r>
              <a:rPr lang="en" sz="1300"/>
              <a:t>                              due to lower synchronization overhead</a:t>
            </a:r>
            <a:endParaRPr sz="1300"/>
          </a:p>
        </p:txBody>
      </p:sp>
      <p:pic>
        <p:nvPicPr>
          <p:cNvPr id="249" name="Google Shape;249;p41" title="Screenshot 2026-04-29 at 4.29.3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6203" y="1152475"/>
            <a:ext cx="4016096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1"/>
          <p:cNvSpPr txBox="1"/>
          <p:nvPr/>
        </p:nvSpPr>
        <p:spPr>
          <a:xfrm>
            <a:off x="5800400" y="798100"/>
            <a:ext cx="1175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Only use CudaDMA on </a:t>
            </a:r>
            <a:r>
              <a:rPr lang="en" sz="800">
                <a:solidFill>
                  <a:schemeClr val="dk2"/>
                </a:solidFill>
              </a:rPr>
              <a:t>vector</a:t>
            </a:r>
            <a:r>
              <a:rPr lang="en" sz="800">
                <a:solidFill>
                  <a:schemeClr val="dk2"/>
                </a:solidFill>
              </a:rPr>
              <a:t> data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Application kernels (3D FDM)</a:t>
            </a:r>
            <a:endParaRPr/>
          </a:p>
        </p:txBody>
      </p:sp>
      <p:sp>
        <p:nvSpPr>
          <p:cNvPr id="256" name="Google Shape;256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3D finite difference calculation:</a:t>
            </a:r>
            <a:br>
              <a:rPr lang="en"/>
            </a:br>
            <a:br>
              <a:rPr lang="en"/>
            </a:br>
            <a:r>
              <a:rPr lang="en"/>
              <a:t>- each CTA is assigned an X-Y slice</a:t>
            </a:r>
            <a:br>
              <a:rPr lang="en"/>
            </a:br>
            <a:r>
              <a:rPr lang="en"/>
              <a:t>  and walks through space along Z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large number of cells are accessed</a:t>
            </a:r>
            <a:br>
              <a:rPr lang="en"/>
            </a:br>
            <a:r>
              <a:rPr lang="en"/>
              <a:t>  by threads in the same X-Y slice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p42" title="Screenshot 2026-04-29 at 4.36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2050" y="2515925"/>
            <a:ext cx="4130250" cy="205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2" title="Screenshot 2026-04-29 at 4.37.2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5750" y="485250"/>
            <a:ext cx="2046550" cy="1751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2"/>
          <p:cNvSpPr txBox="1"/>
          <p:nvPr/>
        </p:nvSpPr>
        <p:spPr>
          <a:xfrm>
            <a:off x="6978025" y="2200600"/>
            <a:ext cx="16620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Halo cells for 8’th order FDM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Results: Application kernels (3D FDM)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halo-only-*: load the halo cells within CudaDMA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block-halo-*: load the halo cells separately</a:t>
            </a:r>
            <a:endParaRPr/>
          </a:p>
        </p:txBody>
      </p:sp>
      <p:pic>
        <p:nvPicPr>
          <p:cNvPr id="266" name="Google Shape;266;p43" title="Screenshot 2026-04-29 at 4.41.1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2500" y="1152475"/>
            <a:ext cx="32398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Application kernels (1D FFT)</a:t>
            </a:r>
            <a:endParaRPr/>
          </a:p>
        </p:txBody>
      </p:sp>
      <p:sp>
        <p:nvSpPr>
          <p:cNvPr id="272" name="Google Shape;272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CuFFT is already saturating the memory bandwidth (w/ 32 wrap per SM),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 CudaDMA requires less wraps: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- 16 wraps per SM + 8 DMA wraps</a:t>
            </a:r>
            <a:endParaRPr/>
          </a:p>
        </p:txBody>
      </p:sp>
      <p:pic>
        <p:nvPicPr>
          <p:cNvPr id="273" name="Google Shape;273;p44" title="Screenshot 2026-04-29 at 4.44.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729183"/>
            <a:ext cx="4260300" cy="2262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279" name="Google Shape;27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modern GPU programming with an </a:t>
            </a:r>
            <a:r>
              <a:rPr lang="en"/>
              <a:t>asynchronous memory copy paradigm,is</a:t>
            </a:r>
            <a:br>
              <a:rPr lang="en"/>
            </a:br>
            <a:r>
              <a:rPr lang="en"/>
              <a:t>this “wrap specialization” concept still necessary?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iscussion</a:t>
            </a:r>
            <a:endParaRPr/>
          </a:p>
        </p:txBody>
      </p:sp>
      <p:sp>
        <p:nvSpPr>
          <p:cNvPr id="285" name="Google Shape;285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this approach scale to modern GPUs with more complex memory hierarchies?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